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colors4.xml" ContentType="application/vnd.openxmlformats-officedocument.drawingml.diagramColors+xml"/>
  <Override PartName="/ppt/diagrams/drawing4.xml" ContentType="application/vnd.ms-office.drawingml.diagramDrawing+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layout4.xml" ContentType="application/vnd.openxmlformats-officedocument.drawingml.diagramLayout+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quickStyle4.xml" ContentType="application/vnd.openxmlformats-officedocument.drawingml.diagramStyl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73" r:id="rId5"/>
    <p:sldId id="284" r:id="rId6"/>
    <p:sldId id="285" r:id="rId7"/>
    <p:sldId id="275" r:id="rId8"/>
    <p:sldId id="258" r:id="rId9"/>
    <p:sldId id="276" r:id="rId10"/>
    <p:sldId id="262" r:id="rId11"/>
    <p:sldId id="294" r:id="rId12"/>
    <p:sldId id="259" r:id="rId13"/>
    <p:sldId id="263" r:id="rId14"/>
    <p:sldId id="261" r:id="rId15"/>
    <p:sldId id="265" r:id="rId16"/>
    <p:sldId id="296" r:id="rId17"/>
    <p:sldId id="342" r:id="rId18"/>
    <p:sldId id="344" r:id="rId19"/>
    <p:sldId id="298" r:id="rId20"/>
    <p:sldId id="266" r:id="rId21"/>
    <p:sldId id="297" r:id="rId22"/>
    <p:sldId id="277" r:id="rId23"/>
    <p:sldId id="278" r:id="rId24"/>
    <p:sldId id="268" r:id="rId25"/>
    <p:sldId id="279" r:id="rId26"/>
    <p:sldId id="351" r:id="rId27"/>
    <p:sldId id="346" r:id="rId28"/>
    <p:sldId id="347" r:id="rId29"/>
    <p:sldId id="345" r:id="rId30"/>
    <p:sldId id="348" r:id="rId31"/>
    <p:sldId id="350" r:id="rId32"/>
    <p:sldId id="283" r:id="rId33"/>
    <p:sldId id="338" r:id="rId34"/>
    <p:sldId id="339" r:id="rId35"/>
    <p:sldId id="340" r:id="rId36"/>
    <p:sldId id="335" r:id="rId37"/>
    <p:sldId id="309" r:id="rId38"/>
    <p:sldId id="321" r:id="rId39"/>
    <p:sldId id="322" r:id="rId40"/>
    <p:sldId id="323" r:id="rId41"/>
    <p:sldId id="324" r:id="rId42"/>
    <p:sldId id="310" r:id="rId43"/>
    <p:sldId id="311" r:id="rId44"/>
    <p:sldId id="313" r:id="rId45"/>
    <p:sldId id="314" r:id="rId46"/>
    <p:sldId id="318" r:id="rId47"/>
    <p:sldId id="334" r:id="rId48"/>
    <p:sldId id="361" r:id="rId49"/>
    <p:sldId id="362" r:id="rId50"/>
    <p:sldId id="352" r:id="rId51"/>
    <p:sldId id="363" r:id="rId52"/>
    <p:sldId id="353" r:id="rId53"/>
    <p:sldId id="358"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2" d="100"/>
          <a:sy n="72" d="100"/>
        </p:scale>
        <p:origin x="1308"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9C4D09-F4E2-41E0-B966-B1291010436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5C34ADDE-21A5-4368-87AF-A8869568A63E}">
      <dgm:prSet phldrT="[Text]"/>
      <dgm:spPr/>
      <dgm:t>
        <a:bodyPr/>
        <a:lstStyle/>
        <a:p>
          <a:r>
            <a:rPr lang="en-US" dirty="0">
              <a:latin typeface="Times New Roman" panose="02020603050405020304" pitchFamily="18" charset="0"/>
              <a:cs typeface="Times New Roman" panose="02020603050405020304" pitchFamily="18" charset="0"/>
            </a:rPr>
            <a:t>Type of friction</a:t>
          </a:r>
        </a:p>
      </dgm:t>
    </dgm:pt>
    <dgm:pt modelId="{B311CE8C-D180-4FF7-9875-5EF57F61F0A4}" type="parTrans" cxnId="{4CF57475-0A71-4B37-8CCB-1BB8D5D19495}">
      <dgm:prSet/>
      <dgm:spPr/>
      <dgm:t>
        <a:bodyPr/>
        <a:lstStyle/>
        <a:p>
          <a:endParaRPr lang="en-US">
            <a:latin typeface="Times New Roman" panose="02020603050405020304" pitchFamily="18" charset="0"/>
            <a:cs typeface="Times New Roman" panose="02020603050405020304" pitchFamily="18" charset="0"/>
          </a:endParaRPr>
        </a:p>
      </dgm:t>
    </dgm:pt>
    <dgm:pt modelId="{092FDD31-6CF8-4175-91BF-D6BA2CA371C9}" type="sibTrans" cxnId="{4CF57475-0A71-4B37-8CCB-1BB8D5D19495}">
      <dgm:prSet/>
      <dgm:spPr/>
      <dgm:t>
        <a:bodyPr/>
        <a:lstStyle/>
        <a:p>
          <a:endParaRPr lang="en-US">
            <a:latin typeface="Times New Roman" panose="02020603050405020304" pitchFamily="18" charset="0"/>
            <a:cs typeface="Times New Roman" panose="02020603050405020304" pitchFamily="18" charset="0"/>
          </a:endParaRPr>
        </a:p>
      </dgm:t>
    </dgm:pt>
    <dgm:pt modelId="{03D06FA8-BA83-4069-9E05-992D726A42CF}">
      <dgm:prSet phldrT="[Text]"/>
      <dgm:spPr/>
      <dgm:t>
        <a:bodyPr/>
        <a:lstStyle/>
        <a:p>
          <a:r>
            <a:rPr lang="en-US" dirty="0">
              <a:latin typeface="Times New Roman" panose="02020603050405020304" pitchFamily="18" charset="0"/>
              <a:cs typeface="Times New Roman" panose="02020603050405020304" pitchFamily="18" charset="0"/>
            </a:rPr>
            <a:t>1.Dry friction/Coulomb Friction</a:t>
          </a:r>
        </a:p>
      </dgm:t>
    </dgm:pt>
    <dgm:pt modelId="{AA1BCA04-B3F9-469A-9406-54553355E907}" type="parTrans" cxnId="{FA02881E-BC36-4F0A-8E9D-4AEB2046D89F}">
      <dgm:prSet/>
      <dgm:spPr/>
      <dgm:t>
        <a:bodyPr/>
        <a:lstStyle/>
        <a:p>
          <a:endParaRPr lang="en-US">
            <a:latin typeface="Times New Roman" panose="02020603050405020304" pitchFamily="18" charset="0"/>
            <a:cs typeface="Times New Roman" panose="02020603050405020304" pitchFamily="18" charset="0"/>
          </a:endParaRPr>
        </a:p>
      </dgm:t>
    </dgm:pt>
    <dgm:pt modelId="{5392B4BA-ED77-4CFD-BD97-B31DA8F0B7CF}" type="sibTrans" cxnId="{FA02881E-BC36-4F0A-8E9D-4AEB2046D89F}">
      <dgm:prSet/>
      <dgm:spPr/>
      <dgm:t>
        <a:bodyPr/>
        <a:lstStyle/>
        <a:p>
          <a:endParaRPr lang="en-US">
            <a:latin typeface="Times New Roman" panose="02020603050405020304" pitchFamily="18" charset="0"/>
            <a:cs typeface="Times New Roman" panose="02020603050405020304" pitchFamily="18" charset="0"/>
          </a:endParaRPr>
        </a:p>
      </dgm:t>
    </dgm:pt>
    <dgm:pt modelId="{172DB97E-31FF-40C2-853E-0595373DA95A}">
      <dgm:prSet phldrT="[Text]"/>
      <dgm:spPr/>
      <dgm:t>
        <a:bodyPr/>
        <a:lstStyle/>
        <a:p>
          <a:r>
            <a:rPr lang="en-US" dirty="0">
              <a:latin typeface="Times New Roman" panose="02020603050405020304" pitchFamily="18" charset="0"/>
              <a:cs typeface="Times New Roman" panose="02020603050405020304" pitchFamily="18" charset="0"/>
            </a:rPr>
            <a:t>2.Fluid Friction</a:t>
          </a:r>
        </a:p>
      </dgm:t>
    </dgm:pt>
    <dgm:pt modelId="{02491BBB-DEE2-4874-9376-8002330168D8}" type="parTrans" cxnId="{5C943EBF-F33D-4882-83AC-DA45877D9600}">
      <dgm:prSet/>
      <dgm:spPr/>
      <dgm:t>
        <a:bodyPr/>
        <a:lstStyle/>
        <a:p>
          <a:endParaRPr lang="en-US">
            <a:latin typeface="Times New Roman" panose="02020603050405020304" pitchFamily="18" charset="0"/>
            <a:cs typeface="Times New Roman" panose="02020603050405020304" pitchFamily="18" charset="0"/>
          </a:endParaRPr>
        </a:p>
      </dgm:t>
    </dgm:pt>
    <dgm:pt modelId="{2B0291F0-1D7B-4311-9C7F-1946CCB8956B}" type="sibTrans" cxnId="{5C943EBF-F33D-4882-83AC-DA45877D9600}">
      <dgm:prSet/>
      <dgm:spPr/>
      <dgm:t>
        <a:bodyPr/>
        <a:lstStyle/>
        <a:p>
          <a:endParaRPr lang="en-US">
            <a:latin typeface="Times New Roman" panose="02020603050405020304" pitchFamily="18" charset="0"/>
            <a:cs typeface="Times New Roman" panose="02020603050405020304" pitchFamily="18" charset="0"/>
          </a:endParaRPr>
        </a:p>
      </dgm:t>
    </dgm:pt>
    <dgm:pt modelId="{A0DE6AE3-374A-4EA2-9F1B-94FABB340EF0}" type="pres">
      <dgm:prSet presAssocID="{469C4D09-F4E2-41E0-B966-B12910104367}" presName="hierChild1" presStyleCnt="0">
        <dgm:presLayoutVars>
          <dgm:chPref val="1"/>
          <dgm:dir/>
          <dgm:animOne val="branch"/>
          <dgm:animLvl val="lvl"/>
          <dgm:resizeHandles/>
        </dgm:presLayoutVars>
      </dgm:prSet>
      <dgm:spPr/>
    </dgm:pt>
    <dgm:pt modelId="{F9CE90EC-E8B7-487F-85BA-B74E24CE4E11}" type="pres">
      <dgm:prSet presAssocID="{5C34ADDE-21A5-4368-87AF-A8869568A63E}" presName="hierRoot1" presStyleCnt="0"/>
      <dgm:spPr/>
    </dgm:pt>
    <dgm:pt modelId="{1155266E-5D88-4151-9117-D57E6F682D99}" type="pres">
      <dgm:prSet presAssocID="{5C34ADDE-21A5-4368-87AF-A8869568A63E}" presName="composite" presStyleCnt="0"/>
      <dgm:spPr/>
    </dgm:pt>
    <dgm:pt modelId="{C1D877A0-70FD-4E65-88A5-FA1DC341B816}" type="pres">
      <dgm:prSet presAssocID="{5C34ADDE-21A5-4368-87AF-A8869568A63E}" presName="background" presStyleLbl="node0" presStyleIdx="0" presStyleCnt="1"/>
      <dgm:spPr/>
    </dgm:pt>
    <dgm:pt modelId="{81959AF1-6828-4549-A808-BAA633F0C34A}" type="pres">
      <dgm:prSet presAssocID="{5C34ADDE-21A5-4368-87AF-A8869568A63E}" presName="text" presStyleLbl="fgAcc0" presStyleIdx="0" presStyleCnt="1" custScaleX="159526" custLinFactNeighborX="-5556" custLinFactNeighborY="-64740">
        <dgm:presLayoutVars>
          <dgm:chPref val="3"/>
        </dgm:presLayoutVars>
      </dgm:prSet>
      <dgm:spPr/>
    </dgm:pt>
    <dgm:pt modelId="{C5C7D46D-E693-4845-93BB-13C70C3B6664}" type="pres">
      <dgm:prSet presAssocID="{5C34ADDE-21A5-4368-87AF-A8869568A63E}" presName="hierChild2" presStyleCnt="0"/>
      <dgm:spPr/>
    </dgm:pt>
    <dgm:pt modelId="{CC78CDF3-8A59-4E8C-9339-399533B064E5}" type="pres">
      <dgm:prSet presAssocID="{AA1BCA04-B3F9-469A-9406-54553355E907}" presName="Name10" presStyleLbl="parChTrans1D2" presStyleIdx="0" presStyleCnt="2"/>
      <dgm:spPr/>
    </dgm:pt>
    <dgm:pt modelId="{E9A01958-3DBB-4354-96E5-1F5B78C5A996}" type="pres">
      <dgm:prSet presAssocID="{03D06FA8-BA83-4069-9E05-992D726A42CF}" presName="hierRoot2" presStyleCnt="0"/>
      <dgm:spPr/>
    </dgm:pt>
    <dgm:pt modelId="{F4C87451-9FF4-4138-93AE-EB3A22A2953E}" type="pres">
      <dgm:prSet presAssocID="{03D06FA8-BA83-4069-9E05-992D726A42CF}" presName="composite2" presStyleCnt="0"/>
      <dgm:spPr/>
    </dgm:pt>
    <dgm:pt modelId="{F0A893C8-41D1-4DC8-8F5C-FEB3FE3E0180}" type="pres">
      <dgm:prSet presAssocID="{03D06FA8-BA83-4069-9E05-992D726A42CF}" presName="background2" presStyleLbl="node2" presStyleIdx="0" presStyleCnt="2"/>
      <dgm:spPr/>
    </dgm:pt>
    <dgm:pt modelId="{174A3CD4-99B7-4F94-9170-5CEA9A254F7E}" type="pres">
      <dgm:prSet presAssocID="{03D06FA8-BA83-4069-9E05-992D726A42CF}" presName="text2" presStyleLbl="fgAcc2" presStyleIdx="0" presStyleCnt="2" custScaleX="212034">
        <dgm:presLayoutVars>
          <dgm:chPref val="3"/>
        </dgm:presLayoutVars>
      </dgm:prSet>
      <dgm:spPr/>
    </dgm:pt>
    <dgm:pt modelId="{75A979FF-7BD8-4FCB-AAD8-FE9437E082AD}" type="pres">
      <dgm:prSet presAssocID="{03D06FA8-BA83-4069-9E05-992D726A42CF}" presName="hierChild3" presStyleCnt="0"/>
      <dgm:spPr/>
    </dgm:pt>
    <dgm:pt modelId="{AB6D09D8-1B8D-4A8F-BA6E-F135EC5C2B35}" type="pres">
      <dgm:prSet presAssocID="{02491BBB-DEE2-4874-9376-8002330168D8}" presName="Name10" presStyleLbl="parChTrans1D2" presStyleIdx="1" presStyleCnt="2"/>
      <dgm:spPr/>
    </dgm:pt>
    <dgm:pt modelId="{6D2C378C-D33D-4B52-A3B4-4A7644679A71}" type="pres">
      <dgm:prSet presAssocID="{172DB97E-31FF-40C2-853E-0595373DA95A}" presName="hierRoot2" presStyleCnt="0"/>
      <dgm:spPr/>
    </dgm:pt>
    <dgm:pt modelId="{959FF080-B4D3-429B-8A8F-D6753EC673F1}" type="pres">
      <dgm:prSet presAssocID="{172DB97E-31FF-40C2-853E-0595373DA95A}" presName="composite2" presStyleCnt="0"/>
      <dgm:spPr/>
    </dgm:pt>
    <dgm:pt modelId="{488CC243-1E8C-400B-8568-8E824E07E698}" type="pres">
      <dgm:prSet presAssocID="{172DB97E-31FF-40C2-853E-0595373DA95A}" presName="background2" presStyleLbl="node2" presStyleIdx="1" presStyleCnt="2"/>
      <dgm:spPr/>
    </dgm:pt>
    <dgm:pt modelId="{C7E38133-9567-464E-BAC1-AFBE2010D016}" type="pres">
      <dgm:prSet presAssocID="{172DB97E-31FF-40C2-853E-0595373DA95A}" presName="text2" presStyleLbl="fgAcc2" presStyleIdx="1" presStyleCnt="2" custScaleX="154927">
        <dgm:presLayoutVars>
          <dgm:chPref val="3"/>
        </dgm:presLayoutVars>
      </dgm:prSet>
      <dgm:spPr/>
    </dgm:pt>
    <dgm:pt modelId="{3D279D98-2DCE-4756-BBB3-AC3477C3CF54}" type="pres">
      <dgm:prSet presAssocID="{172DB97E-31FF-40C2-853E-0595373DA95A}" presName="hierChild3" presStyleCnt="0"/>
      <dgm:spPr/>
    </dgm:pt>
  </dgm:ptLst>
  <dgm:cxnLst>
    <dgm:cxn modelId="{FA02881E-BC36-4F0A-8E9D-4AEB2046D89F}" srcId="{5C34ADDE-21A5-4368-87AF-A8869568A63E}" destId="{03D06FA8-BA83-4069-9E05-992D726A42CF}" srcOrd="0" destOrd="0" parTransId="{AA1BCA04-B3F9-469A-9406-54553355E907}" sibTransId="{5392B4BA-ED77-4CFD-BD97-B31DA8F0B7CF}"/>
    <dgm:cxn modelId="{7556DD30-20AC-4455-A93F-FDC2DDCC9BFB}" type="presOf" srcId="{469C4D09-F4E2-41E0-B966-B12910104367}" destId="{A0DE6AE3-374A-4EA2-9F1B-94FABB340EF0}" srcOrd="0" destOrd="0" presId="urn:microsoft.com/office/officeart/2005/8/layout/hierarchy1"/>
    <dgm:cxn modelId="{237C0961-37E5-40CB-AD5D-47C09FA3AD43}" type="presOf" srcId="{03D06FA8-BA83-4069-9E05-992D726A42CF}" destId="{174A3CD4-99B7-4F94-9170-5CEA9A254F7E}" srcOrd="0" destOrd="0" presId="urn:microsoft.com/office/officeart/2005/8/layout/hierarchy1"/>
    <dgm:cxn modelId="{4CF57475-0A71-4B37-8CCB-1BB8D5D19495}" srcId="{469C4D09-F4E2-41E0-B966-B12910104367}" destId="{5C34ADDE-21A5-4368-87AF-A8869568A63E}" srcOrd="0" destOrd="0" parTransId="{B311CE8C-D180-4FF7-9875-5EF57F61F0A4}" sibTransId="{092FDD31-6CF8-4175-91BF-D6BA2CA371C9}"/>
    <dgm:cxn modelId="{1B36D795-9272-4820-AF43-7C3A33BEF7B2}" type="presOf" srcId="{02491BBB-DEE2-4874-9376-8002330168D8}" destId="{AB6D09D8-1B8D-4A8F-BA6E-F135EC5C2B35}" srcOrd="0" destOrd="0" presId="urn:microsoft.com/office/officeart/2005/8/layout/hierarchy1"/>
    <dgm:cxn modelId="{6539EFA7-8790-4727-A6FF-72193C5FAAAF}" type="presOf" srcId="{5C34ADDE-21A5-4368-87AF-A8869568A63E}" destId="{81959AF1-6828-4549-A808-BAA633F0C34A}" srcOrd="0" destOrd="0" presId="urn:microsoft.com/office/officeart/2005/8/layout/hierarchy1"/>
    <dgm:cxn modelId="{5C943EBF-F33D-4882-83AC-DA45877D9600}" srcId="{5C34ADDE-21A5-4368-87AF-A8869568A63E}" destId="{172DB97E-31FF-40C2-853E-0595373DA95A}" srcOrd="1" destOrd="0" parTransId="{02491BBB-DEE2-4874-9376-8002330168D8}" sibTransId="{2B0291F0-1D7B-4311-9C7F-1946CCB8956B}"/>
    <dgm:cxn modelId="{C6C1E5C1-8E76-4C4C-A6F2-FC85C33C6F89}" type="presOf" srcId="{AA1BCA04-B3F9-469A-9406-54553355E907}" destId="{CC78CDF3-8A59-4E8C-9339-399533B064E5}" srcOrd="0" destOrd="0" presId="urn:microsoft.com/office/officeart/2005/8/layout/hierarchy1"/>
    <dgm:cxn modelId="{0AB83AD6-F990-4B95-AE4D-75BB6FE00C18}" type="presOf" srcId="{172DB97E-31FF-40C2-853E-0595373DA95A}" destId="{C7E38133-9567-464E-BAC1-AFBE2010D016}" srcOrd="0" destOrd="0" presId="urn:microsoft.com/office/officeart/2005/8/layout/hierarchy1"/>
    <dgm:cxn modelId="{C3263AE1-5B57-4711-92B8-C5ED402D4B9C}" type="presParOf" srcId="{A0DE6AE3-374A-4EA2-9F1B-94FABB340EF0}" destId="{F9CE90EC-E8B7-487F-85BA-B74E24CE4E11}" srcOrd="0" destOrd="0" presId="urn:microsoft.com/office/officeart/2005/8/layout/hierarchy1"/>
    <dgm:cxn modelId="{AFF632D4-BC8D-49F2-A4CD-4A0FD93ECD59}" type="presParOf" srcId="{F9CE90EC-E8B7-487F-85BA-B74E24CE4E11}" destId="{1155266E-5D88-4151-9117-D57E6F682D99}" srcOrd="0" destOrd="0" presId="urn:microsoft.com/office/officeart/2005/8/layout/hierarchy1"/>
    <dgm:cxn modelId="{69A8E9FE-B013-447B-BBDD-46E286D742B0}" type="presParOf" srcId="{1155266E-5D88-4151-9117-D57E6F682D99}" destId="{C1D877A0-70FD-4E65-88A5-FA1DC341B816}" srcOrd="0" destOrd="0" presId="urn:microsoft.com/office/officeart/2005/8/layout/hierarchy1"/>
    <dgm:cxn modelId="{92CB212C-1CF8-47E1-8A2D-C1D540283C33}" type="presParOf" srcId="{1155266E-5D88-4151-9117-D57E6F682D99}" destId="{81959AF1-6828-4549-A808-BAA633F0C34A}" srcOrd="1" destOrd="0" presId="urn:microsoft.com/office/officeart/2005/8/layout/hierarchy1"/>
    <dgm:cxn modelId="{387AC93A-F112-4C30-8FD0-EEAB525633B4}" type="presParOf" srcId="{F9CE90EC-E8B7-487F-85BA-B74E24CE4E11}" destId="{C5C7D46D-E693-4845-93BB-13C70C3B6664}" srcOrd="1" destOrd="0" presId="urn:microsoft.com/office/officeart/2005/8/layout/hierarchy1"/>
    <dgm:cxn modelId="{AE534E22-4382-4F04-96FB-5E46923ECA72}" type="presParOf" srcId="{C5C7D46D-E693-4845-93BB-13C70C3B6664}" destId="{CC78CDF3-8A59-4E8C-9339-399533B064E5}" srcOrd="0" destOrd="0" presId="urn:microsoft.com/office/officeart/2005/8/layout/hierarchy1"/>
    <dgm:cxn modelId="{2E2F3155-7FB5-4891-829F-524930F0FBB7}" type="presParOf" srcId="{C5C7D46D-E693-4845-93BB-13C70C3B6664}" destId="{E9A01958-3DBB-4354-96E5-1F5B78C5A996}" srcOrd="1" destOrd="0" presId="urn:microsoft.com/office/officeart/2005/8/layout/hierarchy1"/>
    <dgm:cxn modelId="{333A858C-D124-4066-8E0C-E01667AE3E19}" type="presParOf" srcId="{E9A01958-3DBB-4354-96E5-1F5B78C5A996}" destId="{F4C87451-9FF4-4138-93AE-EB3A22A2953E}" srcOrd="0" destOrd="0" presId="urn:microsoft.com/office/officeart/2005/8/layout/hierarchy1"/>
    <dgm:cxn modelId="{5A356B1C-2D22-4724-8B67-4CA627839948}" type="presParOf" srcId="{F4C87451-9FF4-4138-93AE-EB3A22A2953E}" destId="{F0A893C8-41D1-4DC8-8F5C-FEB3FE3E0180}" srcOrd="0" destOrd="0" presId="urn:microsoft.com/office/officeart/2005/8/layout/hierarchy1"/>
    <dgm:cxn modelId="{5F060916-8B5B-447B-A69C-78DEDEE0E88B}" type="presParOf" srcId="{F4C87451-9FF4-4138-93AE-EB3A22A2953E}" destId="{174A3CD4-99B7-4F94-9170-5CEA9A254F7E}" srcOrd="1" destOrd="0" presId="urn:microsoft.com/office/officeart/2005/8/layout/hierarchy1"/>
    <dgm:cxn modelId="{4D005E6D-8B19-45F0-A371-9C2C72AF2111}" type="presParOf" srcId="{E9A01958-3DBB-4354-96E5-1F5B78C5A996}" destId="{75A979FF-7BD8-4FCB-AAD8-FE9437E082AD}" srcOrd="1" destOrd="0" presId="urn:microsoft.com/office/officeart/2005/8/layout/hierarchy1"/>
    <dgm:cxn modelId="{594FF1AC-B493-4D70-A7E9-C57A80F20055}" type="presParOf" srcId="{C5C7D46D-E693-4845-93BB-13C70C3B6664}" destId="{AB6D09D8-1B8D-4A8F-BA6E-F135EC5C2B35}" srcOrd="2" destOrd="0" presId="urn:microsoft.com/office/officeart/2005/8/layout/hierarchy1"/>
    <dgm:cxn modelId="{C3655CA5-5EF5-49D2-843D-F287A8FF965A}" type="presParOf" srcId="{C5C7D46D-E693-4845-93BB-13C70C3B6664}" destId="{6D2C378C-D33D-4B52-A3B4-4A7644679A71}" srcOrd="3" destOrd="0" presId="urn:microsoft.com/office/officeart/2005/8/layout/hierarchy1"/>
    <dgm:cxn modelId="{7CA4FBE4-D850-43BC-A88B-F6684914A037}" type="presParOf" srcId="{6D2C378C-D33D-4B52-A3B4-4A7644679A71}" destId="{959FF080-B4D3-429B-8A8F-D6753EC673F1}" srcOrd="0" destOrd="0" presId="urn:microsoft.com/office/officeart/2005/8/layout/hierarchy1"/>
    <dgm:cxn modelId="{985028C7-7A44-482F-8D0B-8826D38144DA}" type="presParOf" srcId="{959FF080-B4D3-429B-8A8F-D6753EC673F1}" destId="{488CC243-1E8C-400B-8568-8E824E07E698}" srcOrd="0" destOrd="0" presId="urn:microsoft.com/office/officeart/2005/8/layout/hierarchy1"/>
    <dgm:cxn modelId="{C147A263-5470-439A-A0BF-DA4A3CCD7CA2}" type="presParOf" srcId="{959FF080-B4D3-429B-8A8F-D6753EC673F1}" destId="{C7E38133-9567-464E-BAC1-AFBE2010D016}" srcOrd="1" destOrd="0" presId="urn:microsoft.com/office/officeart/2005/8/layout/hierarchy1"/>
    <dgm:cxn modelId="{B5266E67-24F7-4D77-8FE8-AD7785749CCA}" type="presParOf" srcId="{6D2C378C-D33D-4B52-A3B4-4A7644679A71}" destId="{3D279D98-2DCE-4756-BBB3-AC3477C3CF5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91552C-594E-4EB4-A0C3-B04A24340054}"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E4A5B7E9-1C69-4901-8674-766382E2D05F}">
      <dgm:prSet phldrT="[Text]" custT="1"/>
      <dgm:spPr>
        <a:solidFill>
          <a:schemeClr val="accent2">
            <a:lumMod val="75000"/>
          </a:schemeClr>
        </a:solidFill>
      </dgm:spPr>
      <dgm:t>
        <a:bodyPr/>
        <a:lstStyle/>
        <a:p>
          <a:r>
            <a:rPr lang="en-US" sz="2400" dirty="0">
              <a:latin typeface="Times New Roman" panose="02020603050405020304" pitchFamily="18" charset="0"/>
              <a:cs typeface="Times New Roman" panose="02020603050405020304" pitchFamily="18" charset="0"/>
            </a:rPr>
            <a:t>Type of dry friction</a:t>
          </a:r>
        </a:p>
      </dgm:t>
    </dgm:pt>
    <dgm:pt modelId="{78D5CB8F-A7A6-4381-9C08-6620D8C9ACAE}" type="parTrans" cxnId="{3A32893A-9E08-4DF6-A9A1-24DE47F1CC7E}">
      <dgm:prSet/>
      <dgm:spPr/>
      <dgm:t>
        <a:bodyPr/>
        <a:lstStyle/>
        <a:p>
          <a:endParaRPr lang="en-US" sz="2400">
            <a:latin typeface="Times New Roman" panose="02020603050405020304" pitchFamily="18" charset="0"/>
            <a:cs typeface="Times New Roman" panose="02020603050405020304" pitchFamily="18" charset="0"/>
          </a:endParaRPr>
        </a:p>
      </dgm:t>
    </dgm:pt>
    <dgm:pt modelId="{3CB6FD3D-0991-43CF-82FF-ACE94C07A88B}" type="sibTrans" cxnId="{3A32893A-9E08-4DF6-A9A1-24DE47F1CC7E}">
      <dgm:prSet/>
      <dgm:spPr/>
      <dgm:t>
        <a:bodyPr/>
        <a:lstStyle/>
        <a:p>
          <a:endParaRPr lang="en-US" sz="2400">
            <a:latin typeface="Times New Roman" panose="02020603050405020304" pitchFamily="18" charset="0"/>
            <a:cs typeface="Times New Roman" panose="02020603050405020304" pitchFamily="18" charset="0"/>
          </a:endParaRPr>
        </a:p>
      </dgm:t>
    </dgm:pt>
    <dgm:pt modelId="{B752FC6A-136E-4FB9-BCA8-2F497DA56954}">
      <dgm:prSet phldrT="[Text]" custT="1"/>
      <dgm:spPr>
        <a:solidFill>
          <a:srgbClr val="00B050"/>
        </a:solidFill>
      </dgm:spPr>
      <dgm:t>
        <a:bodyPr/>
        <a:lstStyle/>
        <a:p>
          <a:r>
            <a:rPr lang="en-US" sz="2400" dirty="0">
              <a:latin typeface="Times New Roman" panose="02020603050405020304" pitchFamily="18" charset="0"/>
              <a:cs typeface="Times New Roman" panose="02020603050405020304" pitchFamily="18" charset="0"/>
            </a:rPr>
            <a:t>1.Static friction</a:t>
          </a:r>
        </a:p>
      </dgm:t>
    </dgm:pt>
    <dgm:pt modelId="{DF5B8553-649B-425B-8928-D361FDDC786E}" type="parTrans" cxnId="{7B473A48-9264-4937-B07D-302B2A0822D4}">
      <dgm:prSet/>
      <dgm:spPr/>
      <dgm:t>
        <a:bodyPr/>
        <a:lstStyle/>
        <a:p>
          <a:endParaRPr lang="en-US" sz="2400">
            <a:latin typeface="Times New Roman" panose="02020603050405020304" pitchFamily="18" charset="0"/>
            <a:cs typeface="Times New Roman" panose="02020603050405020304" pitchFamily="18" charset="0"/>
          </a:endParaRPr>
        </a:p>
      </dgm:t>
    </dgm:pt>
    <dgm:pt modelId="{1708BE34-9224-4D48-8D69-77BE306E4DC9}" type="sibTrans" cxnId="{7B473A48-9264-4937-B07D-302B2A0822D4}">
      <dgm:prSet/>
      <dgm:spPr/>
      <dgm:t>
        <a:bodyPr/>
        <a:lstStyle/>
        <a:p>
          <a:endParaRPr lang="en-US" sz="2400">
            <a:latin typeface="Times New Roman" panose="02020603050405020304" pitchFamily="18" charset="0"/>
            <a:cs typeface="Times New Roman" panose="02020603050405020304" pitchFamily="18" charset="0"/>
          </a:endParaRPr>
        </a:p>
      </dgm:t>
    </dgm:pt>
    <dgm:pt modelId="{A4091D60-B7BA-432E-BE99-24A6425AD046}">
      <dgm:prSet phldrT="[Text]" custT="1"/>
      <dgm:spPr>
        <a:solidFill>
          <a:srgbClr val="00B050"/>
        </a:solidFill>
      </dgm:spPr>
      <dgm:t>
        <a:bodyPr/>
        <a:lstStyle/>
        <a:p>
          <a:r>
            <a:rPr lang="en-US" sz="2400" dirty="0">
              <a:latin typeface="Times New Roman" panose="02020603050405020304" pitchFamily="18" charset="0"/>
              <a:cs typeface="Times New Roman" panose="02020603050405020304" pitchFamily="18" charset="0"/>
            </a:rPr>
            <a:t>2.Dynamic Friction</a:t>
          </a:r>
        </a:p>
      </dgm:t>
    </dgm:pt>
    <dgm:pt modelId="{3F4469FF-4207-4447-AA02-5AD8B1DBA0A8}" type="parTrans" cxnId="{D76342E2-668B-459C-B20F-FCD56D063F58}">
      <dgm:prSet/>
      <dgm:spPr/>
      <dgm:t>
        <a:bodyPr/>
        <a:lstStyle/>
        <a:p>
          <a:endParaRPr lang="en-US" sz="2400">
            <a:latin typeface="Times New Roman" panose="02020603050405020304" pitchFamily="18" charset="0"/>
            <a:cs typeface="Times New Roman" panose="02020603050405020304" pitchFamily="18" charset="0"/>
          </a:endParaRPr>
        </a:p>
      </dgm:t>
    </dgm:pt>
    <dgm:pt modelId="{F3C3ACE2-2A04-41C2-8731-ED9DB150D38B}" type="sibTrans" cxnId="{D76342E2-668B-459C-B20F-FCD56D063F58}">
      <dgm:prSet/>
      <dgm:spPr/>
      <dgm:t>
        <a:bodyPr/>
        <a:lstStyle/>
        <a:p>
          <a:endParaRPr lang="en-US" sz="2400">
            <a:latin typeface="Times New Roman" panose="02020603050405020304" pitchFamily="18" charset="0"/>
            <a:cs typeface="Times New Roman" panose="02020603050405020304" pitchFamily="18" charset="0"/>
          </a:endParaRPr>
        </a:p>
      </dgm:t>
    </dgm:pt>
    <dgm:pt modelId="{2D44C4A8-46C6-47BE-A46A-569DBE53DE6D}">
      <dgm:prSet custT="1"/>
      <dgm:spPr/>
      <dgm:t>
        <a:bodyPr/>
        <a:lstStyle/>
        <a:p>
          <a:r>
            <a:rPr lang="en-US" sz="2400" dirty="0">
              <a:latin typeface="Times New Roman" panose="02020603050405020304" pitchFamily="18" charset="0"/>
              <a:cs typeface="Times New Roman" panose="02020603050405020304" pitchFamily="18" charset="0"/>
            </a:rPr>
            <a:t>friction experienced by a body when it is at rest</a:t>
          </a:r>
        </a:p>
      </dgm:t>
    </dgm:pt>
    <dgm:pt modelId="{61953226-AEC3-451C-B893-3AB63D5F15AD}" type="parTrans" cxnId="{7AB46B1C-5253-4BA2-B295-52C19A7F7A02}">
      <dgm:prSet/>
      <dgm:spPr/>
      <dgm:t>
        <a:bodyPr/>
        <a:lstStyle/>
        <a:p>
          <a:endParaRPr lang="en-US" sz="2400">
            <a:latin typeface="Times New Roman" panose="02020603050405020304" pitchFamily="18" charset="0"/>
            <a:cs typeface="Times New Roman" panose="02020603050405020304" pitchFamily="18" charset="0"/>
          </a:endParaRPr>
        </a:p>
      </dgm:t>
    </dgm:pt>
    <dgm:pt modelId="{FA20D94F-6A36-44E1-9DC8-FE59056492F8}" type="sibTrans" cxnId="{7AB46B1C-5253-4BA2-B295-52C19A7F7A02}">
      <dgm:prSet/>
      <dgm:spPr/>
      <dgm:t>
        <a:bodyPr/>
        <a:lstStyle/>
        <a:p>
          <a:endParaRPr lang="en-US" sz="2400">
            <a:latin typeface="Times New Roman" panose="02020603050405020304" pitchFamily="18" charset="0"/>
            <a:cs typeface="Times New Roman" panose="02020603050405020304" pitchFamily="18" charset="0"/>
          </a:endParaRPr>
        </a:p>
      </dgm:t>
    </dgm:pt>
    <dgm:pt modelId="{556BE642-0DB4-4702-B510-9188CD505427}">
      <dgm:prSet custT="1"/>
      <dgm:spPr/>
      <dgm:t>
        <a:bodyPr/>
        <a:lstStyle/>
        <a:p>
          <a:r>
            <a:rPr lang="en-US" sz="2400" dirty="0">
              <a:latin typeface="Times New Roman" panose="02020603050405020304" pitchFamily="18" charset="0"/>
              <a:cs typeface="Times New Roman" panose="02020603050405020304" pitchFamily="18" charset="0"/>
            </a:rPr>
            <a:t>Or in other words, it is the friction when the body tends to move.</a:t>
          </a:r>
        </a:p>
      </dgm:t>
    </dgm:pt>
    <dgm:pt modelId="{5A380EC7-5CBD-4DFD-A25D-E096BA386A55}" type="parTrans" cxnId="{686D1FFB-8F32-487E-A4D6-334162BED5C2}">
      <dgm:prSet/>
      <dgm:spPr/>
      <dgm:t>
        <a:bodyPr/>
        <a:lstStyle/>
        <a:p>
          <a:endParaRPr lang="en-US" sz="2400">
            <a:latin typeface="Times New Roman" panose="02020603050405020304" pitchFamily="18" charset="0"/>
            <a:cs typeface="Times New Roman" panose="02020603050405020304" pitchFamily="18" charset="0"/>
          </a:endParaRPr>
        </a:p>
      </dgm:t>
    </dgm:pt>
    <dgm:pt modelId="{058F0FC8-AE6F-49D8-A547-C468A9DFE227}" type="sibTrans" cxnId="{686D1FFB-8F32-487E-A4D6-334162BED5C2}">
      <dgm:prSet/>
      <dgm:spPr/>
      <dgm:t>
        <a:bodyPr/>
        <a:lstStyle/>
        <a:p>
          <a:endParaRPr lang="en-US" sz="2400">
            <a:latin typeface="Times New Roman" panose="02020603050405020304" pitchFamily="18" charset="0"/>
            <a:cs typeface="Times New Roman" panose="02020603050405020304" pitchFamily="18" charset="0"/>
          </a:endParaRPr>
        </a:p>
      </dgm:t>
    </dgm:pt>
    <dgm:pt modelId="{6A5FEC32-BCC6-4080-8683-0D674CAF203F}">
      <dgm:prSet custT="1"/>
      <dgm:spPr/>
      <dgm:t>
        <a:bodyPr/>
        <a:lstStyle/>
        <a:p>
          <a:r>
            <a:rPr lang="en-US" sz="2400" dirty="0">
              <a:latin typeface="Times New Roman" panose="02020603050405020304" pitchFamily="18" charset="0"/>
              <a:cs typeface="Times New Roman" panose="02020603050405020304" pitchFamily="18" charset="0"/>
            </a:rPr>
            <a:t>It is the friction experienced by a body when it is in motion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also called kinetic friction.</a:t>
          </a:r>
        </a:p>
      </dgm:t>
    </dgm:pt>
    <dgm:pt modelId="{000184DB-9AB4-4CA2-8685-A6079896552F}" type="parTrans" cxnId="{19CFA316-854D-46FC-BA0D-871072C88BF2}">
      <dgm:prSet/>
      <dgm:spPr/>
      <dgm:t>
        <a:bodyPr/>
        <a:lstStyle/>
        <a:p>
          <a:endParaRPr lang="en-US" sz="2400">
            <a:latin typeface="Times New Roman" panose="02020603050405020304" pitchFamily="18" charset="0"/>
            <a:cs typeface="Times New Roman" panose="02020603050405020304" pitchFamily="18" charset="0"/>
          </a:endParaRPr>
        </a:p>
      </dgm:t>
    </dgm:pt>
    <dgm:pt modelId="{02AE610C-491E-4BFD-8E1F-04772D5E993D}" type="sibTrans" cxnId="{19CFA316-854D-46FC-BA0D-871072C88BF2}">
      <dgm:prSet/>
      <dgm:spPr/>
      <dgm:t>
        <a:bodyPr/>
        <a:lstStyle/>
        <a:p>
          <a:endParaRPr lang="en-US" sz="2400">
            <a:latin typeface="Times New Roman" panose="02020603050405020304" pitchFamily="18" charset="0"/>
            <a:cs typeface="Times New Roman" panose="02020603050405020304" pitchFamily="18" charset="0"/>
          </a:endParaRPr>
        </a:p>
      </dgm:t>
    </dgm:pt>
    <dgm:pt modelId="{276E7CF3-C285-4399-A747-8C6D19CC6156}" type="pres">
      <dgm:prSet presAssocID="{D191552C-594E-4EB4-A0C3-B04A24340054}" presName="mainComposite" presStyleCnt="0">
        <dgm:presLayoutVars>
          <dgm:chPref val="1"/>
          <dgm:dir/>
          <dgm:animOne val="branch"/>
          <dgm:animLvl val="lvl"/>
          <dgm:resizeHandles val="exact"/>
        </dgm:presLayoutVars>
      </dgm:prSet>
      <dgm:spPr/>
    </dgm:pt>
    <dgm:pt modelId="{F8B33441-0088-4EE6-B101-FA62AAA2BEA8}" type="pres">
      <dgm:prSet presAssocID="{D191552C-594E-4EB4-A0C3-B04A24340054}" presName="hierFlow" presStyleCnt="0"/>
      <dgm:spPr/>
    </dgm:pt>
    <dgm:pt modelId="{7C14391A-4C0F-41ED-840B-7366767A7255}" type="pres">
      <dgm:prSet presAssocID="{D191552C-594E-4EB4-A0C3-B04A24340054}" presName="hierChild1" presStyleCnt="0">
        <dgm:presLayoutVars>
          <dgm:chPref val="1"/>
          <dgm:animOne val="branch"/>
          <dgm:animLvl val="lvl"/>
        </dgm:presLayoutVars>
      </dgm:prSet>
      <dgm:spPr/>
    </dgm:pt>
    <dgm:pt modelId="{23AED81B-8B36-4825-B079-ED7BCFCDA2D1}" type="pres">
      <dgm:prSet presAssocID="{E4A5B7E9-1C69-4901-8674-766382E2D05F}" presName="Name14" presStyleCnt="0"/>
      <dgm:spPr/>
    </dgm:pt>
    <dgm:pt modelId="{094FB911-E8FC-4533-B8C5-18248B13C235}" type="pres">
      <dgm:prSet presAssocID="{E4A5B7E9-1C69-4901-8674-766382E2D05F}" presName="level1Shape" presStyleLbl="node0" presStyleIdx="0" presStyleCnt="1" custScaleX="264324" custScaleY="129133" custLinFactNeighborX="-4042" custLinFactNeighborY="-26841">
        <dgm:presLayoutVars>
          <dgm:chPref val="3"/>
        </dgm:presLayoutVars>
      </dgm:prSet>
      <dgm:spPr/>
    </dgm:pt>
    <dgm:pt modelId="{33E2EEC8-113D-46ED-A3ED-C21CCFA8FF03}" type="pres">
      <dgm:prSet presAssocID="{E4A5B7E9-1C69-4901-8674-766382E2D05F}" presName="hierChild2" presStyleCnt="0"/>
      <dgm:spPr/>
    </dgm:pt>
    <dgm:pt modelId="{CC825600-B996-422A-B988-728BD1B71919}" type="pres">
      <dgm:prSet presAssocID="{DF5B8553-649B-425B-8928-D361FDDC786E}" presName="Name19" presStyleLbl="parChTrans1D2" presStyleIdx="0" presStyleCnt="2"/>
      <dgm:spPr/>
    </dgm:pt>
    <dgm:pt modelId="{BDC54088-6630-424B-BA2E-77173F398034}" type="pres">
      <dgm:prSet presAssocID="{B752FC6A-136E-4FB9-BCA8-2F497DA56954}" presName="Name21" presStyleCnt="0"/>
      <dgm:spPr/>
    </dgm:pt>
    <dgm:pt modelId="{8E6D100D-10E9-462E-A911-DFBC0B96CF31}" type="pres">
      <dgm:prSet presAssocID="{B752FC6A-136E-4FB9-BCA8-2F497DA56954}" presName="level2Shape" presStyleLbl="node2" presStyleIdx="0" presStyleCnt="2" custScaleX="205248"/>
      <dgm:spPr/>
    </dgm:pt>
    <dgm:pt modelId="{AC816B7D-473F-46DD-860D-A5B8F0ADD605}" type="pres">
      <dgm:prSet presAssocID="{B752FC6A-136E-4FB9-BCA8-2F497DA56954}" presName="hierChild3" presStyleCnt="0"/>
      <dgm:spPr/>
    </dgm:pt>
    <dgm:pt modelId="{59D09B2A-52A3-405C-A5E0-073D9DF872D8}" type="pres">
      <dgm:prSet presAssocID="{61953226-AEC3-451C-B893-3AB63D5F15AD}" presName="Name19" presStyleLbl="parChTrans1D3" presStyleIdx="0" presStyleCnt="3"/>
      <dgm:spPr/>
    </dgm:pt>
    <dgm:pt modelId="{D2321917-3042-4F28-87E0-B49F0E7BEA22}" type="pres">
      <dgm:prSet presAssocID="{2D44C4A8-46C6-47BE-A46A-569DBE53DE6D}" presName="Name21" presStyleCnt="0"/>
      <dgm:spPr/>
    </dgm:pt>
    <dgm:pt modelId="{CEF98A09-E75F-4020-B21A-85809D653B4F}" type="pres">
      <dgm:prSet presAssocID="{2D44C4A8-46C6-47BE-A46A-569DBE53DE6D}" presName="level2Shape" presStyleLbl="node3" presStyleIdx="0" presStyleCnt="3" custScaleX="151023" custScaleY="145261"/>
      <dgm:spPr/>
    </dgm:pt>
    <dgm:pt modelId="{8FB7F986-D2AA-4B88-811A-411A7EBA51EE}" type="pres">
      <dgm:prSet presAssocID="{2D44C4A8-46C6-47BE-A46A-569DBE53DE6D}" presName="hierChild3" presStyleCnt="0"/>
      <dgm:spPr/>
    </dgm:pt>
    <dgm:pt modelId="{9E31E52A-E571-4E32-9B4E-A790B86EFF88}" type="pres">
      <dgm:prSet presAssocID="{5A380EC7-5CBD-4DFD-A25D-E096BA386A55}" presName="Name19" presStyleLbl="parChTrans1D3" presStyleIdx="1" presStyleCnt="3"/>
      <dgm:spPr/>
    </dgm:pt>
    <dgm:pt modelId="{2E7E899A-12AF-4B4E-8C8A-FC9157D3E7F5}" type="pres">
      <dgm:prSet presAssocID="{556BE642-0DB4-4702-B510-9188CD505427}" presName="Name21" presStyleCnt="0"/>
      <dgm:spPr/>
    </dgm:pt>
    <dgm:pt modelId="{70A604AC-AE7F-4FB8-88D5-88CCFFB43FD2}" type="pres">
      <dgm:prSet presAssocID="{556BE642-0DB4-4702-B510-9188CD505427}" presName="level2Shape" presStyleLbl="node3" presStyleIdx="1" presStyleCnt="3" custScaleX="154744" custScaleY="246335"/>
      <dgm:spPr/>
    </dgm:pt>
    <dgm:pt modelId="{C4182E44-D889-4540-A226-6184972FC1E3}" type="pres">
      <dgm:prSet presAssocID="{556BE642-0DB4-4702-B510-9188CD505427}" presName="hierChild3" presStyleCnt="0"/>
      <dgm:spPr/>
    </dgm:pt>
    <dgm:pt modelId="{5E9125C4-C220-450D-86B9-80B48CA20F72}" type="pres">
      <dgm:prSet presAssocID="{3F4469FF-4207-4447-AA02-5AD8B1DBA0A8}" presName="Name19" presStyleLbl="parChTrans1D2" presStyleIdx="1" presStyleCnt="2"/>
      <dgm:spPr/>
    </dgm:pt>
    <dgm:pt modelId="{51F0B634-8A88-4651-81DE-5F1E59168D20}" type="pres">
      <dgm:prSet presAssocID="{A4091D60-B7BA-432E-BE99-24A6425AD046}" presName="Name21" presStyleCnt="0"/>
      <dgm:spPr/>
    </dgm:pt>
    <dgm:pt modelId="{D38073BE-7D05-4CF9-B310-B0E48DF25FB7}" type="pres">
      <dgm:prSet presAssocID="{A4091D60-B7BA-432E-BE99-24A6425AD046}" presName="level2Shape" presStyleLbl="node2" presStyleIdx="1" presStyleCnt="2" custScaleX="249450"/>
      <dgm:spPr/>
    </dgm:pt>
    <dgm:pt modelId="{7ADCE253-43FC-4333-9A4C-91BCFC84BFD9}" type="pres">
      <dgm:prSet presAssocID="{A4091D60-B7BA-432E-BE99-24A6425AD046}" presName="hierChild3" presStyleCnt="0"/>
      <dgm:spPr/>
    </dgm:pt>
    <dgm:pt modelId="{6E3AC453-B9FD-4B4C-8FFA-21133B7EF2F5}" type="pres">
      <dgm:prSet presAssocID="{000184DB-9AB4-4CA2-8685-A6079896552F}" presName="Name19" presStyleLbl="parChTrans1D3" presStyleIdx="2" presStyleCnt="3"/>
      <dgm:spPr/>
    </dgm:pt>
    <dgm:pt modelId="{B4EB989E-5CA2-4DBF-90E5-D4CB526FB48D}" type="pres">
      <dgm:prSet presAssocID="{6A5FEC32-BCC6-4080-8683-0D674CAF203F}" presName="Name21" presStyleCnt="0"/>
      <dgm:spPr/>
    </dgm:pt>
    <dgm:pt modelId="{46C81910-E6D5-4AAC-AF26-E4C1E2E3DC8A}" type="pres">
      <dgm:prSet presAssocID="{6A5FEC32-BCC6-4080-8683-0D674CAF203F}" presName="level2Shape" presStyleLbl="node3" presStyleIdx="2" presStyleCnt="3" custScaleX="204255" custScaleY="234739"/>
      <dgm:spPr/>
    </dgm:pt>
    <dgm:pt modelId="{CB71E6D2-3A7D-4D3F-9AE5-1624BAB047DE}" type="pres">
      <dgm:prSet presAssocID="{6A5FEC32-BCC6-4080-8683-0D674CAF203F}" presName="hierChild3" presStyleCnt="0"/>
      <dgm:spPr/>
    </dgm:pt>
    <dgm:pt modelId="{3DE4A4F2-0F85-4495-9F3B-7297C5C997B5}" type="pres">
      <dgm:prSet presAssocID="{D191552C-594E-4EB4-A0C3-B04A24340054}" presName="bgShapesFlow" presStyleCnt="0"/>
      <dgm:spPr/>
    </dgm:pt>
  </dgm:ptLst>
  <dgm:cxnLst>
    <dgm:cxn modelId="{19CFA316-854D-46FC-BA0D-871072C88BF2}" srcId="{A4091D60-B7BA-432E-BE99-24A6425AD046}" destId="{6A5FEC32-BCC6-4080-8683-0D674CAF203F}" srcOrd="0" destOrd="0" parTransId="{000184DB-9AB4-4CA2-8685-A6079896552F}" sibTransId="{02AE610C-491E-4BFD-8E1F-04772D5E993D}"/>
    <dgm:cxn modelId="{7AB46B1C-5253-4BA2-B295-52C19A7F7A02}" srcId="{B752FC6A-136E-4FB9-BCA8-2F497DA56954}" destId="{2D44C4A8-46C6-47BE-A46A-569DBE53DE6D}" srcOrd="0" destOrd="0" parTransId="{61953226-AEC3-451C-B893-3AB63D5F15AD}" sibTransId="{FA20D94F-6A36-44E1-9DC8-FE59056492F8}"/>
    <dgm:cxn modelId="{45958D2C-1436-4357-9F05-18411A9E48C7}" type="presOf" srcId="{A4091D60-B7BA-432E-BE99-24A6425AD046}" destId="{D38073BE-7D05-4CF9-B310-B0E48DF25FB7}" srcOrd="0" destOrd="0" presId="urn:microsoft.com/office/officeart/2005/8/layout/hierarchy6"/>
    <dgm:cxn modelId="{3A32893A-9E08-4DF6-A9A1-24DE47F1CC7E}" srcId="{D191552C-594E-4EB4-A0C3-B04A24340054}" destId="{E4A5B7E9-1C69-4901-8674-766382E2D05F}" srcOrd="0" destOrd="0" parTransId="{78D5CB8F-A7A6-4381-9C08-6620D8C9ACAE}" sibTransId="{3CB6FD3D-0991-43CF-82FF-ACE94C07A88B}"/>
    <dgm:cxn modelId="{824D5F5D-785F-4F5C-BB7A-447B33EC2866}" type="presOf" srcId="{B752FC6A-136E-4FB9-BCA8-2F497DA56954}" destId="{8E6D100D-10E9-462E-A911-DFBC0B96CF31}" srcOrd="0" destOrd="0" presId="urn:microsoft.com/office/officeart/2005/8/layout/hierarchy6"/>
    <dgm:cxn modelId="{7B473A48-9264-4937-B07D-302B2A0822D4}" srcId="{E4A5B7E9-1C69-4901-8674-766382E2D05F}" destId="{B752FC6A-136E-4FB9-BCA8-2F497DA56954}" srcOrd="0" destOrd="0" parTransId="{DF5B8553-649B-425B-8928-D361FDDC786E}" sibTransId="{1708BE34-9224-4D48-8D69-77BE306E4DC9}"/>
    <dgm:cxn modelId="{8136344D-1B65-4A1C-9F73-AFB3CF70ABAD}" type="presOf" srcId="{000184DB-9AB4-4CA2-8685-A6079896552F}" destId="{6E3AC453-B9FD-4B4C-8FFA-21133B7EF2F5}" srcOrd="0" destOrd="0" presId="urn:microsoft.com/office/officeart/2005/8/layout/hierarchy6"/>
    <dgm:cxn modelId="{D69F577D-0483-45A5-9DF2-C2D13FBEEEBF}" type="presOf" srcId="{3F4469FF-4207-4447-AA02-5AD8B1DBA0A8}" destId="{5E9125C4-C220-450D-86B9-80B48CA20F72}" srcOrd="0" destOrd="0" presId="urn:microsoft.com/office/officeart/2005/8/layout/hierarchy6"/>
    <dgm:cxn modelId="{B047E98F-DD57-4F77-902C-B51EF3E9450F}" type="presOf" srcId="{6A5FEC32-BCC6-4080-8683-0D674CAF203F}" destId="{46C81910-E6D5-4AAC-AF26-E4C1E2E3DC8A}" srcOrd="0" destOrd="0" presId="urn:microsoft.com/office/officeart/2005/8/layout/hierarchy6"/>
    <dgm:cxn modelId="{9C0EFFBC-FC2D-4CC3-91FE-5DFB0B042308}" type="presOf" srcId="{61953226-AEC3-451C-B893-3AB63D5F15AD}" destId="{59D09B2A-52A3-405C-A5E0-073D9DF872D8}" srcOrd="0" destOrd="0" presId="urn:microsoft.com/office/officeart/2005/8/layout/hierarchy6"/>
    <dgm:cxn modelId="{1BFD8BBD-F6AB-4170-8C1F-71B85D3CB9DB}" type="presOf" srcId="{DF5B8553-649B-425B-8928-D361FDDC786E}" destId="{CC825600-B996-422A-B988-728BD1B71919}" srcOrd="0" destOrd="0" presId="urn:microsoft.com/office/officeart/2005/8/layout/hierarchy6"/>
    <dgm:cxn modelId="{237226D7-5154-48ED-9223-3441B137B4F9}" type="presOf" srcId="{D191552C-594E-4EB4-A0C3-B04A24340054}" destId="{276E7CF3-C285-4399-A747-8C6D19CC6156}" srcOrd="0" destOrd="0" presId="urn:microsoft.com/office/officeart/2005/8/layout/hierarchy6"/>
    <dgm:cxn modelId="{82F15EDD-534E-4097-AAC9-5530ED322FD2}" type="presOf" srcId="{556BE642-0DB4-4702-B510-9188CD505427}" destId="{70A604AC-AE7F-4FB8-88D5-88CCFFB43FD2}" srcOrd="0" destOrd="0" presId="urn:microsoft.com/office/officeart/2005/8/layout/hierarchy6"/>
    <dgm:cxn modelId="{D76342E2-668B-459C-B20F-FCD56D063F58}" srcId="{E4A5B7E9-1C69-4901-8674-766382E2D05F}" destId="{A4091D60-B7BA-432E-BE99-24A6425AD046}" srcOrd="1" destOrd="0" parTransId="{3F4469FF-4207-4447-AA02-5AD8B1DBA0A8}" sibTransId="{F3C3ACE2-2A04-41C2-8731-ED9DB150D38B}"/>
    <dgm:cxn modelId="{8CF28FE6-F299-4CBA-9270-AF1E6D70012C}" type="presOf" srcId="{2D44C4A8-46C6-47BE-A46A-569DBE53DE6D}" destId="{CEF98A09-E75F-4020-B21A-85809D653B4F}" srcOrd="0" destOrd="0" presId="urn:microsoft.com/office/officeart/2005/8/layout/hierarchy6"/>
    <dgm:cxn modelId="{DA9154E9-17A3-4F69-981A-8B5CAA72415F}" type="presOf" srcId="{5A380EC7-5CBD-4DFD-A25D-E096BA386A55}" destId="{9E31E52A-E571-4E32-9B4E-A790B86EFF88}" srcOrd="0" destOrd="0" presId="urn:microsoft.com/office/officeart/2005/8/layout/hierarchy6"/>
    <dgm:cxn modelId="{508C3FED-3130-4353-B9A8-130751711388}" type="presOf" srcId="{E4A5B7E9-1C69-4901-8674-766382E2D05F}" destId="{094FB911-E8FC-4533-B8C5-18248B13C235}" srcOrd="0" destOrd="0" presId="urn:microsoft.com/office/officeart/2005/8/layout/hierarchy6"/>
    <dgm:cxn modelId="{686D1FFB-8F32-487E-A4D6-334162BED5C2}" srcId="{B752FC6A-136E-4FB9-BCA8-2F497DA56954}" destId="{556BE642-0DB4-4702-B510-9188CD505427}" srcOrd="1" destOrd="0" parTransId="{5A380EC7-5CBD-4DFD-A25D-E096BA386A55}" sibTransId="{058F0FC8-AE6F-49D8-A547-C468A9DFE227}"/>
    <dgm:cxn modelId="{BB6B1444-1EE0-43BB-A9C7-4FB33FADB6A4}" type="presParOf" srcId="{276E7CF3-C285-4399-A747-8C6D19CC6156}" destId="{F8B33441-0088-4EE6-B101-FA62AAA2BEA8}" srcOrd="0" destOrd="0" presId="urn:microsoft.com/office/officeart/2005/8/layout/hierarchy6"/>
    <dgm:cxn modelId="{59878135-3C46-40FB-873E-D34B69221149}" type="presParOf" srcId="{F8B33441-0088-4EE6-B101-FA62AAA2BEA8}" destId="{7C14391A-4C0F-41ED-840B-7366767A7255}" srcOrd="0" destOrd="0" presId="urn:microsoft.com/office/officeart/2005/8/layout/hierarchy6"/>
    <dgm:cxn modelId="{8B423E78-6B50-490C-ACD5-50AE6A6273A2}" type="presParOf" srcId="{7C14391A-4C0F-41ED-840B-7366767A7255}" destId="{23AED81B-8B36-4825-B079-ED7BCFCDA2D1}" srcOrd="0" destOrd="0" presId="urn:microsoft.com/office/officeart/2005/8/layout/hierarchy6"/>
    <dgm:cxn modelId="{44444C36-46A0-4870-9C8A-94F2019C6FFB}" type="presParOf" srcId="{23AED81B-8B36-4825-B079-ED7BCFCDA2D1}" destId="{094FB911-E8FC-4533-B8C5-18248B13C235}" srcOrd="0" destOrd="0" presId="urn:microsoft.com/office/officeart/2005/8/layout/hierarchy6"/>
    <dgm:cxn modelId="{5A8F2CAA-80A5-4308-A46C-C8767A6D7E97}" type="presParOf" srcId="{23AED81B-8B36-4825-B079-ED7BCFCDA2D1}" destId="{33E2EEC8-113D-46ED-A3ED-C21CCFA8FF03}" srcOrd="1" destOrd="0" presId="urn:microsoft.com/office/officeart/2005/8/layout/hierarchy6"/>
    <dgm:cxn modelId="{76E2641E-367A-4036-A108-C099C04FE0CC}" type="presParOf" srcId="{33E2EEC8-113D-46ED-A3ED-C21CCFA8FF03}" destId="{CC825600-B996-422A-B988-728BD1B71919}" srcOrd="0" destOrd="0" presId="urn:microsoft.com/office/officeart/2005/8/layout/hierarchy6"/>
    <dgm:cxn modelId="{D28D28A0-60B6-45EA-B8DD-26443613803C}" type="presParOf" srcId="{33E2EEC8-113D-46ED-A3ED-C21CCFA8FF03}" destId="{BDC54088-6630-424B-BA2E-77173F398034}" srcOrd="1" destOrd="0" presId="urn:microsoft.com/office/officeart/2005/8/layout/hierarchy6"/>
    <dgm:cxn modelId="{76046688-AFE4-4400-9CD5-8C89BAC14A74}" type="presParOf" srcId="{BDC54088-6630-424B-BA2E-77173F398034}" destId="{8E6D100D-10E9-462E-A911-DFBC0B96CF31}" srcOrd="0" destOrd="0" presId="urn:microsoft.com/office/officeart/2005/8/layout/hierarchy6"/>
    <dgm:cxn modelId="{B27657D7-07C8-4E37-8D4E-6B567A1269BC}" type="presParOf" srcId="{BDC54088-6630-424B-BA2E-77173F398034}" destId="{AC816B7D-473F-46DD-860D-A5B8F0ADD605}" srcOrd="1" destOrd="0" presId="urn:microsoft.com/office/officeart/2005/8/layout/hierarchy6"/>
    <dgm:cxn modelId="{CD5B37BC-59A2-4F3C-AACC-042AEF1EAA0A}" type="presParOf" srcId="{AC816B7D-473F-46DD-860D-A5B8F0ADD605}" destId="{59D09B2A-52A3-405C-A5E0-073D9DF872D8}" srcOrd="0" destOrd="0" presId="urn:microsoft.com/office/officeart/2005/8/layout/hierarchy6"/>
    <dgm:cxn modelId="{6FBEA3C3-87CA-4C07-BFE9-F88E4469E2BC}" type="presParOf" srcId="{AC816B7D-473F-46DD-860D-A5B8F0ADD605}" destId="{D2321917-3042-4F28-87E0-B49F0E7BEA22}" srcOrd="1" destOrd="0" presId="urn:microsoft.com/office/officeart/2005/8/layout/hierarchy6"/>
    <dgm:cxn modelId="{ADD0B49A-2990-44FE-9E6B-0F93F696F425}" type="presParOf" srcId="{D2321917-3042-4F28-87E0-B49F0E7BEA22}" destId="{CEF98A09-E75F-4020-B21A-85809D653B4F}" srcOrd="0" destOrd="0" presId="urn:microsoft.com/office/officeart/2005/8/layout/hierarchy6"/>
    <dgm:cxn modelId="{03F6C66C-47D6-4884-A40D-0F803D312655}" type="presParOf" srcId="{D2321917-3042-4F28-87E0-B49F0E7BEA22}" destId="{8FB7F986-D2AA-4B88-811A-411A7EBA51EE}" srcOrd="1" destOrd="0" presId="urn:microsoft.com/office/officeart/2005/8/layout/hierarchy6"/>
    <dgm:cxn modelId="{2B53E54E-7024-48F9-9C81-ED3F08D73CF9}" type="presParOf" srcId="{AC816B7D-473F-46DD-860D-A5B8F0ADD605}" destId="{9E31E52A-E571-4E32-9B4E-A790B86EFF88}" srcOrd="2" destOrd="0" presId="urn:microsoft.com/office/officeart/2005/8/layout/hierarchy6"/>
    <dgm:cxn modelId="{0E1226B9-3100-49F5-AECB-BC377087A704}" type="presParOf" srcId="{AC816B7D-473F-46DD-860D-A5B8F0ADD605}" destId="{2E7E899A-12AF-4B4E-8C8A-FC9157D3E7F5}" srcOrd="3" destOrd="0" presId="urn:microsoft.com/office/officeart/2005/8/layout/hierarchy6"/>
    <dgm:cxn modelId="{CEB6D336-A4DA-4CDE-86FA-ED1D807D1232}" type="presParOf" srcId="{2E7E899A-12AF-4B4E-8C8A-FC9157D3E7F5}" destId="{70A604AC-AE7F-4FB8-88D5-88CCFFB43FD2}" srcOrd="0" destOrd="0" presId="urn:microsoft.com/office/officeart/2005/8/layout/hierarchy6"/>
    <dgm:cxn modelId="{E3550C5E-24A0-4C0F-8940-1ABB929EB38F}" type="presParOf" srcId="{2E7E899A-12AF-4B4E-8C8A-FC9157D3E7F5}" destId="{C4182E44-D889-4540-A226-6184972FC1E3}" srcOrd="1" destOrd="0" presId="urn:microsoft.com/office/officeart/2005/8/layout/hierarchy6"/>
    <dgm:cxn modelId="{E677AA86-58D5-42BD-BAEB-38EA0F74C040}" type="presParOf" srcId="{33E2EEC8-113D-46ED-A3ED-C21CCFA8FF03}" destId="{5E9125C4-C220-450D-86B9-80B48CA20F72}" srcOrd="2" destOrd="0" presId="urn:microsoft.com/office/officeart/2005/8/layout/hierarchy6"/>
    <dgm:cxn modelId="{F7757D13-9D55-4CFD-9F3D-3D52DB82C990}" type="presParOf" srcId="{33E2EEC8-113D-46ED-A3ED-C21CCFA8FF03}" destId="{51F0B634-8A88-4651-81DE-5F1E59168D20}" srcOrd="3" destOrd="0" presId="urn:microsoft.com/office/officeart/2005/8/layout/hierarchy6"/>
    <dgm:cxn modelId="{7CCF8E92-06C9-483E-ADDD-6BA16BF873BD}" type="presParOf" srcId="{51F0B634-8A88-4651-81DE-5F1E59168D20}" destId="{D38073BE-7D05-4CF9-B310-B0E48DF25FB7}" srcOrd="0" destOrd="0" presId="urn:microsoft.com/office/officeart/2005/8/layout/hierarchy6"/>
    <dgm:cxn modelId="{BD8ED93F-099D-4F79-9B12-BC733AF14857}" type="presParOf" srcId="{51F0B634-8A88-4651-81DE-5F1E59168D20}" destId="{7ADCE253-43FC-4333-9A4C-91BCFC84BFD9}" srcOrd="1" destOrd="0" presId="urn:microsoft.com/office/officeart/2005/8/layout/hierarchy6"/>
    <dgm:cxn modelId="{C7AD1017-A13C-49C5-8508-DE19C4614D08}" type="presParOf" srcId="{7ADCE253-43FC-4333-9A4C-91BCFC84BFD9}" destId="{6E3AC453-B9FD-4B4C-8FFA-21133B7EF2F5}" srcOrd="0" destOrd="0" presId="urn:microsoft.com/office/officeart/2005/8/layout/hierarchy6"/>
    <dgm:cxn modelId="{A21AD29A-A35E-4C14-81FA-C8AA3C83FA80}" type="presParOf" srcId="{7ADCE253-43FC-4333-9A4C-91BCFC84BFD9}" destId="{B4EB989E-5CA2-4DBF-90E5-D4CB526FB48D}" srcOrd="1" destOrd="0" presId="urn:microsoft.com/office/officeart/2005/8/layout/hierarchy6"/>
    <dgm:cxn modelId="{7E2413DC-4730-4220-AF3D-3E77D69B78BA}" type="presParOf" srcId="{B4EB989E-5CA2-4DBF-90E5-D4CB526FB48D}" destId="{46C81910-E6D5-4AAC-AF26-E4C1E2E3DC8A}" srcOrd="0" destOrd="0" presId="urn:microsoft.com/office/officeart/2005/8/layout/hierarchy6"/>
    <dgm:cxn modelId="{DAB85E53-6E2B-4406-A5A5-36AA66ECF660}" type="presParOf" srcId="{B4EB989E-5CA2-4DBF-90E5-D4CB526FB48D}" destId="{CB71E6D2-3A7D-4D3F-9AE5-1624BAB047DE}" srcOrd="1" destOrd="0" presId="urn:microsoft.com/office/officeart/2005/8/layout/hierarchy6"/>
    <dgm:cxn modelId="{31C971F1-641B-481C-ADCC-4E088CFC9B02}" type="presParOf" srcId="{276E7CF3-C285-4399-A747-8C6D19CC6156}" destId="{3DE4A4F2-0F85-4495-9F3B-7297C5C997B5}"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E4D76D-4B96-4A47-9891-DC786C8A13F1}" type="doc">
      <dgm:prSet loTypeId="urn:microsoft.com/office/officeart/2005/8/layout/vProcess5" loCatId="process" qsTypeId="urn:microsoft.com/office/officeart/2005/8/quickstyle/simple1" qsCatId="simple" csTypeId="urn:microsoft.com/office/officeart/2005/8/colors/accent1_2" csCatId="accent1" phldr="1"/>
      <dgm:spPr/>
    </dgm:pt>
    <dgm:pt modelId="{5369087C-09B3-43CD-89DC-DB124E8C73EC}">
      <dgm:prSet phldrT="[Text]"/>
      <dgm:spPr>
        <a:solidFill>
          <a:srgbClr val="00B050"/>
        </a:solidFill>
      </dgm:spPr>
      <dgm:t>
        <a:bodyPr/>
        <a:lstStyle/>
        <a:p>
          <a:r>
            <a:rPr lang="en-US" dirty="0">
              <a:latin typeface="Times New Roman" panose="02020603050405020304" pitchFamily="18" charset="0"/>
              <a:cs typeface="Times New Roman" panose="02020603050405020304" pitchFamily="18" charset="0"/>
            </a:rPr>
            <a:t>Dynamic Friction</a:t>
          </a:r>
        </a:p>
      </dgm:t>
    </dgm:pt>
    <dgm:pt modelId="{AE14BC61-8F70-4CB0-9A41-CF1C16C06406}" type="parTrans" cxnId="{8837D000-4020-4EFB-891F-4254D9DEFA32}">
      <dgm:prSet/>
      <dgm:spPr/>
      <dgm:t>
        <a:bodyPr/>
        <a:lstStyle/>
        <a:p>
          <a:endParaRPr lang="en-US">
            <a:latin typeface="Times New Roman" panose="02020603050405020304" pitchFamily="18" charset="0"/>
            <a:cs typeface="Times New Roman" panose="02020603050405020304" pitchFamily="18" charset="0"/>
          </a:endParaRPr>
        </a:p>
      </dgm:t>
    </dgm:pt>
    <dgm:pt modelId="{2E0A772F-3925-429C-8323-562F54261FFC}" type="sibTrans" cxnId="{8837D000-4020-4EFB-891F-4254D9DEFA32}">
      <dgm:prSet/>
      <dgm:spPr/>
      <dgm:t>
        <a:bodyPr/>
        <a:lstStyle/>
        <a:p>
          <a:endParaRPr lang="en-US">
            <a:latin typeface="Times New Roman" panose="02020603050405020304" pitchFamily="18" charset="0"/>
            <a:cs typeface="Times New Roman" panose="02020603050405020304" pitchFamily="18" charset="0"/>
          </a:endParaRPr>
        </a:p>
      </dgm:t>
    </dgm:pt>
    <dgm:pt modelId="{C3A38D27-56F5-4936-BCFD-5D682AE88F87}">
      <dgm:prSet phldrT="[Text]"/>
      <dgm:spPr>
        <a:solidFill>
          <a:srgbClr val="00B0F0"/>
        </a:solidFill>
      </dgm:spPr>
      <dgm:t>
        <a:bodyPr/>
        <a:lstStyle/>
        <a:p>
          <a:r>
            <a:rPr lang="en-US" dirty="0">
              <a:latin typeface="Times New Roman" panose="02020603050405020304" pitchFamily="18" charset="0"/>
              <a:cs typeface="Times New Roman" panose="02020603050405020304" pitchFamily="18" charset="0"/>
            </a:rPr>
            <a:t>Two type</a:t>
          </a:r>
        </a:p>
      </dgm:t>
    </dgm:pt>
    <dgm:pt modelId="{07CF6CF5-2C1E-4370-A69D-E5F92770F387}" type="parTrans" cxnId="{1DA0A39A-DCFA-4412-8A02-6CA719587933}">
      <dgm:prSet/>
      <dgm:spPr/>
      <dgm:t>
        <a:bodyPr/>
        <a:lstStyle/>
        <a:p>
          <a:endParaRPr lang="en-US">
            <a:latin typeface="Times New Roman" panose="02020603050405020304" pitchFamily="18" charset="0"/>
            <a:cs typeface="Times New Roman" panose="02020603050405020304" pitchFamily="18" charset="0"/>
          </a:endParaRPr>
        </a:p>
      </dgm:t>
    </dgm:pt>
    <dgm:pt modelId="{F5CD43B1-B626-4F27-8795-E70C1E45DCBD}" type="sibTrans" cxnId="{1DA0A39A-DCFA-4412-8A02-6CA719587933}">
      <dgm:prSet/>
      <dgm:spPr/>
      <dgm:t>
        <a:bodyPr/>
        <a:lstStyle/>
        <a:p>
          <a:endParaRPr lang="en-US">
            <a:latin typeface="Times New Roman" panose="02020603050405020304" pitchFamily="18" charset="0"/>
            <a:cs typeface="Times New Roman" panose="02020603050405020304" pitchFamily="18" charset="0"/>
          </a:endParaRPr>
        </a:p>
      </dgm:t>
    </dgm:pt>
    <dgm:pt modelId="{8091D4F9-CD5D-4303-ACB4-FEFE80CA9EBB}">
      <dgm:prSet/>
      <dgm:spPr/>
      <dgm:t>
        <a:bodyPr/>
        <a:lstStyle/>
        <a:p>
          <a:r>
            <a:rPr lang="en-US" dirty="0">
              <a:latin typeface="Times New Roman" panose="02020603050405020304" pitchFamily="18" charset="0"/>
              <a:cs typeface="Times New Roman" panose="02020603050405020304" pitchFamily="18" charset="0"/>
            </a:rPr>
            <a:t>2.Rolling friction</a:t>
          </a:r>
        </a:p>
      </dgm:t>
    </dgm:pt>
    <dgm:pt modelId="{B3B36E7A-D54C-4573-9FF6-BB8C9E075555}" type="parTrans" cxnId="{B36AAE01-7135-4D57-9FFB-F2D6AE99B6FC}">
      <dgm:prSet/>
      <dgm:spPr/>
      <dgm:t>
        <a:bodyPr/>
        <a:lstStyle/>
        <a:p>
          <a:endParaRPr lang="en-US">
            <a:latin typeface="Times New Roman" panose="02020603050405020304" pitchFamily="18" charset="0"/>
            <a:cs typeface="Times New Roman" panose="02020603050405020304" pitchFamily="18" charset="0"/>
          </a:endParaRPr>
        </a:p>
      </dgm:t>
    </dgm:pt>
    <dgm:pt modelId="{EDA2B0B5-3A09-412E-B105-4789D78C5C36}" type="sibTrans" cxnId="{B36AAE01-7135-4D57-9FFB-F2D6AE99B6FC}">
      <dgm:prSet/>
      <dgm:spPr/>
      <dgm:t>
        <a:bodyPr/>
        <a:lstStyle/>
        <a:p>
          <a:endParaRPr lang="en-US">
            <a:latin typeface="Times New Roman" panose="02020603050405020304" pitchFamily="18" charset="0"/>
            <a:cs typeface="Times New Roman" panose="02020603050405020304" pitchFamily="18" charset="0"/>
          </a:endParaRPr>
        </a:p>
      </dgm:t>
    </dgm:pt>
    <dgm:pt modelId="{0F4F971A-6D4D-483B-9370-A46B4D9835AC}">
      <dgm:prSet/>
      <dgm:spPr/>
      <dgm:t>
        <a:bodyPr/>
        <a:lstStyle/>
        <a:p>
          <a:r>
            <a:rPr lang="en-US" dirty="0">
              <a:latin typeface="Times New Roman" panose="02020603050405020304" pitchFamily="18" charset="0"/>
              <a:cs typeface="Times New Roman" panose="02020603050405020304" pitchFamily="18" charset="0"/>
            </a:rPr>
            <a:t>1.Sliding friction</a:t>
          </a:r>
        </a:p>
      </dgm:t>
    </dgm:pt>
    <dgm:pt modelId="{57D2E28A-9A3B-4D30-817B-3EB586C228F6}" type="parTrans" cxnId="{A4576E5B-912D-4E50-A7B2-88639574E4B1}">
      <dgm:prSet/>
      <dgm:spPr/>
      <dgm:t>
        <a:bodyPr/>
        <a:lstStyle/>
        <a:p>
          <a:endParaRPr lang="en-US">
            <a:latin typeface="Times New Roman" panose="02020603050405020304" pitchFamily="18" charset="0"/>
            <a:cs typeface="Times New Roman" panose="02020603050405020304" pitchFamily="18" charset="0"/>
          </a:endParaRPr>
        </a:p>
      </dgm:t>
    </dgm:pt>
    <dgm:pt modelId="{43A99324-08F9-4499-A2B2-FB70FF81863C}" type="sibTrans" cxnId="{A4576E5B-912D-4E50-A7B2-88639574E4B1}">
      <dgm:prSet/>
      <dgm:spPr/>
      <dgm:t>
        <a:bodyPr/>
        <a:lstStyle/>
        <a:p>
          <a:endParaRPr lang="en-US">
            <a:latin typeface="Times New Roman" panose="02020603050405020304" pitchFamily="18" charset="0"/>
            <a:cs typeface="Times New Roman" panose="02020603050405020304" pitchFamily="18" charset="0"/>
          </a:endParaRPr>
        </a:p>
      </dgm:t>
    </dgm:pt>
    <dgm:pt modelId="{0447EA0E-7670-4818-8CB6-E344CB983263}" type="pres">
      <dgm:prSet presAssocID="{27E4D76D-4B96-4A47-9891-DC786C8A13F1}" presName="outerComposite" presStyleCnt="0">
        <dgm:presLayoutVars>
          <dgm:chMax val="5"/>
          <dgm:dir/>
          <dgm:resizeHandles val="exact"/>
        </dgm:presLayoutVars>
      </dgm:prSet>
      <dgm:spPr/>
    </dgm:pt>
    <dgm:pt modelId="{98597AA5-B1A9-45D8-B4B4-F1D75E3C37F2}" type="pres">
      <dgm:prSet presAssocID="{27E4D76D-4B96-4A47-9891-DC786C8A13F1}" presName="dummyMaxCanvas" presStyleCnt="0">
        <dgm:presLayoutVars/>
      </dgm:prSet>
      <dgm:spPr/>
    </dgm:pt>
    <dgm:pt modelId="{631BDFA4-BD29-49F0-BA4B-A259E4500141}" type="pres">
      <dgm:prSet presAssocID="{27E4D76D-4B96-4A47-9891-DC786C8A13F1}" presName="FourNodes_1" presStyleLbl="node1" presStyleIdx="0" presStyleCnt="4">
        <dgm:presLayoutVars>
          <dgm:bulletEnabled val="1"/>
        </dgm:presLayoutVars>
      </dgm:prSet>
      <dgm:spPr/>
    </dgm:pt>
    <dgm:pt modelId="{6C0877C8-E52D-4778-BC64-551D4D710F43}" type="pres">
      <dgm:prSet presAssocID="{27E4D76D-4B96-4A47-9891-DC786C8A13F1}" presName="FourNodes_2" presStyleLbl="node1" presStyleIdx="1" presStyleCnt="4">
        <dgm:presLayoutVars>
          <dgm:bulletEnabled val="1"/>
        </dgm:presLayoutVars>
      </dgm:prSet>
      <dgm:spPr/>
    </dgm:pt>
    <dgm:pt modelId="{F0D20EB0-636E-46B8-887D-7A911DB0A00A}" type="pres">
      <dgm:prSet presAssocID="{27E4D76D-4B96-4A47-9891-DC786C8A13F1}" presName="FourNodes_3" presStyleLbl="node1" presStyleIdx="2" presStyleCnt="4">
        <dgm:presLayoutVars>
          <dgm:bulletEnabled val="1"/>
        </dgm:presLayoutVars>
      </dgm:prSet>
      <dgm:spPr/>
    </dgm:pt>
    <dgm:pt modelId="{FADE0C20-C080-46C1-822A-C39B0587084D}" type="pres">
      <dgm:prSet presAssocID="{27E4D76D-4B96-4A47-9891-DC786C8A13F1}" presName="FourNodes_4" presStyleLbl="node1" presStyleIdx="3" presStyleCnt="4">
        <dgm:presLayoutVars>
          <dgm:bulletEnabled val="1"/>
        </dgm:presLayoutVars>
      </dgm:prSet>
      <dgm:spPr/>
    </dgm:pt>
    <dgm:pt modelId="{88196792-B825-4294-BFE4-874AA25B367E}" type="pres">
      <dgm:prSet presAssocID="{27E4D76D-4B96-4A47-9891-DC786C8A13F1}" presName="FourConn_1-2" presStyleLbl="fgAccFollowNode1" presStyleIdx="0" presStyleCnt="3">
        <dgm:presLayoutVars>
          <dgm:bulletEnabled val="1"/>
        </dgm:presLayoutVars>
      </dgm:prSet>
      <dgm:spPr/>
    </dgm:pt>
    <dgm:pt modelId="{04662FA3-7473-4406-9414-B0EDE150A6E6}" type="pres">
      <dgm:prSet presAssocID="{27E4D76D-4B96-4A47-9891-DC786C8A13F1}" presName="FourConn_2-3" presStyleLbl="fgAccFollowNode1" presStyleIdx="1" presStyleCnt="3">
        <dgm:presLayoutVars>
          <dgm:bulletEnabled val="1"/>
        </dgm:presLayoutVars>
      </dgm:prSet>
      <dgm:spPr/>
    </dgm:pt>
    <dgm:pt modelId="{B59220BE-FE38-4FC9-9CEF-863E6CB41A0A}" type="pres">
      <dgm:prSet presAssocID="{27E4D76D-4B96-4A47-9891-DC786C8A13F1}" presName="FourConn_3-4" presStyleLbl="fgAccFollowNode1" presStyleIdx="2" presStyleCnt="3">
        <dgm:presLayoutVars>
          <dgm:bulletEnabled val="1"/>
        </dgm:presLayoutVars>
      </dgm:prSet>
      <dgm:spPr/>
    </dgm:pt>
    <dgm:pt modelId="{7A84F755-5750-45F6-BCEF-9FA52D22445C}" type="pres">
      <dgm:prSet presAssocID="{27E4D76D-4B96-4A47-9891-DC786C8A13F1}" presName="FourNodes_1_text" presStyleLbl="node1" presStyleIdx="3" presStyleCnt="4">
        <dgm:presLayoutVars>
          <dgm:bulletEnabled val="1"/>
        </dgm:presLayoutVars>
      </dgm:prSet>
      <dgm:spPr/>
    </dgm:pt>
    <dgm:pt modelId="{F0D5B352-4C06-4811-A9EC-D38D56764E9C}" type="pres">
      <dgm:prSet presAssocID="{27E4D76D-4B96-4A47-9891-DC786C8A13F1}" presName="FourNodes_2_text" presStyleLbl="node1" presStyleIdx="3" presStyleCnt="4">
        <dgm:presLayoutVars>
          <dgm:bulletEnabled val="1"/>
        </dgm:presLayoutVars>
      </dgm:prSet>
      <dgm:spPr/>
    </dgm:pt>
    <dgm:pt modelId="{94DA8E8C-974A-4F06-A5F9-460DD2682478}" type="pres">
      <dgm:prSet presAssocID="{27E4D76D-4B96-4A47-9891-DC786C8A13F1}" presName="FourNodes_3_text" presStyleLbl="node1" presStyleIdx="3" presStyleCnt="4">
        <dgm:presLayoutVars>
          <dgm:bulletEnabled val="1"/>
        </dgm:presLayoutVars>
      </dgm:prSet>
      <dgm:spPr/>
    </dgm:pt>
    <dgm:pt modelId="{39E9E451-804C-4E2F-BE6E-7A0C72B7F276}" type="pres">
      <dgm:prSet presAssocID="{27E4D76D-4B96-4A47-9891-DC786C8A13F1}" presName="FourNodes_4_text" presStyleLbl="node1" presStyleIdx="3" presStyleCnt="4">
        <dgm:presLayoutVars>
          <dgm:bulletEnabled val="1"/>
        </dgm:presLayoutVars>
      </dgm:prSet>
      <dgm:spPr/>
    </dgm:pt>
  </dgm:ptLst>
  <dgm:cxnLst>
    <dgm:cxn modelId="{8837D000-4020-4EFB-891F-4254D9DEFA32}" srcId="{27E4D76D-4B96-4A47-9891-DC786C8A13F1}" destId="{5369087C-09B3-43CD-89DC-DB124E8C73EC}" srcOrd="0" destOrd="0" parTransId="{AE14BC61-8F70-4CB0-9A41-CF1C16C06406}" sibTransId="{2E0A772F-3925-429C-8323-562F54261FFC}"/>
    <dgm:cxn modelId="{B36AAE01-7135-4D57-9FFB-F2D6AE99B6FC}" srcId="{27E4D76D-4B96-4A47-9891-DC786C8A13F1}" destId="{8091D4F9-CD5D-4303-ACB4-FEFE80CA9EBB}" srcOrd="3" destOrd="0" parTransId="{B3B36E7A-D54C-4573-9FF6-BB8C9E075555}" sibTransId="{EDA2B0B5-3A09-412E-B105-4789D78C5C36}"/>
    <dgm:cxn modelId="{5DE5F508-F161-4A2D-8CB4-8B1E5FE7D5D0}" type="presOf" srcId="{0F4F971A-6D4D-483B-9370-A46B4D9835AC}" destId="{94DA8E8C-974A-4F06-A5F9-460DD2682478}" srcOrd="1" destOrd="0" presId="urn:microsoft.com/office/officeart/2005/8/layout/vProcess5"/>
    <dgm:cxn modelId="{4640381F-3423-41B2-9DED-5CACBA2A682A}" type="presOf" srcId="{0F4F971A-6D4D-483B-9370-A46B4D9835AC}" destId="{F0D20EB0-636E-46B8-887D-7A911DB0A00A}" srcOrd="0" destOrd="0" presId="urn:microsoft.com/office/officeart/2005/8/layout/vProcess5"/>
    <dgm:cxn modelId="{A9164B36-097A-40D4-87D8-9A653E97EE3A}" type="presOf" srcId="{5369087C-09B3-43CD-89DC-DB124E8C73EC}" destId="{7A84F755-5750-45F6-BCEF-9FA52D22445C}" srcOrd="1" destOrd="0" presId="urn:microsoft.com/office/officeart/2005/8/layout/vProcess5"/>
    <dgm:cxn modelId="{A4576E5B-912D-4E50-A7B2-88639574E4B1}" srcId="{27E4D76D-4B96-4A47-9891-DC786C8A13F1}" destId="{0F4F971A-6D4D-483B-9370-A46B4D9835AC}" srcOrd="2" destOrd="0" parTransId="{57D2E28A-9A3B-4D30-817B-3EB586C228F6}" sibTransId="{43A99324-08F9-4499-A2B2-FB70FF81863C}"/>
    <dgm:cxn modelId="{2ACE3871-8454-4FA5-B907-BDA5AD79A281}" type="presOf" srcId="{27E4D76D-4B96-4A47-9891-DC786C8A13F1}" destId="{0447EA0E-7670-4818-8CB6-E344CB983263}" srcOrd="0" destOrd="0" presId="urn:microsoft.com/office/officeart/2005/8/layout/vProcess5"/>
    <dgm:cxn modelId="{7FBA988A-FE36-4EC5-B0E5-FDDC4DA5AD49}" type="presOf" srcId="{5369087C-09B3-43CD-89DC-DB124E8C73EC}" destId="{631BDFA4-BD29-49F0-BA4B-A259E4500141}" srcOrd="0" destOrd="0" presId="urn:microsoft.com/office/officeart/2005/8/layout/vProcess5"/>
    <dgm:cxn modelId="{8239E593-41E0-4B25-A586-2B7A203EA63D}" type="presOf" srcId="{F5CD43B1-B626-4F27-8795-E70C1E45DCBD}" destId="{04662FA3-7473-4406-9414-B0EDE150A6E6}" srcOrd="0" destOrd="0" presId="urn:microsoft.com/office/officeart/2005/8/layout/vProcess5"/>
    <dgm:cxn modelId="{1DA0A39A-DCFA-4412-8A02-6CA719587933}" srcId="{27E4D76D-4B96-4A47-9891-DC786C8A13F1}" destId="{C3A38D27-56F5-4936-BCFD-5D682AE88F87}" srcOrd="1" destOrd="0" parTransId="{07CF6CF5-2C1E-4370-A69D-E5F92770F387}" sibTransId="{F5CD43B1-B626-4F27-8795-E70C1E45DCBD}"/>
    <dgm:cxn modelId="{65E0C1AA-0825-4113-9DFE-220736E847E9}" type="presOf" srcId="{8091D4F9-CD5D-4303-ACB4-FEFE80CA9EBB}" destId="{FADE0C20-C080-46C1-822A-C39B0587084D}" srcOrd="0" destOrd="0" presId="urn:microsoft.com/office/officeart/2005/8/layout/vProcess5"/>
    <dgm:cxn modelId="{4436BDAF-B308-4622-9DC1-90AEB9682D76}" type="presOf" srcId="{43A99324-08F9-4499-A2B2-FB70FF81863C}" destId="{B59220BE-FE38-4FC9-9CEF-863E6CB41A0A}" srcOrd="0" destOrd="0" presId="urn:microsoft.com/office/officeart/2005/8/layout/vProcess5"/>
    <dgm:cxn modelId="{CEBAF1C2-8942-405A-B9DE-67EA1A97FA2D}" type="presOf" srcId="{2E0A772F-3925-429C-8323-562F54261FFC}" destId="{88196792-B825-4294-BFE4-874AA25B367E}" srcOrd="0" destOrd="0" presId="urn:microsoft.com/office/officeart/2005/8/layout/vProcess5"/>
    <dgm:cxn modelId="{EB5DDED1-8AEC-4F38-A76C-4B0B010B207C}" type="presOf" srcId="{C3A38D27-56F5-4936-BCFD-5D682AE88F87}" destId="{6C0877C8-E52D-4778-BC64-551D4D710F43}" srcOrd="0" destOrd="0" presId="urn:microsoft.com/office/officeart/2005/8/layout/vProcess5"/>
    <dgm:cxn modelId="{1F8017D8-528B-4876-866F-83EEE6689C60}" type="presOf" srcId="{8091D4F9-CD5D-4303-ACB4-FEFE80CA9EBB}" destId="{39E9E451-804C-4E2F-BE6E-7A0C72B7F276}" srcOrd="1" destOrd="0" presId="urn:microsoft.com/office/officeart/2005/8/layout/vProcess5"/>
    <dgm:cxn modelId="{29F59BF9-C467-4FB1-B650-2A451394343F}" type="presOf" srcId="{C3A38D27-56F5-4936-BCFD-5D682AE88F87}" destId="{F0D5B352-4C06-4811-A9EC-D38D56764E9C}" srcOrd="1" destOrd="0" presId="urn:microsoft.com/office/officeart/2005/8/layout/vProcess5"/>
    <dgm:cxn modelId="{843AA7A8-909D-4349-819C-73075D61C6F1}" type="presParOf" srcId="{0447EA0E-7670-4818-8CB6-E344CB983263}" destId="{98597AA5-B1A9-45D8-B4B4-F1D75E3C37F2}" srcOrd="0" destOrd="0" presId="urn:microsoft.com/office/officeart/2005/8/layout/vProcess5"/>
    <dgm:cxn modelId="{BCB64AB2-3314-49EB-B425-0B9422128204}" type="presParOf" srcId="{0447EA0E-7670-4818-8CB6-E344CB983263}" destId="{631BDFA4-BD29-49F0-BA4B-A259E4500141}" srcOrd="1" destOrd="0" presId="urn:microsoft.com/office/officeart/2005/8/layout/vProcess5"/>
    <dgm:cxn modelId="{26DB2CB4-533B-4910-9CBD-CD266F731AA9}" type="presParOf" srcId="{0447EA0E-7670-4818-8CB6-E344CB983263}" destId="{6C0877C8-E52D-4778-BC64-551D4D710F43}" srcOrd="2" destOrd="0" presId="urn:microsoft.com/office/officeart/2005/8/layout/vProcess5"/>
    <dgm:cxn modelId="{C3C2D8BA-256D-4EB8-88FC-1068C3A42793}" type="presParOf" srcId="{0447EA0E-7670-4818-8CB6-E344CB983263}" destId="{F0D20EB0-636E-46B8-887D-7A911DB0A00A}" srcOrd="3" destOrd="0" presId="urn:microsoft.com/office/officeart/2005/8/layout/vProcess5"/>
    <dgm:cxn modelId="{CA8AC7C3-E807-4032-A80E-A038775C8A7D}" type="presParOf" srcId="{0447EA0E-7670-4818-8CB6-E344CB983263}" destId="{FADE0C20-C080-46C1-822A-C39B0587084D}" srcOrd="4" destOrd="0" presId="urn:microsoft.com/office/officeart/2005/8/layout/vProcess5"/>
    <dgm:cxn modelId="{A636AD31-538F-43D8-9C7D-9141004006A2}" type="presParOf" srcId="{0447EA0E-7670-4818-8CB6-E344CB983263}" destId="{88196792-B825-4294-BFE4-874AA25B367E}" srcOrd="5" destOrd="0" presId="urn:microsoft.com/office/officeart/2005/8/layout/vProcess5"/>
    <dgm:cxn modelId="{A8019527-B662-4F8C-B695-09FCDBC53C5D}" type="presParOf" srcId="{0447EA0E-7670-4818-8CB6-E344CB983263}" destId="{04662FA3-7473-4406-9414-B0EDE150A6E6}" srcOrd="6" destOrd="0" presId="urn:microsoft.com/office/officeart/2005/8/layout/vProcess5"/>
    <dgm:cxn modelId="{914AAED2-F43C-4EF5-9E04-ED10D7586C39}" type="presParOf" srcId="{0447EA0E-7670-4818-8CB6-E344CB983263}" destId="{B59220BE-FE38-4FC9-9CEF-863E6CB41A0A}" srcOrd="7" destOrd="0" presId="urn:microsoft.com/office/officeart/2005/8/layout/vProcess5"/>
    <dgm:cxn modelId="{0EA57413-0209-46EC-83B1-3ECC7ABAC0FF}" type="presParOf" srcId="{0447EA0E-7670-4818-8CB6-E344CB983263}" destId="{7A84F755-5750-45F6-BCEF-9FA52D22445C}" srcOrd="8" destOrd="0" presId="urn:microsoft.com/office/officeart/2005/8/layout/vProcess5"/>
    <dgm:cxn modelId="{45E1D8E6-9EA5-4FC5-8069-880188A083DF}" type="presParOf" srcId="{0447EA0E-7670-4818-8CB6-E344CB983263}" destId="{F0D5B352-4C06-4811-A9EC-D38D56764E9C}" srcOrd="9" destOrd="0" presId="urn:microsoft.com/office/officeart/2005/8/layout/vProcess5"/>
    <dgm:cxn modelId="{7F741369-C146-4883-B48C-B148CEA6A6FA}" type="presParOf" srcId="{0447EA0E-7670-4818-8CB6-E344CB983263}" destId="{94DA8E8C-974A-4F06-A5F9-460DD2682478}" srcOrd="10" destOrd="0" presId="urn:microsoft.com/office/officeart/2005/8/layout/vProcess5"/>
    <dgm:cxn modelId="{A4CE9ADF-5949-45DD-B5B1-75650D5594F3}" type="presParOf" srcId="{0447EA0E-7670-4818-8CB6-E344CB983263}" destId="{39E9E451-804C-4E2F-BE6E-7A0C72B7F276}"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12B1E42-FBCA-485C-AFB4-9E73600D4A08}"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E8F622F3-10FA-4638-9104-62ADE74D7206}">
      <dgm:prSet phldrT="[Text]" custT="1"/>
      <dgm:spPr/>
      <dgm:t>
        <a:bodyPr/>
        <a:lstStyle/>
        <a:p>
          <a:r>
            <a:rPr lang="en-US" sz="1600" b="1" dirty="0">
              <a:solidFill>
                <a:srgbClr val="FF0000"/>
              </a:solidFill>
              <a:latin typeface="Times New Roman" panose="02020603050405020304" pitchFamily="18" charset="0"/>
              <a:cs typeface="Times New Roman" panose="02020603050405020304" pitchFamily="18" charset="0"/>
            </a:rPr>
            <a:t>Block(horizontal plane) </a:t>
          </a:r>
        </a:p>
      </dgm:t>
    </dgm:pt>
    <dgm:pt modelId="{8908B752-9458-4B85-A8E2-F9714DC78E4D}" type="parTrans" cxnId="{AB22D320-E554-46DF-8AF4-CDA87E5E711E}">
      <dgm:prSet/>
      <dgm:spPr/>
      <dgm:t>
        <a:bodyPr/>
        <a:lstStyle/>
        <a:p>
          <a:endParaRPr lang="en-US"/>
        </a:p>
      </dgm:t>
    </dgm:pt>
    <dgm:pt modelId="{60A5F682-5AFF-4014-94FD-BAC567764993}" type="sibTrans" cxnId="{AB22D320-E554-46DF-8AF4-CDA87E5E711E}">
      <dgm:prSet/>
      <dgm:spPr/>
      <dgm:t>
        <a:bodyPr/>
        <a:lstStyle/>
        <a:p>
          <a:endParaRPr lang="en-US"/>
        </a:p>
      </dgm:t>
    </dgm:pt>
    <dgm:pt modelId="{04F1DA80-3017-4F5A-97AC-8177F20894E4}">
      <dgm:prSet phldrT="[Text]" custT="1"/>
      <dgm:spPr/>
      <dgm:t>
        <a:bodyPr/>
        <a:lstStyle/>
        <a:p>
          <a:r>
            <a:rPr lang="en-US" sz="2400" b="1" dirty="0">
              <a:solidFill>
                <a:srgbClr val="FF0000"/>
              </a:solidFill>
              <a:latin typeface="Times New Roman" panose="02020603050405020304" pitchFamily="18" charset="0"/>
              <a:cs typeface="Times New Roman" panose="02020603050405020304" pitchFamily="18" charset="0"/>
            </a:rPr>
            <a:t>Free body Diagram</a:t>
          </a:r>
        </a:p>
      </dgm:t>
    </dgm:pt>
    <dgm:pt modelId="{0DEBA614-4A32-4BC8-860F-87313B201F84}" type="parTrans" cxnId="{5402FDAA-ED11-4628-852F-E03FD2905FB1}">
      <dgm:prSet/>
      <dgm:spPr/>
      <dgm:t>
        <a:bodyPr/>
        <a:lstStyle/>
        <a:p>
          <a:endParaRPr lang="en-US"/>
        </a:p>
      </dgm:t>
    </dgm:pt>
    <dgm:pt modelId="{9C6383F5-0A4E-4A02-B2B4-0F0A17FD6711}" type="sibTrans" cxnId="{5402FDAA-ED11-4628-852F-E03FD2905FB1}">
      <dgm:prSet/>
      <dgm:spPr/>
      <dgm:t>
        <a:bodyPr/>
        <a:lstStyle/>
        <a:p>
          <a:endParaRPr lang="en-US"/>
        </a:p>
      </dgm:t>
    </dgm:pt>
    <dgm:pt modelId="{FB704EF0-BFF7-46EE-B00D-12D54E9A88AA}">
      <dgm:prSet phldrT="[Text]" custT="1"/>
      <dgm:spPr/>
      <dgm:t>
        <a:bodyPr/>
        <a:lstStyle/>
        <a:p>
          <a:r>
            <a:rPr lang="en-US" sz="2000" b="1" dirty="0">
              <a:solidFill>
                <a:srgbClr val="FF0000"/>
              </a:solidFill>
              <a:latin typeface="Times New Roman" panose="02020603050405020304" pitchFamily="18" charset="0"/>
              <a:cs typeface="Times New Roman" panose="02020603050405020304" pitchFamily="18" charset="0"/>
            </a:rPr>
            <a:t>Frictional force</a:t>
          </a:r>
        </a:p>
      </dgm:t>
    </dgm:pt>
    <dgm:pt modelId="{6B955920-493E-4A0A-8064-D24355010654}" type="parTrans" cxnId="{A8219E1D-8FE7-4029-9E14-71CBFA7F73A4}">
      <dgm:prSet/>
      <dgm:spPr/>
      <dgm:t>
        <a:bodyPr/>
        <a:lstStyle/>
        <a:p>
          <a:endParaRPr lang="en-US"/>
        </a:p>
      </dgm:t>
    </dgm:pt>
    <dgm:pt modelId="{64AC8D35-D0E4-4F65-A04B-8CFDD08128BF}" type="sibTrans" cxnId="{A8219E1D-8FE7-4029-9E14-71CBFA7F73A4}">
      <dgm:prSet/>
      <dgm:spPr/>
      <dgm:t>
        <a:bodyPr/>
        <a:lstStyle/>
        <a:p>
          <a:endParaRPr lang="en-US"/>
        </a:p>
      </dgm:t>
    </dgm:pt>
    <dgm:pt modelId="{C4B554DF-5492-4B41-A00A-5F2A8440015D}">
      <dgm:prSet custT="1"/>
      <dgm:spPr/>
      <dgm:t>
        <a:bodyPr/>
        <a:lstStyle/>
        <a:p>
          <a:r>
            <a:rPr lang="en-US" sz="1800" b="1" dirty="0">
              <a:solidFill>
                <a:srgbClr val="FF0000"/>
              </a:solidFill>
              <a:latin typeface="Times New Roman" panose="02020603050405020304" pitchFamily="18" charset="0"/>
              <a:cs typeface="Times New Roman" panose="02020603050405020304" pitchFamily="18" charset="0"/>
            </a:rPr>
            <a:t>Condition of equilibrium </a:t>
          </a:r>
        </a:p>
      </dgm:t>
    </dgm:pt>
    <dgm:pt modelId="{D27FC709-C68D-4DAA-8B1B-053533119B5C}" type="parTrans" cxnId="{96C67FBC-ACEA-485F-AA8C-59B8D9DEB618}">
      <dgm:prSet/>
      <dgm:spPr/>
      <dgm:t>
        <a:bodyPr/>
        <a:lstStyle/>
        <a:p>
          <a:endParaRPr lang="en-US"/>
        </a:p>
      </dgm:t>
    </dgm:pt>
    <dgm:pt modelId="{C7F98AFD-1BDD-4440-8CDE-7353AABBB62B}" type="sibTrans" cxnId="{96C67FBC-ACEA-485F-AA8C-59B8D9DEB618}">
      <dgm:prSet/>
      <dgm:spPr/>
      <dgm:t>
        <a:bodyPr/>
        <a:lstStyle/>
        <a:p>
          <a:endParaRPr lang="en-US"/>
        </a:p>
      </dgm:t>
    </dgm:pt>
    <dgm:pt modelId="{41FB3B81-4CD9-4E2E-85AD-BB0071A47A0E}">
      <dgm:prSet custT="1"/>
      <dgm:spPr/>
      <dgm:t>
        <a:bodyPr/>
        <a:lstStyle/>
        <a:p>
          <a:r>
            <a:rPr lang="en-US" sz="2000" b="1" dirty="0">
              <a:solidFill>
                <a:srgbClr val="FF0000"/>
              </a:solidFill>
              <a:latin typeface="Times New Roman" panose="02020603050405020304" pitchFamily="18" charset="0"/>
              <a:cs typeface="Times New Roman" panose="02020603050405020304" pitchFamily="18" charset="0"/>
            </a:rPr>
            <a:t>Unknown</a:t>
          </a:r>
        </a:p>
      </dgm:t>
    </dgm:pt>
    <dgm:pt modelId="{D6CEE97E-E283-446C-857C-185922CD3DE9}" type="parTrans" cxnId="{32145458-3DBA-4F83-8F42-D273C5795D20}">
      <dgm:prSet/>
      <dgm:spPr/>
      <dgm:t>
        <a:bodyPr/>
        <a:lstStyle/>
        <a:p>
          <a:endParaRPr lang="en-US"/>
        </a:p>
      </dgm:t>
    </dgm:pt>
    <dgm:pt modelId="{950DB025-5BED-4C00-8C91-586E2AA9AF38}" type="sibTrans" cxnId="{32145458-3DBA-4F83-8F42-D273C5795D20}">
      <dgm:prSet/>
      <dgm:spPr/>
      <dgm:t>
        <a:bodyPr/>
        <a:lstStyle/>
        <a:p>
          <a:endParaRPr lang="en-US"/>
        </a:p>
      </dgm:t>
    </dgm:pt>
    <dgm:pt modelId="{8B586275-9474-4F2C-A3C4-7FC5B00D5C3A}" type="pres">
      <dgm:prSet presAssocID="{012B1E42-FBCA-485C-AFB4-9E73600D4A08}" presName="Name0" presStyleCnt="0">
        <dgm:presLayoutVars>
          <dgm:dir/>
          <dgm:resizeHandles val="exact"/>
        </dgm:presLayoutVars>
      </dgm:prSet>
      <dgm:spPr/>
    </dgm:pt>
    <dgm:pt modelId="{1BAD7BBE-6F27-41E7-AB31-E8965A38109D}" type="pres">
      <dgm:prSet presAssocID="{E8F622F3-10FA-4638-9104-62ADE74D7206}" presName="node" presStyleLbl="node1" presStyleIdx="0" presStyleCnt="5" custScaleX="154566" custScaleY="180449">
        <dgm:presLayoutVars>
          <dgm:bulletEnabled val="1"/>
        </dgm:presLayoutVars>
      </dgm:prSet>
      <dgm:spPr/>
    </dgm:pt>
    <dgm:pt modelId="{20668902-81BD-4D7A-AD6F-8ED734082A6D}" type="pres">
      <dgm:prSet presAssocID="{60A5F682-5AFF-4014-94FD-BAC567764993}" presName="sibTrans" presStyleLbl="sibTrans2D1" presStyleIdx="0" presStyleCnt="4"/>
      <dgm:spPr/>
    </dgm:pt>
    <dgm:pt modelId="{3C8C03F0-13B7-4BFC-AD8F-5E2C0A76C820}" type="pres">
      <dgm:prSet presAssocID="{60A5F682-5AFF-4014-94FD-BAC567764993}" presName="connectorText" presStyleLbl="sibTrans2D1" presStyleIdx="0" presStyleCnt="4"/>
      <dgm:spPr/>
    </dgm:pt>
    <dgm:pt modelId="{68777BDE-43BA-4AFC-8DB0-891C885189D9}" type="pres">
      <dgm:prSet presAssocID="{04F1DA80-3017-4F5A-97AC-8177F20894E4}" presName="node" presStyleLbl="node1" presStyleIdx="1" presStyleCnt="5" custScaleX="138260" custScaleY="170566">
        <dgm:presLayoutVars>
          <dgm:bulletEnabled val="1"/>
        </dgm:presLayoutVars>
      </dgm:prSet>
      <dgm:spPr/>
    </dgm:pt>
    <dgm:pt modelId="{BFE884FD-0A4B-4700-95CE-BD9DA8445E8A}" type="pres">
      <dgm:prSet presAssocID="{9C6383F5-0A4E-4A02-B2B4-0F0A17FD6711}" presName="sibTrans" presStyleLbl="sibTrans2D1" presStyleIdx="1" presStyleCnt="4"/>
      <dgm:spPr/>
    </dgm:pt>
    <dgm:pt modelId="{B88AC7BA-1116-45DD-A2FB-E449E2C626F3}" type="pres">
      <dgm:prSet presAssocID="{9C6383F5-0A4E-4A02-B2B4-0F0A17FD6711}" presName="connectorText" presStyleLbl="sibTrans2D1" presStyleIdx="1" presStyleCnt="4"/>
      <dgm:spPr/>
    </dgm:pt>
    <dgm:pt modelId="{61BA1D4E-9DB9-4566-83E3-79152CA2D74E}" type="pres">
      <dgm:prSet presAssocID="{FB704EF0-BFF7-46EE-B00D-12D54E9A88AA}" presName="node" presStyleLbl="node1" presStyleIdx="2" presStyleCnt="5" custScaleX="123877" custScaleY="172390">
        <dgm:presLayoutVars>
          <dgm:bulletEnabled val="1"/>
        </dgm:presLayoutVars>
      </dgm:prSet>
      <dgm:spPr/>
    </dgm:pt>
    <dgm:pt modelId="{BACC195B-81F9-4C07-AEFC-1E27B201BAE9}" type="pres">
      <dgm:prSet presAssocID="{64AC8D35-D0E4-4F65-A04B-8CFDD08128BF}" presName="sibTrans" presStyleLbl="sibTrans2D1" presStyleIdx="2" presStyleCnt="4"/>
      <dgm:spPr/>
    </dgm:pt>
    <dgm:pt modelId="{F1FC86C5-C7BB-4735-80F9-446ECF808C8A}" type="pres">
      <dgm:prSet presAssocID="{64AC8D35-D0E4-4F65-A04B-8CFDD08128BF}" presName="connectorText" presStyleLbl="sibTrans2D1" presStyleIdx="2" presStyleCnt="4"/>
      <dgm:spPr/>
    </dgm:pt>
    <dgm:pt modelId="{B95D928E-802A-4825-AADA-1F1DBB053103}" type="pres">
      <dgm:prSet presAssocID="{C4B554DF-5492-4B41-A00A-5F2A8440015D}" presName="node" presStyleLbl="node1" presStyleIdx="3" presStyleCnt="5" custScaleX="124085" custScaleY="175838">
        <dgm:presLayoutVars>
          <dgm:bulletEnabled val="1"/>
        </dgm:presLayoutVars>
      </dgm:prSet>
      <dgm:spPr/>
    </dgm:pt>
    <dgm:pt modelId="{742EC159-5567-4D55-8C74-FB101CCA9E08}" type="pres">
      <dgm:prSet presAssocID="{C7F98AFD-1BDD-4440-8CDE-7353AABBB62B}" presName="sibTrans" presStyleLbl="sibTrans2D1" presStyleIdx="3" presStyleCnt="4"/>
      <dgm:spPr/>
    </dgm:pt>
    <dgm:pt modelId="{5A440A35-5833-4989-9AF2-9E943A4B6D3D}" type="pres">
      <dgm:prSet presAssocID="{C7F98AFD-1BDD-4440-8CDE-7353AABBB62B}" presName="connectorText" presStyleLbl="sibTrans2D1" presStyleIdx="3" presStyleCnt="4"/>
      <dgm:spPr/>
    </dgm:pt>
    <dgm:pt modelId="{6300B28E-19F3-4719-9E74-DBE73F5C7D08}" type="pres">
      <dgm:prSet presAssocID="{41FB3B81-4CD9-4E2E-85AD-BB0071A47A0E}" presName="node" presStyleLbl="node1" presStyleIdx="4" presStyleCnt="5" custScaleX="120546" custScaleY="158025">
        <dgm:presLayoutVars>
          <dgm:bulletEnabled val="1"/>
        </dgm:presLayoutVars>
      </dgm:prSet>
      <dgm:spPr/>
    </dgm:pt>
  </dgm:ptLst>
  <dgm:cxnLst>
    <dgm:cxn modelId="{351B9400-AFB5-4231-B943-E3BE1C8F8386}" type="presOf" srcId="{012B1E42-FBCA-485C-AFB4-9E73600D4A08}" destId="{8B586275-9474-4F2C-A3C4-7FC5B00D5C3A}" srcOrd="0" destOrd="0" presId="urn:microsoft.com/office/officeart/2005/8/layout/process1"/>
    <dgm:cxn modelId="{7939E304-BB47-4A70-A488-A87D967A2AFE}" type="presOf" srcId="{9C6383F5-0A4E-4A02-B2B4-0F0A17FD6711}" destId="{BFE884FD-0A4B-4700-95CE-BD9DA8445E8A}" srcOrd="0" destOrd="0" presId="urn:microsoft.com/office/officeart/2005/8/layout/process1"/>
    <dgm:cxn modelId="{A8219E1D-8FE7-4029-9E14-71CBFA7F73A4}" srcId="{012B1E42-FBCA-485C-AFB4-9E73600D4A08}" destId="{FB704EF0-BFF7-46EE-B00D-12D54E9A88AA}" srcOrd="2" destOrd="0" parTransId="{6B955920-493E-4A0A-8064-D24355010654}" sibTransId="{64AC8D35-D0E4-4F65-A04B-8CFDD08128BF}"/>
    <dgm:cxn modelId="{AB22D320-E554-46DF-8AF4-CDA87E5E711E}" srcId="{012B1E42-FBCA-485C-AFB4-9E73600D4A08}" destId="{E8F622F3-10FA-4638-9104-62ADE74D7206}" srcOrd="0" destOrd="0" parTransId="{8908B752-9458-4B85-A8E2-F9714DC78E4D}" sibTransId="{60A5F682-5AFF-4014-94FD-BAC567764993}"/>
    <dgm:cxn modelId="{A491F329-D786-4CBA-8EBE-F03A75EE8788}" type="presOf" srcId="{C4B554DF-5492-4B41-A00A-5F2A8440015D}" destId="{B95D928E-802A-4825-AADA-1F1DBB053103}" srcOrd="0" destOrd="0" presId="urn:microsoft.com/office/officeart/2005/8/layout/process1"/>
    <dgm:cxn modelId="{3468935E-8870-4AEF-83DE-1F81BC9E064E}" type="presOf" srcId="{C7F98AFD-1BDD-4440-8CDE-7353AABBB62B}" destId="{5A440A35-5833-4989-9AF2-9E943A4B6D3D}" srcOrd="1" destOrd="0" presId="urn:microsoft.com/office/officeart/2005/8/layout/process1"/>
    <dgm:cxn modelId="{32145458-3DBA-4F83-8F42-D273C5795D20}" srcId="{012B1E42-FBCA-485C-AFB4-9E73600D4A08}" destId="{41FB3B81-4CD9-4E2E-85AD-BB0071A47A0E}" srcOrd="4" destOrd="0" parTransId="{D6CEE97E-E283-446C-857C-185922CD3DE9}" sibTransId="{950DB025-5BED-4C00-8C91-586E2AA9AF38}"/>
    <dgm:cxn modelId="{81737F7A-647D-4644-9BCA-76E8680AF33E}" type="presOf" srcId="{60A5F682-5AFF-4014-94FD-BAC567764993}" destId="{3C8C03F0-13B7-4BFC-AD8F-5E2C0A76C820}" srcOrd="1" destOrd="0" presId="urn:microsoft.com/office/officeart/2005/8/layout/process1"/>
    <dgm:cxn modelId="{B021E57B-C676-483A-AA5A-2CDFC6B6A222}" type="presOf" srcId="{E8F622F3-10FA-4638-9104-62ADE74D7206}" destId="{1BAD7BBE-6F27-41E7-AB31-E8965A38109D}" srcOrd="0" destOrd="0" presId="urn:microsoft.com/office/officeart/2005/8/layout/process1"/>
    <dgm:cxn modelId="{DB13F983-0B5D-4BBF-9B24-A4BA806EB1AF}" type="presOf" srcId="{C7F98AFD-1BDD-4440-8CDE-7353AABBB62B}" destId="{742EC159-5567-4D55-8C74-FB101CCA9E08}" srcOrd="0" destOrd="0" presId="urn:microsoft.com/office/officeart/2005/8/layout/process1"/>
    <dgm:cxn modelId="{D8683F85-5D08-44D0-A125-C227FBBC521E}" type="presOf" srcId="{64AC8D35-D0E4-4F65-A04B-8CFDD08128BF}" destId="{F1FC86C5-C7BB-4735-80F9-446ECF808C8A}" srcOrd="1" destOrd="0" presId="urn:microsoft.com/office/officeart/2005/8/layout/process1"/>
    <dgm:cxn modelId="{2B99CE88-F38E-40FB-9011-21A38B88E732}" type="presOf" srcId="{60A5F682-5AFF-4014-94FD-BAC567764993}" destId="{20668902-81BD-4D7A-AD6F-8ED734082A6D}" srcOrd="0" destOrd="0" presId="urn:microsoft.com/office/officeart/2005/8/layout/process1"/>
    <dgm:cxn modelId="{E7A3F895-29DD-42A7-A4C6-6786D71A7C6F}" type="presOf" srcId="{04F1DA80-3017-4F5A-97AC-8177F20894E4}" destId="{68777BDE-43BA-4AFC-8DB0-891C885189D9}" srcOrd="0" destOrd="0" presId="urn:microsoft.com/office/officeart/2005/8/layout/process1"/>
    <dgm:cxn modelId="{5402FDAA-ED11-4628-852F-E03FD2905FB1}" srcId="{012B1E42-FBCA-485C-AFB4-9E73600D4A08}" destId="{04F1DA80-3017-4F5A-97AC-8177F20894E4}" srcOrd="1" destOrd="0" parTransId="{0DEBA614-4A32-4BC8-860F-87313B201F84}" sibTransId="{9C6383F5-0A4E-4A02-B2B4-0F0A17FD6711}"/>
    <dgm:cxn modelId="{E29CF0AC-D8D9-405F-B5D7-3E417E2D77DA}" type="presOf" srcId="{FB704EF0-BFF7-46EE-B00D-12D54E9A88AA}" destId="{61BA1D4E-9DB9-4566-83E3-79152CA2D74E}" srcOrd="0" destOrd="0" presId="urn:microsoft.com/office/officeart/2005/8/layout/process1"/>
    <dgm:cxn modelId="{96C67FBC-ACEA-485F-AA8C-59B8D9DEB618}" srcId="{012B1E42-FBCA-485C-AFB4-9E73600D4A08}" destId="{C4B554DF-5492-4B41-A00A-5F2A8440015D}" srcOrd="3" destOrd="0" parTransId="{D27FC709-C68D-4DAA-8B1B-053533119B5C}" sibTransId="{C7F98AFD-1BDD-4440-8CDE-7353AABBB62B}"/>
    <dgm:cxn modelId="{C0BA31C3-FDBF-449F-B2B0-CBA52F82228E}" type="presOf" srcId="{9C6383F5-0A4E-4A02-B2B4-0F0A17FD6711}" destId="{B88AC7BA-1116-45DD-A2FB-E449E2C626F3}" srcOrd="1" destOrd="0" presId="urn:microsoft.com/office/officeart/2005/8/layout/process1"/>
    <dgm:cxn modelId="{3C79D1E4-20ED-4A4E-AC0D-AB9F6D2E9BED}" type="presOf" srcId="{41FB3B81-4CD9-4E2E-85AD-BB0071A47A0E}" destId="{6300B28E-19F3-4719-9E74-DBE73F5C7D08}" srcOrd="0" destOrd="0" presId="urn:microsoft.com/office/officeart/2005/8/layout/process1"/>
    <dgm:cxn modelId="{BABF92FC-5673-48C9-B19B-2924AEF0A53C}" type="presOf" srcId="{64AC8D35-D0E4-4F65-A04B-8CFDD08128BF}" destId="{BACC195B-81F9-4C07-AEFC-1E27B201BAE9}" srcOrd="0" destOrd="0" presId="urn:microsoft.com/office/officeart/2005/8/layout/process1"/>
    <dgm:cxn modelId="{CBC01390-C125-4977-A676-1F210C616E31}" type="presParOf" srcId="{8B586275-9474-4F2C-A3C4-7FC5B00D5C3A}" destId="{1BAD7BBE-6F27-41E7-AB31-E8965A38109D}" srcOrd="0" destOrd="0" presId="urn:microsoft.com/office/officeart/2005/8/layout/process1"/>
    <dgm:cxn modelId="{A92476FA-92BE-4C2A-9357-56B38086167B}" type="presParOf" srcId="{8B586275-9474-4F2C-A3C4-7FC5B00D5C3A}" destId="{20668902-81BD-4D7A-AD6F-8ED734082A6D}" srcOrd="1" destOrd="0" presId="urn:microsoft.com/office/officeart/2005/8/layout/process1"/>
    <dgm:cxn modelId="{F4423C4D-7459-47C8-90C6-EA11B0627E7E}" type="presParOf" srcId="{20668902-81BD-4D7A-AD6F-8ED734082A6D}" destId="{3C8C03F0-13B7-4BFC-AD8F-5E2C0A76C820}" srcOrd="0" destOrd="0" presId="urn:microsoft.com/office/officeart/2005/8/layout/process1"/>
    <dgm:cxn modelId="{D8D599C1-ACB0-4BE7-90E4-ADB1CFC953BE}" type="presParOf" srcId="{8B586275-9474-4F2C-A3C4-7FC5B00D5C3A}" destId="{68777BDE-43BA-4AFC-8DB0-891C885189D9}" srcOrd="2" destOrd="0" presId="urn:microsoft.com/office/officeart/2005/8/layout/process1"/>
    <dgm:cxn modelId="{587B27EE-6E6E-4A86-86EE-88082AF64EEC}" type="presParOf" srcId="{8B586275-9474-4F2C-A3C4-7FC5B00D5C3A}" destId="{BFE884FD-0A4B-4700-95CE-BD9DA8445E8A}" srcOrd="3" destOrd="0" presId="urn:microsoft.com/office/officeart/2005/8/layout/process1"/>
    <dgm:cxn modelId="{BD185EF5-0AE3-443D-ABF8-2F4D7551E4A2}" type="presParOf" srcId="{BFE884FD-0A4B-4700-95CE-BD9DA8445E8A}" destId="{B88AC7BA-1116-45DD-A2FB-E449E2C626F3}" srcOrd="0" destOrd="0" presId="urn:microsoft.com/office/officeart/2005/8/layout/process1"/>
    <dgm:cxn modelId="{9A3D0649-665B-4202-B7AC-F9606B314130}" type="presParOf" srcId="{8B586275-9474-4F2C-A3C4-7FC5B00D5C3A}" destId="{61BA1D4E-9DB9-4566-83E3-79152CA2D74E}" srcOrd="4" destOrd="0" presId="urn:microsoft.com/office/officeart/2005/8/layout/process1"/>
    <dgm:cxn modelId="{FE29C792-6CAD-4E4C-8AEE-7A115688AE52}" type="presParOf" srcId="{8B586275-9474-4F2C-A3C4-7FC5B00D5C3A}" destId="{BACC195B-81F9-4C07-AEFC-1E27B201BAE9}" srcOrd="5" destOrd="0" presId="urn:microsoft.com/office/officeart/2005/8/layout/process1"/>
    <dgm:cxn modelId="{F42DD4A7-FAA2-4080-BAAA-1054ECA77E0C}" type="presParOf" srcId="{BACC195B-81F9-4C07-AEFC-1E27B201BAE9}" destId="{F1FC86C5-C7BB-4735-80F9-446ECF808C8A}" srcOrd="0" destOrd="0" presId="urn:microsoft.com/office/officeart/2005/8/layout/process1"/>
    <dgm:cxn modelId="{E780E138-5C5F-4946-B01B-2F97B6B80A55}" type="presParOf" srcId="{8B586275-9474-4F2C-A3C4-7FC5B00D5C3A}" destId="{B95D928E-802A-4825-AADA-1F1DBB053103}" srcOrd="6" destOrd="0" presId="urn:microsoft.com/office/officeart/2005/8/layout/process1"/>
    <dgm:cxn modelId="{61CDCE7B-D373-429C-BA03-B86F811A4984}" type="presParOf" srcId="{8B586275-9474-4F2C-A3C4-7FC5B00D5C3A}" destId="{742EC159-5567-4D55-8C74-FB101CCA9E08}" srcOrd="7" destOrd="0" presId="urn:microsoft.com/office/officeart/2005/8/layout/process1"/>
    <dgm:cxn modelId="{217E0DBA-8D4F-4E15-A31F-4643084302B7}" type="presParOf" srcId="{742EC159-5567-4D55-8C74-FB101CCA9E08}" destId="{5A440A35-5833-4989-9AF2-9E943A4B6D3D}" srcOrd="0" destOrd="0" presId="urn:microsoft.com/office/officeart/2005/8/layout/process1"/>
    <dgm:cxn modelId="{C71EA504-5383-47FA-94C5-EDC02DA41006}" type="presParOf" srcId="{8B586275-9474-4F2C-A3C4-7FC5B00D5C3A}" destId="{6300B28E-19F3-4719-9E74-DBE73F5C7D08}"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2B1E42-FBCA-485C-AFB4-9E73600D4A08}"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E8F622F3-10FA-4638-9104-62ADE74D7206}">
      <dgm:prSet phldrT="[Text]" custT="1"/>
      <dgm:spPr/>
      <dgm:t>
        <a:bodyPr/>
        <a:lstStyle/>
        <a:p>
          <a:r>
            <a:rPr lang="en-US" sz="1600" b="1" dirty="0">
              <a:solidFill>
                <a:srgbClr val="FF0000"/>
              </a:solidFill>
              <a:latin typeface="Times New Roman" panose="02020603050405020304" pitchFamily="18" charset="0"/>
              <a:cs typeface="Times New Roman" panose="02020603050405020304" pitchFamily="18" charset="0"/>
            </a:rPr>
            <a:t>Block(inclined plane) </a:t>
          </a:r>
        </a:p>
      </dgm:t>
    </dgm:pt>
    <dgm:pt modelId="{8908B752-9458-4B85-A8E2-F9714DC78E4D}" type="parTrans" cxnId="{AB22D320-E554-46DF-8AF4-CDA87E5E711E}">
      <dgm:prSet/>
      <dgm:spPr/>
      <dgm:t>
        <a:bodyPr/>
        <a:lstStyle/>
        <a:p>
          <a:endParaRPr lang="en-US"/>
        </a:p>
      </dgm:t>
    </dgm:pt>
    <dgm:pt modelId="{60A5F682-5AFF-4014-94FD-BAC567764993}" type="sibTrans" cxnId="{AB22D320-E554-46DF-8AF4-CDA87E5E711E}">
      <dgm:prSet/>
      <dgm:spPr/>
      <dgm:t>
        <a:bodyPr/>
        <a:lstStyle/>
        <a:p>
          <a:endParaRPr lang="en-US"/>
        </a:p>
      </dgm:t>
    </dgm:pt>
    <dgm:pt modelId="{04F1DA80-3017-4F5A-97AC-8177F20894E4}">
      <dgm:prSet phldrT="[Text]" custT="1"/>
      <dgm:spPr/>
      <dgm:t>
        <a:bodyPr/>
        <a:lstStyle/>
        <a:p>
          <a:r>
            <a:rPr lang="en-US" sz="2400" b="1" dirty="0">
              <a:solidFill>
                <a:srgbClr val="FF0000"/>
              </a:solidFill>
              <a:latin typeface="Times New Roman" panose="02020603050405020304" pitchFamily="18" charset="0"/>
              <a:cs typeface="Times New Roman" panose="02020603050405020304" pitchFamily="18" charset="0"/>
            </a:rPr>
            <a:t>Free body Diagram</a:t>
          </a:r>
        </a:p>
      </dgm:t>
    </dgm:pt>
    <dgm:pt modelId="{0DEBA614-4A32-4BC8-860F-87313B201F84}" type="parTrans" cxnId="{5402FDAA-ED11-4628-852F-E03FD2905FB1}">
      <dgm:prSet/>
      <dgm:spPr/>
      <dgm:t>
        <a:bodyPr/>
        <a:lstStyle/>
        <a:p>
          <a:endParaRPr lang="en-US"/>
        </a:p>
      </dgm:t>
    </dgm:pt>
    <dgm:pt modelId="{9C6383F5-0A4E-4A02-B2B4-0F0A17FD6711}" type="sibTrans" cxnId="{5402FDAA-ED11-4628-852F-E03FD2905FB1}">
      <dgm:prSet/>
      <dgm:spPr/>
      <dgm:t>
        <a:bodyPr/>
        <a:lstStyle/>
        <a:p>
          <a:endParaRPr lang="en-US"/>
        </a:p>
      </dgm:t>
    </dgm:pt>
    <dgm:pt modelId="{FB704EF0-BFF7-46EE-B00D-12D54E9A88AA}">
      <dgm:prSet phldrT="[Text]" custT="1"/>
      <dgm:spPr/>
      <dgm:t>
        <a:bodyPr/>
        <a:lstStyle/>
        <a:p>
          <a:r>
            <a:rPr lang="en-US" sz="2000" b="1" dirty="0">
              <a:solidFill>
                <a:srgbClr val="FF0000"/>
              </a:solidFill>
              <a:latin typeface="Times New Roman" panose="02020603050405020304" pitchFamily="18" charset="0"/>
              <a:cs typeface="Times New Roman" panose="02020603050405020304" pitchFamily="18" charset="0"/>
            </a:rPr>
            <a:t>Frictional force</a:t>
          </a:r>
        </a:p>
      </dgm:t>
    </dgm:pt>
    <dgm:pt modelId="{6B955920-493E-4A0A-8064-D24355010654}" type="parTrans" cxnId="{A8219E1D-8FE7-4029-9E14-71CBFA7F73A4}">
      <dgm:prSet/>
      <dgm:spPr/>
      <dgm:t>
        <a:bodyPr/>
        <a:lstStyle/>
        <a:p>
          <a:endParaRPr lang="en-US"/>
        </a:p>
      </dgm:t>
    </dgm:pt>
    <dgm:pt modelId="{64AC8D35-D0E4-4F65-A04B-8CFDD08128BF}" type="sibTrans" cxnId="{A8219E1D-8FE7-4029-9E14-71CBFA7F73A4}">
      <dgm:prSet/>
      <dgm:spPr/>
      <dgm:t>
        <a:bodyPr/>
        <a:lstStyle/>
        <a:p>
          <a:endParaRPr lang="en-US"/>
        </a:p>
      </dgm:t>
    </dgm:pt>
    <dgm:pt modelId="{C4B554DF-5492-4B41-A00A-5F2A8440015D}">
      <dgm:prSet custT="1"/>
      <dgm:spPr/>
      <dgm:t>
        <a:bodyPr/>
        <a:lstStyle/>
        <a:p>
          <a:r>
            <a:rPr lang="en-US" sz="1800" b="1" dirty="0">
              <a:solidFill>
                <a:srgbClr val="FF0000"/>
              </a:solidFill>
              <a:latin typeface="Times New Roman" panose="02020603050405020304" pitchFamily="18" charset="0"/>
              <a:cs typeface="Times New Roman" panose="02020603050405020304" pitchFamily="18" charset="0"/>
            </a:rPr>
            <a:t>Condition of equilibrium </a:t>
          </a:r>
        </a:p>
      </dgm:t>
    </dgm:pt>
    <dgm:pt modelId="{D27FC709-C68D-4DAA-8B1B-053533119B5C}" type="parTrans" cxnId="{96C67FBC-ACEA-485F-AA8C-59B8D9DEB618}">
      <dgm:prSet/>
      <dgm:spPr/>
      <dgm:t>
        <a:bodyPr/>
        <a:lstStyle/>
        <a:p>
          <a:endParaRPr lang="en-US"/>
        </a:p>
      </dgm:t>
    </dgm:pt>
    <dgm:pt modelId="{C7F98AFD-1BDD-4440-8CDE-7353AABBB62B}" type="sibTrans" cxnId="{96C67FBC-ACEA-485F-AA8C-59B8D9DEB618}">
      <dgm:prSet/>
      <dgm:spPr/>
      <dgm:t>
        <a:bodyPr/>
        <a:lstStyle/>
        <a:p>
          <a:endParaRPr lang="en-US"/>
        </a:p>
      </dgm:t>
    </dgm:pt>
    <dgm:pt modelId="{41FB3B81-4CD9-4E2E-85AD-BB0071A47A0E}">
      <dgm:prSet custT="1"/>
      <dgm:spPr/>
      <dgm:t>
        <a:bodyPr/>
        <a:lstStyle/>
        <a:p>
          <a:r>
            <a:rPr lang="en-US" sz="2000" b="1" dirty="0">
              <a:solidFill>
                <a:srgbClr val="FF0000"/>
              </a:solidFill>
              <a:latin typeface="Times New Roman" panose="02020603050405020304" pitchFamily="18" charset="0"/>
              <a:cs typeface="Times New Roman" panose="02020603050405020304" pitchFamily="18" charset="0"/>
            </a:rPr>
            <a:t>Unknown</a:t>
          </a:r>
        </a:p>
      </dgm:t>
    </dgm:pt>
    <dgm:pt modelId="{D6CEE97E-E283-446C-857C-185922CD3DE9}" type="parTrans" cxnId="{32145458-3DBA-4F83-8F42-D273C5795D20}">
      <dgm:prSet/>
      <dgm:spPr/>
      <dgm:t>
        <a:bodyPr/>
        <a:lstStyle/>
        <a:p>
          <a:endParaRPr lang="en-US"/>
        </a:p>
      </dgm:t>
    </dgm:pt>
    <dgm:pt modelId="{950DB025-5BED-4C00-8C91-586E2AA9AF38}" type="sibTrans" cxnId="{32145458-3DBA-4F83-8F42-D273C5795D20}">
      <dgm:prSet/>
      <dgm:spPr/>
      <dgm:t>
        <a:bodyPr/>
        <a:lstStyle/>
        <a:p>
          <a:endParaRPr lang="en-US"/>
        </a:p>
      </dgm:t>
    </dgm:pt>
    <dgm:pt modelId="{8B586275-9474-4F2C-A3C4-7FC5B00D5C3A}" type="pres">
      <dgm:prSet presAssocID="{012B1E42-FBCA-485C-AFB4-9E73600D4A08}" presName="Name0" presStyleCnt="0">
        <dgm:presLayoutVars>
          <dgm:dir/>
          <dgm:resizeHandles val="exact"/>
        </dgm:presLayoutVars>
      </dgm:prSet>
      <dgm:spPr/>
    </dgm:pt>
    <dgm:pt modelId="{1BAD7BBE-6F27-41E7-AB31-E8965A38109D}" type="pres">
      <dgm:prSet presAssocID="{E8F622F3-10FA-4638-9104-62ADE74D7206}" presName="node" presStyleLbl="node1" presStyleIdx="0" presStyleCnt="5" custScaleX="154566" custScaleY="180449">
        <dgm:presLayoutVars>
          <dgm:bulletEnabled val="1"/>
        </dgm:presLayoutVars>
      </dgm:prSet>
      <dgm:spPr/>
    </dgm:pt>
    <dgm:pt modelId="{20668902-81BD-4D7A-AD6F-8ED734082A6D}" type="pres">
      <dgm:prSet presAssocID="{60A5F682-5AFF-4014-94FD-BAC567764993}" presName="sibTrans" presStyleLbl="sibTrans2D1" presStyleIdx="0" presStyleCnt="4"/>
      <dgm:spPr/>
    </dgm:pt>
    <dgm:pt modelId="{3C8C03F0-13B7-4BFC-AD8F-5E2C0A76C820}" type="pres">
      <dgm:prSet presAssocID="{60A5F682-5AFF-4014-94FD-BAC567764993}" presName="connectorText" presStyleLbl="sibTrans2D1" presStyleIdx="0" presStyleCnt="4"/>
      <dgm:spPr/>
    </dgm:pt>
    <dgm:pt modelId="{68777BDE-43BA-4AFC-8DB0-891C885189D9}" type="pres">
      <dgm:prSet presAssocID="{04F1DA80-3017-4F5A-97AC-8177F20894E4}" presName="node" presStyleLbl="node1" presStyleIdx="1" presStyleCnt="5" custScaleX="138260" custScaleY="170566">
        <dgm:presLayoutVars>
          <dgm:bulletEnabled val="1"/>
        </dgm:presLayoutVars>
      </dgm:prSet>
      <dgm:spPr/>
    </dgm:pt>
    <dgm:pt modelId="{BFE884FD-0A4B-4700-95CE-BD9DA8445E8A}" type="pres">
      <dgm:prSet presAssocID="{9C6383F5-0A4E-4A02-B2B4-0F0A17FD6711}" presName="sibTrans" presStyleLbl="sibTrans2D1" presStyleIdx="1" presStyleCnt="4"/>
      <dgm:spPr/>
    </dgm:pt>
    <dgm:pt modelId="{B88AC7BA-1116-45DD-A2FB-E449E2C626F3}" type="pres">
      <dgm:prSet presAssocID="{9C6383F5-0A4E-4A02-B2B4-0F0A17FD6711}" presName="connectorText" presStyleLbl="sibTrans2D1" presStyleIdx="1" presStyleCnt="4"/>
      <dgm:spPr/>
    </dgm:pt>
    <dgm:pt modelId="{61BA1D4E-9DB9-4566-83E3-79152CA2D74E}" type="pres">
      <dgm:prSet presAssocID="{FB704EF0-BFF7-46EE-B00D-12D54E9A88AA}" presName="node" presStyleLbl="node1" presStyleIdx="2" presStyleCnt="5" custScaleX="123877" custScaleY="172390">
        <dgm:presLayoutVars>
          <dgm:bulletEnabled val="1"/>
        </dgm:presLayoutVars>
      </dgm:prSet>
      <dgm:spPr/>
    </dgm:pt>
    <dgm:pt modelId="{BACC195B-81F9-4C07-AEFC-1E27B201BAE9}" type="pres">
      <dgm:prSet presAssocID="{64AC8D35-D0E4-4F65-A04B-8CFDD08128BF}" presName="sibTrans" presStyleLbl="sibTrans2D1" presStyleIdx="2" presStyleCnt="4"/>
      <dgm:spPr/>
    </dgm:pt>
    <dgm:pt modelId="{F1FC86C5-C7BB-4735-80F9-446ECF808C8A}" type="pres">
      <dgm:prSet presAssocID="{64AC8D35-D0E4-4F65-A04B-8CFDD08128BF}" presName="connectorText" presStyleLbl="sibTrans2D1" presStyleIdx="2" presStyleCnt="4"/>
      <dgm:spPr/>
    </dgm:pt>
    <dgm:pt modelId="{B95D928E-802A-4825-AADA-1F1DBB053103}" type="pres">
      <dgm:prSet presAssocID="{C4B554DF-5492-4B41-A00A-5F2A8440015D}" presName="node" presStyleLbl="node1" presStyleIdx="3" presStyleCnt="5" custScaleX="124085" custScaleY="175838">
        <dgm:presLayoutVars>
          <dgm:bulletEnabled val="1"/>
        </dgm:presLayoutVars>
      </dgm:prSet>
      <dgm:spPr/>
    </dgm:pt>
    <dgm:pt modelId="{742EC159-5567-4D55-8C74-FB101CCA9E08}" type="pres">
      <dgm:prSet presAssocID="{C7F98AFD-1BDD-4440-8CDE-7353AABBB62B}" presName="sibTrans" presStyleLbl="sibTrans2D1" presStyleIdx="3" presStyleCnt="4"/>
      <dgm:spPr/>
    </dgm:pt>
    <dgm:pt modelId="{5A440A35-5833-4989-9AF2-9E943A4B6D3D}" type="pres">
      <dgm:prSet presAssocID="{C7F98AFD-1BDD-4440-8CDE-7353AABBB62B}" presName="connectorText" presStyleLbl="sibTrans2D1" presStyleIdx="3" presStyleCnt="4"/>
      <dgm:spPr/>
    </dgm:pt>
    <dgm:pt modelId="{6300B28E-19F3-4719-9E74-DBE73F5C7D08}" type="pres">
      <dgm:prSet presAssocID="{41FB3B81-4CD9-4E2E-85AD-BB0071A47A0E}" presName="node" presStyleLbl="node1" presStyleIdx="4" presStyleCnt="5" custScaleX="120546" custScaleY="158025">
        <dgm:presLayoutVars>
          <dgm:bulletEnabled val="1"/>
        </dgm:presLayoutVars>
      </dgm:prSet>
      <dgm:spPr/>
    </dgm:pt>
  </dgm:ptLst>
  <dgm:cxnLst>
    <dgm:cxn modelId="{351B9400-AFB5-4231-B943-E3BE1C8F8386}" type="presOf" srcId="{012B1E42-FBCA-485C-AFB4-9E73600D4A08}" destId="{8B586275-9474-4F2C-A3C4-7FC5B00D5C3A}" srcOrd="0" destOrd="0" presId="urn:microsoft.com/office/officeart/2005/8/layout/process1"/>
    <dgm:cxn modelId="{7939E304-BB47-4A70-A488-A87D967A2AFE}" type="presOf" srcId="{9C6383F5-0A4E-4A02-B2B4-0F0A17FD6711}" destId="{BFE884FD-0A4B-4700-95CE-BD9DA8445E8A}" srcOrd="0" destOrd="0" presId="urn:microsoft.com/office/officeart/2005/8/layout/process1"/>
    <dgm:cxn modelId="{A8219E1D-8FE7-4029-9E14-71CBFA7F73A4}" srcId="{012B1E42-FBCA-485C-AFB4-9E73600D4A08}" destId="{FB704EF0-BFF7-46EE-B00D-12D54E9A88AA}" srcOrd="2" destOrd="0" parTransId="{6B955920-493E-4A0A-8064-D24355010654}" sibTransId="{64AC8D35-D0E4-4F65-A04B-8CFDD08128BF}"/>
    <dgm:cxn modelId="{AB22D320-E554-46DF-8AF4-CDA87E5E711E}" srcId="{012B1E42-FBCA-485C-AFB4-9E73600D4A08}" destId="{E8F622F3-10FA-4638-9104-62ADE74D7206}" srcOrd="0" destOrd="0" parTransId="{8908B752-9458-4B85-A8E2-F9714DC78E4D}" sibTransId="{60A5F682-5AFF-4014-94FD-BAC567764993}"/>
    <dgm:cxn modelId="{A491F329-D786-4CBA-8EBE-F03A75EE8788}" type="presOf" srcId="{C4B554DF-5492-4B41-A00A-5F2A8440015D}" destId="{B95D928E-802A-4825-AADA-1F1DBB053103}" srcOrd="0" destOrd="0" presId="urn:microsoft.com/office/officeart/2005/8/layout/process1"/>
    <dgm:cxn modelId="{3468935E-8870-4AEF-83DE-1F81BC9E064E}" type="presOf" srcId="{C7F98AFD-1BDD-4440-8CDE-7353AABBB62B}" destId="{5A440A35-5833-4989-9AF2-9E943A4B6D3D}" srcOrd="1" destOrd="0" presId="urn:microsoft.com/office/officeart/2005/8/layout/process1"/>
    <dgm:cxn modelId="{32145458-3DBA-4F83-8F42-D273C5795D20}" srcId="{012B1E42-FBCA-485C-AFB4-9E73600D4A08}" destId="{41FB3B81-4CD9-4E2E-85AD-BB0071A47A0E}" srcOrd="4" destOrd="0" parTransId="{D6CEE97E-E283-446C-857C-185922CD3DE9}" sibTransId="{950DB025-5BED-4C00-8C91-586E2AA9AF38}"/>
    <dgm:cxn modelId="{81737F7A-647D-4644-9BCA-76E8680AF33E}" type="presOf" srcId="{60A5F682-5AFF-4014-94FD-BAC567764993}" destId="{3C8C03F0-13B7-4BFC-AD8F-5E2C0A76C820}" srcOrd="1" destOrd="0" presId="urn:microsoft.com/office/officeart/2005/8/layout/process1"/>
    <dgm:cxn modelId="{B021E57B-C676-483A-AA5A-2CDFC6B6A222}" type="presOf" srcId="{E8F622F3-10FA-4638-9104-62ADE74D7206}" destId="{1BAD7BBE-6F27-41E7-AB31-E8965A38109D}" srcOrd="0" destOrd="0" presId="urn:microsoft.com/office/officeart/2005/8/layout/process1"/>
    <dgm:cxn modelId="{DB13F983-0B5D-4BBF-9B24-A4BA806EB1AF}" type="presOf" srcId="{C7F98AFD-1BDD-4440-8CDE-7353AABBB62B}" destId="{742EC159-5567-4D55-8C74-FB101CCA9E08}" srcOrd="0" destOrd="0" presId="urn:microsoft.com/office/officeart/2005/8/layout/process1"/>
    <dgm:cxn modelId="{D8683F85-5D08-44D0-A125-C227FBBC521E}" type="presOf" srcId="{64AC8D35-D0E4-4F65-A04B-8CFDD08128BF}" destId="{F1FC86C5-C7BB-4735-80F9-446ECF808C8A}" srcOrd="1" destOrd="0" presId="urn:microsoft.com/office/officeart/2005/8/layout/process1"/>
    <dgm:cxn modelId="{2B99CE88-F38E-40FB-9011-21A38B88E732}" type="presOf" srcId="{60A5F682-5AFF-4014-94FD-BAC567764993}" destId="{20668902-81BD-4D7A-AD6F-8ED734082A6D}" srcOrd="0" destOrd="0" presId="urn:microsoft.com/office/officeart/2005/8/layout/process1"/>
    <dgm:cxn modelId="{E7A3F895-29DD-42A7-A4C6-6786D71A7C6F}" type="presOf" srcId="{04F1DA80-3017-4F5A-97AC-8177F20894E4}" destId="{68777BDE-43BA-4AFC-8DB0-891C885189D9}" srcOrd="0" destOrd="0" presId="urn:microsoft.com/office/officeart/2005/8/layout/process1"/>
    <dgm:cxn modelId="{5402FDAA-ED11-4628-852F-E03FD2905FB1}" srcId="{012B1E42-FBCA-485C-AFB4-9E73600D4A08}" destId="{04F1DA80-3017-4F5A-97AC-8177F20894E4}" srcOrd="1" destOrd="0" parTransId="{0DEBA614-4A32-4BC8-860F-87313B201F84}" sibTransId="{9C6383F5-0A4E-4A02-B2B4-0F0A17FD6711}"/>
    <dgm:cxn modelId="{E29CF0AC-D8D9-405F-B5D7-3E417E2D77DA}" type="presOf" srcId="{FB704EF0-BFF7-46EE-B00D-12D54E9A88AA}" destId="{61BA1D4E-9DB9-4566-83E3-79152CA2D74E}" srcOrd="0" destOrd="0" presId="urn:microsoft.com/office/officeart/2005/8/layout/process1"/>
    <dgm:cxn modelId="{96C67FBC-ACEA-485F-AA8C-59B8D9DEB618}" srcId="{012B1E42-FBCA-485C-AFB4-9E73600D4A08}" destId="{C4B554DF-5492-4B41-A00A-5F2A8440015D}" srcOrd="3" destOrd="0" parTransId="{D27FC709-C68D-4DAA-8B1B-053533119B5C}" sibTransId="{C7F98AFD-1BDD-4440-8CDE-7353AABBB62B}"/>
    <dgm:cxn modelId="{C0BA31C3-FDBF-449F-B2B0-CBA52F82228E}" type="presOf" srcId="{9C6383F5-0A4E-4A02-B2B4-0F0A17FD6711}" destId="{B88AC7BA-1116-45DD-A2FB-E449E2C626F3}" srcOrd="1" destOrd="0" presId="urn:microsoft.com/office/officeart/2005/8/layout/process1"/>
    <dgm:cxn modelId="{3C79D1E4-20ED-4A4E-AC0D-AB9F6D2E9BED}" type="presOf" srcId="{41FB3B81-4CD9-4E2E-85AD-BB0071A47A0E}" destId="{6300B28E-19F3-4719-9E74-DBE73F5C7D08}" srcOrd="0" destOrd="0" presId="urn:microsoft.com/office/officeart/2005/8/layout/process1"/>
    <dgm:cxn modelId="{BABF92FC-5673-48C9-B19B-2924AEF0A53C}" type="presOf" srcId="{64AC8D35-D0E4-4F65-A04B-8CFDD08128BF}" destId="{BACC195B-81F9-4C07-AEFC-1E27B201BAE9}" srcOrd="0" destOrd="0" presId="urn:microsoft.com/office/officeart/2005/8/layout/process1"/>
    <dgm:cxn modelId="{CBC01390-C125-4977-A676-1F210C616E31}" type="presParOf" srcId="{8B586275-9474-4F2C-A3C4-7FC5B00D5C3A}" destId="{1BAD7BBE-6F27-41E7-AB31-E8965A38109D}" srcOrd="0" destOrd="0" presId="urn:microsoft.com/office/officeart/2005/8/layout/process1"/>
    <dgm:cxn modelId="{A92476FA-92BE-4C2A-9357-56B38086167B}" type="presParOf" srcId="{8B586275-9474-4F2C-A3C4-7FC5B00D5C3A}" destId="{20668902-81BD-4D7A-AD6F-8ED734082A6D}" srcOrd="1" destOrd="0" presId="urn:microsoft.com/office/officeart/2005/8/layout/process1"/>
    <dgm:cxn modelId="{F4423C4D-7459-47C8-90C6-EA11B0627E7E}" type="presParOf" srcId="{20668902-81BD-4D7A-AD6F-8ED734082A6D}" destId="{3C8C03F0-13B7-4BFC-AD8F-5E2C0A76C820}" srcOrd="0" destOrd="0" presId="urn:microsoft.com/office/officeart/2005/8/layout/process1"/>
    <dgm:cxn modelId="{D8D599C1-ACB0-4BE7-90E4-ADB1CFC953BE}" type="presParOf" srcId="{8B586275-9474-4F2C-A3C4-7FC5B00D5C3A}" destId="{68777BDE-43BA-4AFC-8DB0-891C885189D9}" srcOrd="2" destOrd="0" presId="urn:microsoft.com/office/officeart/2005/8/layout/process1"/>
    <dgm:cxn modelId="{587B27EE-6E6E-4A86-86EE-88082AF64EEC}" type="presParOf" srcId="{8B586275-9474-4F2C-A3C4-7FC5B00D5C3A}" destId="{BFE884FD-0A4B-4700-95CE-BD9DA8445E8A}" srcOrd="3" destOrd="0" presId="urn:microsoft.com/office/officeart/2005/8/layout/process1"/>
    <dgm:cxn modelId="{BD185EF5-0AE3-443D-ABF8-2F4D7551E4A2}" type="presParOf" srcId="{BFE884FD-0A4B-4700-95CE-BD9DA8445E8A}" destId="{B88AC7BA-1116-45DD-A2FB-E449E2C626F3}" srcOrd="0" destOrd="0" presId="urn:microsoft.com/office/officeart/2005/8/layout/process1"/>
    <dgm:cxn modelId="{9A3D0649-665B-4202-B7AC-F9606B314130}" type="presParOf" srcId="{8B586275-9474-4F2C-A3C4-7FC5B00D5C3A}" destId="{61BA1D4E-9DB9-4566-83E3-79152CA2D74E}" srcOrd="4" destOrd="0" presId="urn:microsoft.com/office/officeart/2005/8/layout/process1"/>
    <dgm:cxn modelId="{FE29C792-6CAD-4E4C-8AEE-7A115688AE52}" type="presParOf" srcId="{8B586275-9474-4F2C-A3C4-7FC5B00D5C3A}" destId="{BACC195B-81F9-4C07-AEFC-1E27B201BAE9}" srcOrd="5" destOrd="0" presId="urn:microsoft.com/office/officeart/2005/8/layout/process1"/>
    <dgm:cxn modelId="{F42DD4A7-FAA2-4080-BAAA-1054ECA77E0C}" type="presParOf" srcId="{BACC195B-81F9-4C07-AEFC-1E27B201BAE9}" destId="{F1FC86C5-C7BB-4735-80F9-446ECF808C8A}" srcOrd="0" destOrd="0" presId="urn:microsoft.com/office/officeart/2005/8/layout/process1"/>
    <dgm:cxn modelId="{E780E138-5C5F-4946-B01B-2F97B6B80A55}" type="presParOf" srcId="{8B586275-9474-4F2C-A3C4-7FC5B00D5C3A}" destId="{B95D928E-802A-4825-AADA-1F1DBB053103}" srcOrd="6" destOrd="0" presId="urn:microsoft.com/office/officeart/2005/8/layout/process1"/>
    <dgm:cxn modelId="{61CDCE7B-D373-429C-BA03-B86F811A4984}" type="presParOf" srcId="{8B586275-9474-4F2C-A3C4-7FC5B00D5C3A}" destId="{742EC159-5567-4D55-8C74-FB101CCA9E08}" srcOrd="7" destOrd="0" presId="urn:microsoft.com/office/officeart/2005/8/layout/process1"/>
    <dgm:cxn modelId="{217E0DBA-8D4F-4E15-A31F-4643084302B7}" type="presParOf" srcId="{742EC159-5567-4D55-8C74-FB101CCA9E08}" destId="{5A440A35-5833-4989-9AF2-9E943A4B6D3D}" srcOrd="0" destOrd="0" presId="urn:microsoft.com/office/officeart/2005/8/layout/process1"/>
    <dgm:cxn modelId="{C71EA504-5383-47FA-94C5-EDC02DA41006}" type="presParOf" srcId="{8B586275-9474-4F2C-A3C4-7FC5B00D5C3A}" destId="{6300B28E-19F3-4719-9E74-DBE73F5C7D08}"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6D09D8-1B8D-4A8F-BA6E-F135EC5C2B35}">
      <dsp:nvSpPr>
        <dsp:cNvPr id="0" name=""/>
        <dsp:cNvSpPr/>
      </dsp:nvSpPr>
      <dsp:spPr>
        <a:xfrm>
          <a:off x="3886548" y="1087577"/>
          <a:ext cx="2520158" cy="1365701"/>
        </a:xfrm>
        <a:custGeom>
          <a:avLst/>
          <a:gdLst/>
          <a:ahLst/>
          <a:cxnLst/>
          <a:rect l="0" t="0" r="0" b="0"/>
          <a:pathLst>
            <a:path>
              <a:moveTo>
                <a:pt x="0" y="0"/>
              </a:moveTo>
              <a:lnTo>
                <a:pt x="0" y="1175404"/>
              </a:lnTo>
              <a:lnTo>
                <a:pt x="2520158" y="1175404"/>
              </a:lnTo>
              <a:lnTo>
                <a:pt x="2520158" y="136570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78CDF3-8A59-4E8C-9339-399533B064E5}">
      <dsp:nvSpPr>
        <dsp:cNvPr id="0" name=""/>
        <dsp:cNvSpPr/>
      </dsp:nvSpPr>
      <dsp:spPr>
        <a:xfrm>
          <a:off x="2181191" y="1087577"/>
          <a:ext cx="1705356" cy="1365701"/>
        </a:xfrm>
        <a:custGeom>
          <a:avLst/>
          <a:gdLst/>
          <a:ahLst/>
          <a:cxnLst/>
          <a:rect l="0" t="0" r="0" b="0"/>
          <a:pathLst>
            <a:path>
              <a:moveTo>
                <a:pt x="1705356" y="0"/>
              </a:moveTo>
              <a:lnTo>
                <a:pt x="1705356" y="1175404"/>
              </a:lnTo>
              <a:lnTo>
                <a:pt x="0" y="1175404"/>
              </a:lnTo>
              <a:lnTo>
                <a:pt x="0" y="136570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D877A0-70FD-4E65-88A5-FA1DC341B816}">
      <dsp:nvSpPr>
        <dsp:cNvPr id="0" name=""/>
        <dsp:cNvSpPr/>
      </dsp:nvSpPr>
      <dsp:spPr>
        <a:xfrm>
          <a:off x="2248068" y="-216830"/>
          <a:ext cx="3276959" cy="130440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959AF1-6828-4549-A808-BAA633F0C34A}">
      <dsp:nvSpPr>
        <dsp:cNvPr id="0" name=""/>
        <dsp:cNvSpPr/>
      </dsp:nvSpPr>
      <dsp:spPr>
        <a:xfrm>
          <a:off x="2476311" y="0"/>
          <a:ext cx="3276959" cy="130440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latin typeface="Times New Roman" panose="02020603050405020304" pitchFamily="18" charset="0"/>
              <a:cs typeface="Times New Roman" panose="02020603050405020304" pitchFamily="18" charset="0"/>
            </a:rPr>
            <a:t>Type of friction</a:t>
          </a:r>
        </a:p>
      </dsp:txBody>
      <dsp:txXfrm>
        <a:off x="2514516" y="38205"/>
        <a:ext cx="3200549" cy="1227997"/>
      </dsp:txXfrm>
    </dsp:sp>
    <dsp:sp modelId="{F0A893C8-41D1-4DC8-8F5C-FEB3FE3E0180}">
      <dsp:nvSpPr>
        <dsp:cNvPr id="0" name=""/>
        <dsp:cNvSpPr/>
      </dsp:nvSpPr>
      <dsp:spPr>
        <a:xfrm>
          <a:off x="3406" y="2453278"/>
          <a:ext cx="4355571" cy="130440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4A3CD4-99B7-4F94-9170-5CEA9A254F7E}">
      <dsp:nvSpPr>
        <dsp:cNvPr id="0" name=""/>
        <dsp:cNvSpPr/>
      </dsp:nvSpPr>
      <dsp:spPr>
        <a:xfrm>
          <a:off x="231649" y="2670109"/>
          <a:ext cx="4355571" cy="130440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latin typeface="Times New Roman" panose="02020603050405020304" pitchFamily="18" charset="0"/>
              <a:cs typeface="Times New Roman" panose="02020603050405020304" pitchFamily="18" charset="0"/>
            </a:rPr>
            <a:t>1.Dry friction/Coulomb Friction</a:t>
          </a:r>
        </a:p>
      </dsp:txBody>
      <dsp:txXfrm>
        <a:off x="269854" y="2708314"/>
        <a:ext cx="4279161" cy="1227997"/>
      </dsp:txXfrm>
    </dsp:sp>
    <dsp:sp modelId="{488CC243-1E8C-400B-8568-8E824E07E698}">
      <dsp:nvSpPr>
        <dsp:cNvPr id="0" name=""/>
        <dsp:cNvSpPr/>
      </dsp:nvSpPr>
      <dsp:spPr>
        <a:xfrm>
          <a:off x="4815463" y="2453278"/>
          <a:ext cx="3182487" cy="130440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E38133-9567-464E-BAC1-AFBE2010D016}">
      <dsp:nvSpPr>
        <dsp:cNvPr id="0" name=""/>
        <dsp:cNvSpPr/>
      </dsp:nvSpPr>
      <dsp:spPr>
        <a:xfrm>
          <a:off x="5043706" y="2670109"/>
          <a:ext cx="3182487" cy="130440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latin typeface="Times New Roman" panose="02020603050405020304" pitchFamily="18" charset="0"/>
              <a:cs typeface="Times New Roman" panose="02020603050405020304" pitchFamily="18" charset="0"/>
            </a:rPr>
            <a:t>2.Fluid Friction</a:t>
          </a:r>
        </a:p>
      </dsp:txBody>
      <dsp:txXfrm>
        <a:off x="5081911" y="2708314"/>
        <a:ext cx="3106077" cy="12279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FB911-E8FC-4533-B8C5-18248B13C235}">
      <dsp:nvSpPr>
        <dsp:cNvPr id="0" name=""/>
        <dsp:cNvSpPr/>
      </dsp:nvSpPr>
      <dsp:spPr>
        <a:xfrm>
          <a:off x="2924688" y="120347"/>
          <a:ext cx="4009513" cy="1305873"/>
        </a:xfrm>
        <a:prstGeom prst="roundRect">
          <a:avLst>
            <a:gd name="adj" fmla="val 10000"/>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Type of dry friction</a:t>
          </a:r>
        </a:p>
      </dsp:txBody>
      <dsp:txXfrm>
        <a:off x="2962936" y="158595"/>
        <a:ext cx="3933017" cy="1229377"/>
      </dsp:txXfrm>
    </dsp:sp>
    <dsp:sp modelId="{CC825600-B996-422A-B988-728BD1B71919}">
      <dsp:nvSpPr>
        <dsp:cNvPr id="0" name=""/>
        <dsp:cNvSpPr/>
      </dsp:nvSpPr>
      <dsp:spPr>
        <a:xfrm>
          <a:off x="2547710" y="1426221"/>
          <a:ext cx="2381735" cy="675937"/>
        </a:xfrm>
        <a:custGeom>
          <a:avLst/>
          <a:gdLst/>
          <a:ahLst/>
          <a:cxnLst/>
          <a:rect l="0" t="0" r="0" b="0"/>
          <a:pathLst>
            <a:path>
              <a:moveTo>
                <a:pt x="2381735" y="0"/>
              </a:moveTo>
              <a:lnTo>
                <a:pt x="2381735" y="337968"/>
              </a:lnTo>
              <a:lnTo>
                <a:pt x="0" y="337968"/>
              </a:lnTo>
              <a:lnTo>
                <a:pt x="0" y="67593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6D100D-10E9-462E-A911-DFBC0B96CF31}">
      <dsp:nvSpPr>
        <dsp:cNvPr id="0" name=""/>
        <dsp:cNvSpPr/>
      </dsp:nvSpPr>
      <dsp:spPr>
        <a:xfrm>
          <a:off x="991013" y="2102159"/>
          <a:ext cx="3113393" cy="1011262"/>
        </a:xfrm>
        <a:prstGeom prst="roundRect">
          <a:avLst>
            <a:gd name="adj" fmla="val 100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1.Static friction</a:t>
          </a:r>
        </a:p>
      </dsp:txBody>
      <dsp:txXfrm>
        <a:off x="1020632" y="2131778"/>
        <a:ext cx="3054155" cy="952024"/>
      </dsp:txXfrm>
    </dsp:sp>
    <dsp:sp modelId="{59D09B2A-52A3-405C-A5E0-073D9DF872D8}">
      <dsp:nvSpPr>
        <dsp:cNvPr id="0" name=""/>
        <dsp:cNvSpPr/>
      </dsp:nvSpPr>
      <dsp:spPr>
        <a:xfrm>
          <a:off x="1146525" y="3113421"/>
          <a:ext cx="1401184" cy="404504"/>
        </a:xfrm>
        <a:custGeom>
          <a:avLst/>
          <a:gdLst/>
          <a:ahLst/>
          <a:cxnLst/>
          <a:rect l="0" t="0" r="0" b="0"/>
          <a:pathLst>
            <a:path>
              <a:moveTo>
                <a:pt x="1401184" y="0"/>
              </a:moveTo>
              <a:lnTo>
                <a:pt x="1401184" y="202252"/>
              </a:lnTo>
              <a:lnTo>
                <a:pt x="0" y="202252"/>
              </a:lnTo>
              <a:lnTo>
                <a:pt x="0" y="40450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F98A09-E75F-4020-B21A-85809D653B4F}">
      <dsp:nvSpPr>
        <dsp:cNvPr id="0" name=""/>
        <dsp:cNvSpPr/>
      </dsp:nvSpPr>
      <dsp:spPr>
        <a:xfrm>
          <a:off x="1096" y="3517926"/>
          <a:ext cx="2290858" cy="14689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friction experienced by a body when it is at rest</a:t>
          </a:r>
        </a:p>
      </dsp:txBody>
      <dsp:txXfrm>
        <a:off x="44121" y="3560951"/>
        <a:ext cx="2204808" cy="1382919"/>
      </dsp:txXfrm>
    </dsp:sp>
    <dsp:sp modelId="{9E31E52A-E571-4E32-9B4E-A790B86EFF88}">
      <dsp:nvSpPr>
        <dsp:cNvPr id="0" name=""/>
        <dsp:cNvSpPr/>
      </dsp:nvSpPr>
      <dsp:spPr>
        <a:xfrm>
          <a:off x="2547710" y="3113421"/>
          <a:ext cx="1372963" cy="404504"/>
        </a:xfrm>
        <a:custGeom>
          <a:avLst/>
          <a:gdLst/>
          <a:ahLst/>
          <a:cxnLst/>
          <a:rect l="0" t="0" r="0" b="0"/>
          <a:pathLst>
            <a:path>
              <a:moveTo>
                <a:pt x="0" y="0"/>
              </a:moveTo>
              <a:lnTo>
                <a:pt x="0" y="202252"/>
              </a:lnTo>
              <a:lnTo>
                <a:pt x="1372963" y="202252"/>
              </a:lnTo>
              <a:lnTo>
                <a:pt x="1372963" y="40450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A604AC-AE7F-4FB8-88D5-88CCFFB43FD2}">
      <dsp:nvSpPr>
        <dsp:cNvPr id="0" name=""/>
        <dsp:cNvSpPr/>
      </dsp:nvSpPr>
      <dsp:spPr>
        <a:xfrm>
          <a:off x="2747022" y="3517926"/>
          <a:ext cx="2347301" cy="249109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Or in other words, it is the friction when the body tends to move.</a:t>
          </a:r>
        </a:p>
      </dsp:txBody>
      <dsp:txXfrm>
        <a:off x="2815772" y="3586676"/>
        <a:ext cx="2209801" cy="2353592"/>
      </dsp:txXfrm>
    </dsp:sp>
    <dsp:sp modelId="{5E9125C4-C220-450D-86B9-80B48CA20F72}">
      <dsp:nvSpPr>
        <dsp:cNvPr id="0" name=""/>
        <dsp:cNvSpPr/>
      </dsp:nvSpPr>
      <dsp:spPr>
        <a:xfrm>
          <a:off x="4929445" y="1426221"/>
          <a:ext cx="2169112" cy="675937"/>
        </a:xfrm>
        <a:custGeom>
          <a:avLst/>
          <a:gdLst/>
          <a:ahLst/>
          <a:cxnLst/>
          <a:rect l="0" t="0" r="0" b="0"/>
          <a:pathLst>
            <a:path>
              <a:moveTo>
                <a:pt x="0" y="0"/>
              </a:moveTo>
              <a:lnTo>
                <a:pt x="0" y="337968"/>
              </a:lnTo>
              <a:lnTo>
                <a:pt x="2169112" y="337968"/>
              </a:lnTo>
              <a:lnTo>
                <a:pt x="2169112" y="67593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8073BE-7D05-4CF9-B310-B0E48DF25FB7}">
      <dsp:nvSpPr>
        <dsp:cNvPr id="0" name=""/>
        <dsp:cNvSpPr/>
      </dsp:nvSpPr>
      <dsp:spPr>
        <a:xfrm>
          <a:off x="5206612" y="2102159"/>
          <a:ext cx="3783890" cy="1011262"/>
        </a:xfrm>
        <a:prstGeom prst="roundRect">
          <a:avLst>
            <a:gd name="adj" fmla="val 100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2.Dynamic Friction</a:t>
          </a:r>
        </a:p>
      </dsp:txBody>
      <dsp:txXfrm>
        <a:off x="5236231" y="2131778"/>
        <a:ext cx="3724652" cy="952024"/>
      </dsp:txXfrm>
    </dsp:sp>
    <dsp:sp modelId="{6E3AC453-B9FD-4B4C-8FFA-21133B7EF2F5}">
      <dsp:nvSpPr>
        <dsp:cNvPr id="0" name=""/>
        <dsp:cNvSpPr/>
      </dsp:nvSpPr>
      <dsp:spPr>
        <a:xfrm>
          <a:off x="7052837" y="3113421"/>
          <a:ext cx="91440" cy="404504"/>
        </a:xfrm>
        <a:custGeom>
          <a:avLst/>
          <a:gdLst/>
          <a:ahLst/>
          <a:cxnLst/>
          <a:rect l="0" t="0" r="0" b="0"/>
          <a:pathLst>
            <a:path>
              <a:moveTo>
                <a:pt x="45720" y="0"/>
              </a:moveTo>
              <a:lnTo>
                <a:pt x="45720" y="40450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C81910-E6D5-4AAC-AF26-E4C1E2E3DC8A}">
      <dsp:nvSpPr>
        <dsp:cNvPr id="0" name=""/>
        <dsp:cNvSpPr/>
      </dsp:nvSpPr>
      <dsp:spPr>
        <a:xfrm>
          <a:off x="5549392" y="3517926"/>
          <a:ext cx="3098330" cy="237382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It is the friction experienced by a body when it is in motion</a:t>
          </a:r>
        </a:p>
        <a:p>
          <a:pPr marL="0" lvl="0" indent="0" algn="ctr" defTabSz="1066800">
            <a:lnSpc>
              <a:spcPct val="90000"/>
            </a:lnSpc>
            <a:spcBef>
              <a:spcPct val="0"/>
            </a:spcBef>
            <a:spcAft>
              <a:spcPct val="35000"/>
            </a:spcAft>
            <a:buNone/>
          </a:pPr>
          <a:endParaRPr lang="en-US" sz="2400" kern="1200" dirty="0">
            <a:latin typeface="Times New Roman" panose="02020603050405020304" pitchFamily="18" charset="0"/>
            <a:cs typeface="Times New Roman" panose="02020603050405020304" pitchFamily="18" charset="0"/>
          </a:endParaRPr>
        </a:p>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also called kinetic friction.</a:t>
          </a:r>
        </a:p>
      </dsp:txBody>
      <dsp:txXfrm>
        <a:off x="5618919" y="3587453"/>
        <a:ext cx="2959276" cy="22347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1BDFA4-BD29-49F0-BA4B-A259E4500141}">
      <dsp:nvSpPr>
        <dsp:cNvPr id="0" name=""/>
        <dsp:cNvSpPr/>
      </dsp:nvSpPr>
      <dsp:spPr>
        <a:xfrm>
          <a:off x="0" y="0"/>
          <a:ext cx="6583680" cy="1287335"/>
        </a:xfrm>
        <a:prstGeom prst="roundRect">
          <a:avLst>
            <a:gd name="adj" fmla="val 100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latin typeface="Times New Roman" panose="02020603050405020304" pitchFamily="18" charset="0"/>
              <a:cs typeface="Times New Roman" panose="02020603050405020304" pitchFamily="18" charset="0"/>
            </a:rPr>
            <a:t>Dynamic Friction</a:t>
          </a:r>
        </a:p>
      </dsp:txBody>
      <dsp:txXfrm>
        <a:off x="37705" y="37705"/>
        <a:ext cx="5085764" cy="1211925"/>
      </dsp:txXfrm>
    </dsp:sp>
    <dsp:sp modelId="{6C0877C8-E52D-4778-BC64-551D4D710F43}">
      <dsp:nvSpPr>
        <dsp:cNvPr id="0" name=""/>
        <dsp:cNvSpPr/>
      </dsp:nvSpPr>
      <dsp:spPr>
        <a:xfrm>
          <a:off x="551383" y="1521396"/>
          <a:ext cx="6583680" cy="1287335"/>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latin typeface="Times New Roman" panose="02020603050405020304" pitchFamily="18" charset="0"/>
              <a:cs typeface="Times New Roman" panose="02020603050405020304" pitchFamily="18" charset="0"/>
            </a:rPr>
            <a:t>Two type</a:t>
          </a:r>
        </a:p>
      </dsp:txBody>
      <dsp:txXfrm>
        <a:off x="589088" y="1559101"/>
        <a:ext cx="5120118" cy="1211925"/>
      </dsp:txXfrm>
    </dsp:sp>
    <dsp:sp modelId="{F0D20EB0-636E-46B8-887D-7A911DB0A00A}">
      <dsp:nvSpPr>
        <dsp:cNvPr id="0" name=""/>
        <dsp:cNvSpPr/>
      </dsp:nvSpPr>
      <dsp:spPr>
        <a:xfrm>
          <a:off x="1094536" y="3042793"/>
          <a:ext cx="6583680" cy="128733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latin typeface="Times New Roman" panose="02020603050405020304" pitchFamily="18" charset="0"/>
              <a:cs typeface="Times New Roman" panose="02020603050405020304" pitchFamily="18" charset="0"/>
            </a:rPr>
            <a:t>1.Sliding friction</a:t>
          </a:r>
        </a:p>
      </dsp:txBody>
      <dsp:txXfrm>
        <a:off x="1132241" y="3080498"/>
        <a:ext cx="5128348" cy="1211925"/>
      </dsp:txXfrm>
    </dsp:sp>
    <dsp:sp modelId="{FADE0C20-C080-46C1-822A-C39B0587084D}">
      <dsp:nvSpPr>
        <dsp:cNvPr id="0" name=""/>
        <dsp:cNvSpPr/>
      </dsp:nvSpPr>
      <dsp:spPr>
        <a:xfrm>
          <a:off x="1645920" y="4564189"/>
          <a:ext cx="6583680" cy="128733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latin typeface="Times New Roman" panose="02020603050405020304" pitchFamily="18" charset="0"/>
              <a:cs typeface="Times New Roman" panose="02020603050405020304" pitchFamily="18" charset="0"/>
            </a:rPr>
            <a:t>2.Rolling friction</a:t>
          </a:r>
        </a:p>
      </dsp:txBody>
      <dsp:txXfrm>
        <a:off x="1683625" y="4601894"/>
        <a:ext cx="5120118" cy="1211925"/>
      </dsp:txXfrm>
    </dsp:sp>
    <dsp:sp modelId="{88196792-B825-4294-BFE4-874AA25B367E}">
      <dsp:nvSpPr>
        <dsp:cNvPr id="0" name=""/>
        <dsp:cNvSpPr/>
      </dsp:nvSpPr>
      <dsp:spPr>
        <a:xfrm>
          <a:off x="5746911" y="985981"/>
          <a:ext cx="836768" cy="836768"/>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latin typeface="Times New Roman" panose="02020603050405020304" pitchFamily="18" charset="0"/>
            <a:cs typeface="Times New Roman" panose="02020603050405020304" pitchFamily="18" charset="0"/>
          </a:endParaRPr>
        </a:p>
      </dsp:txBody>
      <dsp:txXfrm>
        <a:off x="5935184" y="985981"/>
        <a:ext cx="460222" cy="629668"/>
      </dsp:txXfrm>
    </dsp:sp>
    <dsp:sp modelId="{04662FA3-7473-4406-9414-B0EDE150A6E6}">
      <dsp:nvSpPr>
        <dsp:cNvPr id="0" name=""/>
        <dsp:cNvSpPr/>
      </dsp:nvSpPr>
      <dsp:spPr>
        <a:xfrm>
          <a:off x="6298295" y="2507378"/>
          <a:ext cx="836768" cy="836768"/>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latin typeface="Times New Roman" panose="02020603050405020304" pitchFamily="18" charset="0"/>
            <a:cs typeface="Times New Roman" panose="02020603050405020304" pitchFamily="18" charset="0"/>
          </a:endParaRPr>
        </a:p>
      </dsp:txBody>
      <dsp:txXfrm>
        <a:off x="6486568" y="2507378"/>
        <a:ext cx="460222" cy="629668"/>
      </dsp:txXfrm>
    </dsp:sp>
    <dsp:sp modelId="{B59220BE-FE38-4FC9-9CEF-863E6CB41A0A}">
      <dsp:nvSpPr>
        <dsp:cNvPr id="0" name=""/>
        <dsp:cNvSpPr/>
      </dsp:nvSpPr>
      <dsp:spPr>
        <a:xfrm>
          <a:off x="6841448" y="4028774"/>
          <a:ext cx="836768" cy="836768"/>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latin typeface="Times New Roman" panose="02020603050405020304" pitchFamily="18" charset="0"/>
            <a:cs typeface="Times New Roman" panose="02020603050405020304" pitchFamily="18" charset="0"/>
          </a:endParaRPr>
        </a:p>
      </dsp:txBody>
      <dsp:txXfrm>
        <a:off x="7029721" y="4028774"/>
        <a:ext cx="460222" cy="6296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AD7BBE-6F27-41E7-AB31-E8965A38109D}">
      <dsp:nvSpPr>
        <dsp:cNvPr id="0" name=""/>
        <dsp:cNvSpPr/>
      </dsp:nvSpPr>
      <dsp:spPr>
        <a:xfrm>
          <a:off x="6304" y="1252410"/>
          <a:ext cx="1718426" cy="22037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0000"/>
              </a:solidFill>
              <a:latin typeface="Times New Roman" panose="02020603050405020304" pitchFamily="18" charset="0"/>
              <a:cs typeface="Times New Roman" panose="02020603050405020304" pitchFamily="18" charset="0"/>
            </a:rPr>
            <a:t>Block(horizontal plane) </a:t>
          </a:r>
        </a:p>
      </dsp:txBody>
      <dsp:txXfrm>
        <a:off x="56635" y="1302741"/>
        <a:ext cx="1617764" cy="2103041"/>
      </dsp:txXfrm>
    </dsp:sp>
    <dsp:sp modelId="{20668902-81BD-4D7A-AD6F-8ED734082A6D}">
      <dsp:nvSpPr>
        <dsp:cNvPr id="0" name=""/>
        <dsp:cNvSpPr/>
      </dsp:nvSpPr>
      <dsp:spPr>
        <a:xfrm>
          <a:off x="1835909" y="2216402"/>
          <a:ext cx="235696" cy="2757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835909" y="2271546"/>
        <a:ext cx="164987" cy="165432"/>
      </dsp:txXfrm>
    </dsp:sp>
    <dsp:sp modelId="{68777BDE-43BA-4AFC-8DB0-891C885189D9}">
      <dsp:nvSpPr>
        <dsp:cNvPr id="0" name=""/>
        <dsp:cNvSpPr/>
      </dsp:nvSpPr>
      <dsp:spPr>
        <a:xfrm>
          <a:off x="2169441" y="1312758"/>
          <a:ext cx="1537140" cy="20830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FF0000"/>
              </a:solidFill>
              <a:latin typeface="Times New Roman" panose="02020603050405020304" pitchFamily="18" charset="0"/>
              <a:cs typeface="Times New Roman" panose="02020603050405020304" pitchFamily="18" charset="0"/>
            </a:rPr>
            <a:t>Free body Diagram</a:t>
          </a:r>
        </a:p>
      </dsp:txBody>
      <dsp:txXfrm>
        <a:off x="2214462" y="1357779"/>
        <a:ext cx="1447098" cy="1992966"/>
      </dsp:txXfrm>
    </dsp:sp>
    <dsp:sp modelId="{BFE884FD-0A4B-4700-95CE-BD9DA8445E8A}">
      <dsp:nvSpPr>
        <dsp:cNvPr id="0" name=""/>
        <dsp:cNvSpPr/>
      </dsp:nvSpPr>
      <dsp:spPr>
        <a:xfrm>
          <a:off x="3817760" y="2216402"/>
          <a:ext cx="235696" cy="2757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817760" y="2271546"/>
        <a:ext cx="164987" cy="165432"/>
      </dsp:txXfrm>
    </dsp:sp>
    <dsp:sp modelId="{61BA1D4E-9DB9-4566-83E3-79152CA2D74E}">
      <dsp:nvSpPr>
        <dsp:cNvPr id="0" name=""/>
        <dsp:cNvSpPr/>
      </dsp:nvSpPr>
      <dsp:spPr>
        <a:xfrm>
          <a:off x="4151293" y="1301620"/>
          <a:ext cx="1377234" cy="21052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0000"/>
              </a:solidFill>
              <a:latin typeface="Times New Roman" panose="02020603050405020304" pitchFamily="18" charset="0"/>
              <a:cs typeface="Times New Roman" panose="02020603050405020304" pitchFamily="18" charset="0"/>
            </a:rPr>
            <a:t>Frictional force</a:t>
          </a:r>
        </a:p>
      </dsp:txBody>
      <dsp:txXfrm>
        <a:off x="4191631" y="1341958"/>
        <a:ext cx="1296558" cy="2024607"/>
      </dsp:txXfrm>
    </dsp:sp>
    <dsp:sp modelId="{BACC195B-81F9-4C07-AEFC-1E27B201BAE9}">
      <dsp:nvSpPr>
        <dsp:cNvPr id="0" name=""/>
        <dsp:cNvSpPr/>
      </dsp:nvSpPr>
      <dsp:spPr>
        <a:xfrm>
          <a:off x="5639704" y="2216402"/>
          <a:ext cx="235696" cy="2757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639704" y="2271546"/>
        <a:ext cx="164987" cy="165432"/>
      </dsp:txXfrm>
    </dsp:sp>
    <dsp:sp modelId="{B95D928E-802A-4825-AADA-1F1DBB053103}">
      <dsp:nvSpPr>
        <dsp:cNvPr id="0" name=""/>
        <dsp:cNvSpPr/>
      </dsp:nvSpPr>
      <dsp:spPr>
        <a:xfrm>
          <a:off x="5973237" y="1280566"/>
          <a:ext cx="1379546" cy="2147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F0000"/>
              </a:solidFill>
              <a:latin typeface="Times New Roman" panose="02020603050405020304" pitchFamily="18" charset="0"/>
              <a:cs typeface="Times New Roman" panose="02020603050405020304" pitchFamily="18" charset="0"/>
            </a:rPr>
            <a:t>Condition of equilibrium </a:t>
          </a:r>
        </a:p>
      </dsp:txBody>
      <dsp:txXfrm>
        <a:off x="6013643" y="1320972"/>
        <a:ext cx="1298734" cy="2066579"/>
      </dsp:txXfrm>
    </dsp:sp>
    <dsp:sp modelId="{742EC159-5567-4D55-8C74-FB101CCA9E08}">
      <dsp:nvSpPr>
        <dsp:cNvPr id="0" name=""/>
        <dsp:cNvSpPr/>
      </dsp:nvSpPr>
      <dsp:spPr>
        <a:xfrm>
          <a:off x="7463961" y="2216402"/>
          <a:ext cx="235696" cy="2757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7463961" y="2271546"/>
        <a:ext cx="164987" cy="165432"/>
      </dsp:txXfrm>
    </dsp:sp>
    <dsp:sp modelId="{6300B28E-19F3-4719-9E74-DBE73F5C7D08}">
      <dsp:nvSpPr>
        <dsp:cNvPr id="0" name=""/>
        <dsp:cNvSpPr/>
      </dsp:nvSpPr>
      <dsp:spPr>
        <a:xfrm>
          <a:off x="7797494" y="1389335"/>
          <a:ext cx="1340200" cy="192985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0000"/>
              </a:solidFill>
              <a:latin typeface="Times New Roman" panose="02020603050405020304" pitchFamily="18" charset="0"/>
              <a:cs typeface="Times New Roman" panose="02020603050405020304" pitchFamily="18" charset="0"/>
            </a:rPr>
            <a:t>Unknown</a:t>
          </a:r>
        </a:p>
      </dsp:txBody>
      <dsp:txXfrm>
        <a:off x="7836747" y="1428588"/>
        <a:ext cx="1261694" cy="18513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AD7BBE-6F27-41E7-AB31-E8965A38109D}">
      <dsp:nvSpPr>
        <dsp:cNvPr id="0" name=""/>
        <dsp:cNvSpPr/>
      </dsp:nvSpPr>
      <dsp:spPr>
        <a:xfrm>
          <a:off x="6304" y="1252410"/>
          <a:ext cx="1718426" cy="22037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F0000"/>
              </a:solidFill>
              <a:latin typeface="Times New Roman" panose="02020603050405020304" pitchFamily="18" charset="0"/>
              <a:cs typeface="Times New Roman" panose="02020603050405020304" pitchFamily="18" charset="0"/>
            </a:rPr>
            <a:t>Block(inclined plane) </a:t>
          </a:r>
        </a:p>
      </dsp:txBody>
      <dsp:txXfrm>
        <a:off x="56635" y="1302741"/>
        <a:ext cx="1617764" cy="2103041"/>
      </dsp:txXfrm>
    </dsp:sp>
    <dsp:sp modelId="{20668902-81BD-4D7A-AD6F-8ED734082A6D}">
      <dsp:nvSpPr>
        <dsp:cNvPr id="0" name=""/>
        <dsp:cNvSpPr/>
      </dsp:nvSpPr>
      <dsp:spPr>
        <a:xfrm>
          <a:off x="1835909" y="2216402"/>
          <a:ext cx="235696" cy="2757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835909" y="2271546"/>
        <a:ext cx="164987" cy="165432"/>
      </dsp:txXfrm>
    </dsp:sp>
    <dsp:sp modelId="{68777BDE-43BA-4AFC-8DB0-891C885189D9}">
      <dsp:nvSpPr>
        <dsp:cNvPr id="0" name=""/>
        <dsp:cNvSpPr/>
      </dsp:nvSpPr>
      <dsp:spPr>
        <a:xfrm>
          <a:off x="2169441" y="1312758"/>
          <a:ext cx="1537140" cy="20830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FF0000"/>
              </a:solidFill>
              <a:latin typeface="Times New Roman" panose="02020603050405020304" pitchFamily="18" charset="0"/>
              <a:cs typeface="Times New Roman" panose="02020603050405020304" pitchFamily="18" charset="0"/>
            </a:rPr>
            <a:t>Free body Diagram</a:t>
          </a:r>
        </a:p>
      </dsp:txBody>
      <dsp:txXfrm>
        <a:off x="2214462" y="1357779"/>
        <a:ext cx="1447098" cy="1992966"/>
      </dsp:txXfrm>
    </dsp:sp>
    <dsp:sp modelId="{BFE884FD-0A4B-4700-95CE-BD9DA8445E8A}">
      <dsp:nvSpPr>
        <dsp:cNvPr id="0" name=""/>
        <dsp:cNvSpPr/>
      </dsp:nvSpPr>
      <dsp:spPr>
        <a:xfrm>
          <a:off x="3817760" y="2216402"/>
          <a:ext cx="235696" cy="2757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817760" y="2271546"/>
        <a:ext cx="164987" cy="165432"/>
      </dsp:txXfrm>
    </dsp:sp>
    <dsp:sp modelId="{61BA1D4E-9DB9-4566-83E3-79152CA2D74E}">
      <dsp:nvSpPr>
        <dsp:cNvPr id="0" name=""/>
        <dsp:cNvSpPr/>
      </dsp:nvSpPr>
      <dsp:spPr>
        <a:xfrm>
          <a:off x="4151293" y="1301620"/>
          <a:ext cx="1377234" cy="21052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0000"/>
              </a:solidFill>
              <a:latin typeface="Times New Roman" panose="02020603050405020304" pitchFamily="18" charset="0"/>
              <a:cs typeface="Times New Roman" panose="02020603050405020304" pitchFamily="18" charset="0"/>
            </a:rPr>
            <a:t>Frictional force</a:t>
          </a:r>
        </a:p>
      </dsp:txBody>
      <dsp:txXfrm>
        <a:off x="4191631" y="1341958"/>
        <a:ext cx="1296558" cy="2024607"/>
      </dsp:txXfrm>
    </dsp:sp>
    <dsp:sp modelId="{BACC195B-81F9-4C07-AEFC-1E27B201BAE9}">
      <dsp:nvSpPr>
        <dsp:cNvPr id="0" name=""/>
        <dsp:cNvSpPr/>
      </dsp:nvSpPr>
      <dsp:spPr>
        <a:xfrm>
          <a:off x="5639704" y="2216402"/>
          <a:ext cx="235696" cy="2757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639704" y="2271546"/>
        <a:ext cx="164987" cy="165432"/>
      </dsp:txXfrm>
    </dsp:sp>
    <dsp:sp modelId="{B95D928E-802A-4825-AADA-1F1DBB053103}">
      <dsp:nvSpPr>
        <dsp:cNvPr id="0" name=""/>
        <dsp:cNvSpPr/>
      </dsp:nvSpPr>
      <dsp:spPr>
        <a:xfrm>
          <a:off x="5973237" y="1280566"/>
          <a:ext cx="1379546" cy="2147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F0000"/>
              </a:solidFill>
              <a:latin typeface="Times New Roman" panose="02020603050405020304" pitchFamily="18" charset="0"/>
              <a:cs typeface="Times New Roman" panose="02020603050405020304" pitchFamily="18" charset="0"/>
            </a:rPr>
            <a:t>Condition of equilibrium </a:t>
          </a:r>
        </a:p>
      </dsp:txBody>
      <dsp:txXfrm>
        <a:off x="6013643" y="1320972"/>
        <a:ext cx="1298734" cy="2066579"/>
      </dsp:txXfrm>
    </dsp:sp>
    <dsp:sp modelId="{742EC159-5567-4D55-8C74-FB101CCA9E08}">
      <dsp:nvSpPr>
        <dsp:cNvPr id="0" name=""/>
        <dsp:cNvSpPr/>
      </dsp:nvSpPr>
      <dsp:spPr>
        <a:xfrm>
          <a:off x="7463961" y="2216402"/>
          <a:ext cx="235696" cy="2757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7463961" y="2271546"/>
        <a:ext cx="164987" cy="165432"/>
      </dsp:txXfrm>
    </dsp:sp>
    <dsp:sp modelId="{6300B28E-19F3-4719-9E74-DBE73F5C7D08}">
      <dsp:nvSpPr>
        <dsp:cNvPr id="0" name=""/>
        <dsp:cNvSpPr/>
      </dsp:nvSpPr>
      <dsp:spPr>
        <a:xfrm>
          <a:off x="7797494" y="1389335"/>
          <a:ext cx="1340200" cy="192985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0000"/>
              </a:solidFill>
              <a:latin typeface="Times New Roman" panose="02020603050405020304" pitchFamily="18" charset="0"/>
              <a:cs typeface="Times New Roman" panose="02020603050405020304" pitchFamily="18" charset="0"/>
            </a:rPr>
            <a:t>Unknown</a:t>
          </a:r>
        </a:p>
      </dsp:txBody>
      <dsp:txXfrm>
        <a:off x="7836747" y="1428588"/>
        <a:ext cx="1261694" cy="185134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4E335DE-7F4E-4981-9DC8-F24DCC3FFEBD}" type="datetimeFigureOut">
              <a:rPr lang="en-US" smtClean="0"/>
              <a:t>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2510615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E335DE-7F4E-4981-9DC8-F24DCC3FFEBD}" type="datetimeFigureOut">
              <a:rPr lang="en-US" smtClean="0"/>
              <a:t>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335090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E335DE-7F4E-4981-9DC8-F24DCC3FFEBD}" type="datetimeFigureOut">
              <a:rPr lang="en-US" smtClean="0"/>
              <a:t>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3546855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E335DE-7F4E-4981-9DC8-F24DCC3FFEBD}" type="datetimeFigureOut">
              <a:rPr lang="en-US" smtClean="0"/>
              <a:t>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3398112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E335DE-7F4E-4981-9DC8-F24DCC3FFEBD}" type="datetimeFigureOut">
              <a:rPr lang="en-US" smtClean="0"/>
              <a:t>2/12/2023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1345127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E335DE-7F4E-4981-9DC8-F24DCC3FFEBD}" type="datetimeFigureOut">
              <a:rPr lang="en-US" smtClean="0"/>
              <a:t>2/12/2023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1741076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E335DE-7F4E-4981-9DC8-F24DCC3FFEBD}" type="datetimeFigureOut">
              <a:rPr lang="en-US" smtClean="0"/>
              <a:t>2/12/2023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74095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E335DE-7F4E-4981-9DC8-F24DCC3FFEBD}" type="datetimeFigureOut">
              <a:rPr lang="en-US" smtClean="0"/>
              <a:t>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85165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E335DE-7F4E-4981-9DC8-F24DCC3FFEBD}" type="datetimeFigureOut">
              <a:rPr lang="en-US" smtClean="0"/>
              <a:t>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260684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E335DE-7F4E-4981-9DC8-F24DCC3FFEBD}" type="datetimeFigureOut">
              <a:rPr lang="en-US" smtClean="0"/>
              <a:t>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1762061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E335DE-7F4E-4981-9DC8-F24DCC3FFEBD}" type="datetimeFigureOut">
              <a:rPr lang="en-US" smtClean="0"/>
              <a:t>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12D6B-BB33-4FCA-B917-FDD64BA47D85}" type="slidenum">
              <a:rPr lang="en-US" smtClean="0"/>
              <a:t>‹#›</a:t>
            </a:fld>
            <a:endParaRPr lang="en-US"/>
          </a:p>
        </p:txBody>
      </p:sp>
    </p:spTree>
    <p:extLst>
      <p:ext uri="{BB962C8B-B14F-4D97-AF65-F5344CB8AC3E}">
        <p14:creationId xmlns:p14="http://schemas.microsoft.com/office/powerpoint/2010/main" val="3872643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E335DE-7F4E-4981-9DC8-F24DCC3FFEBD}" type="datetimeFigureOut">
              <a:rPr lang="en-US" smtClean="0"/>
              <a:t>2/12/2023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12D6B-BB33-4FCA-B917-FDD64BA47D85}" type="slidenum">
              <a:rPr lang="en-US" smtClean="0"/>
              <a:t>‹#›</a:t>
            </a:fld>
            <a:endParaRPr lang="en-US"/>
          </a:p>
        </p:txBody>
      </p:sp>
    </p:spTree>
    <p:extLst>
      <p:ext uri="{BB962C8B-B14F-4D97-AF65-F5344CB8AC3E}">
        <p14:creationId xmlns:p14="http://schemas.microsoft.com/office/powerpoint/2010/main" val="298993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8000" b="1" i="1" dirty="0">
                <a:latin typeface="Times New Roman" panose="02020603050405020304" pitchFamily="18" charset="0"/>
                <a:cs typeface="Times New Roman" panose="02020603050405020304" pitchFamily="18" charset="0"/>
              </a:rPr>
              <a:t>Friction</a:t>
            </a:r>
          </a:p>
        </p:txBody>
      </p:sp>
      <p:sp>
        <p:nvSpPr>
          <p:cNvPr id="3" name="Subtitle 2"/>
          <p:cNvSpPr>
            <a:spLocks noGrp="1"/>
          </p:cNvSpPr>
          <p:nvPr>
            <p:ph type="subTitle" idx="1"/>
          </p:nvPr>
        </p:nvSpPr>
        <p:spPr/>
        <p:txBody>
          <a:bodyPr>
            <a:normAutofit/>
          </a:bodyPr>
          <a:lstStyle/>
          <a:p>
            <a:r>
              <a:rPr lang="en-US" sz="8800" b="1" dirty="0">
                <a:solidFill>
                  <a:srgbClr val="FF0000"/>
                </a:solidFill>
                <a:latin typeface="Times New Roman" panose="02020603050405020304" pitchFamily="18" charset="0"/>
                <a:cs typeface="Times New Roman" panose="02020603050405020304" pitchFamily="18" charset="0"/>
              </a:rPr>
              <a:t>Chapter 4</a:t>
            </a:r>
          </a:p>
        </p:txBody>
      </p:sp>
    </p:spTree>
    <p:extLst>
      <p:ext uri="{BB962C8B-B14F-4D97-AF65-F5344CB8AC3E}">
        <p14:creationId xmlns:p14="http://schemas.microsoft.com/office/powerpoint/2010/main" val="2429195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7A31D5C-E820-48F0-8518-B04E06567753}"/>
              </a:ext>
            </a:extLst>
          </p:cNvPr>
          <p:cNvPicPr>
            <a:picLocks noChangeAspect="1"/>
          </p:cNvPicPr>
          <p:nvPr/>
        </p:nvPicPr>
        <p:blipFill>
          <a:blip r:embed="rId2"/>
          <a:stretch>
            <a:fillRect/>
          </a:stretch>
        </p:blipFill>
        <p:spPr>
          <a:xfrm>
            <a:off x="1219200" y="2999028"/>
            <a:ext cx="5580679" cy="3567975"/>
          </a:xfrm>
          <a:prstGeom prst="rect">
            <a:avLst/>
          </a:prstGeom>
        </p:spPr>
      </p:pic>
      <p:sp>
        <p:nvSpPr>
          <p:cNvPr id="8" name="Content Placeholder 7">
            <a:extLst>
              <a:ext uri="{FF2B5EF4-FFF2-40B4-BE49-F238E27FC236}">
                <a16:creationId xmlns:a16="http://schemas.microsoft.com/office/drawing/2014/main" id="{4E8F7BB4-8C06-46ED-9E80-C84803285AD5}"/>
              </a:ext>
            </a:extLst>
          </p:cNvPr>
          <p:cNvSpPr>
            <a:spLocks noGrp="1"/>
          </p:cNvSpPr>
          <p:nvPr>
            <p:ph idx="1"/>
          </p:nvPr>
        </p:nvSpPr>
        <p:spPr>
          <a:xfrm>
            <a:off x="457200" y="290998"/>
            <a:ext cx="8229600" cy="5835166"/>
          </a:xfrm>
        </p:spPr>
        <p:txBody>
          <a:bodyPr>
            <a:normAutofit/>
          </a:bodyPr>
          <a:lstStyle/>
          <a:p>
            <a:pPr marL="0" indent="0" algn="just">
              <a:buNone/>
            </a:pPr>
            <a:r>
              <a:rPr lang="en-US" sz="3800" dirty="0">
                <a:latin typeface="Times New Roman" panose="02020603050405020304" pitchFamily="18" charset="0"/>
                <a:cs typeface="Times New Roman" panose="02020603050405020304" pitchFamily="18" charset="0"/>
              </a:rPr>
              <a:t>The opposing force, which acts in the opposite direction of the movement of the block, is called </a:t>
            </a:r>
            <a:r>
              <a:rPr lang="en-US" sz="3800" i="1" dirty="0">
                <a:latin typeface="Times New Roman" panose="02020603050405020304" pitchFamily="18" charset="0"/>
                <a:cs typeface="Times New Roman" panose="02020603050405020304" pitchFamily="18" charset="0"/>
              </a:rPr>
              <a:t>force of friction </a:t>
            </a:r>
            <a:r>
              <a:rPr lang="en-US" sz="3800" dirty="0">
                <a:latin typeface="Times New Roman" panose="02020603050405020304" pitchFamily="18" charset="0"/>
                <a:cs typeface="Times New Roman" panose="02020603050405020304" pitchFamily="18" charset="0"/>
              </a:rPr>
              <a:t>or simply </a:t>
            </a:r>
            <a:r>
              <a:rPr lang="en-US" sz="3800" i="1" dirty="0">
                <a:latin typeface="Times New Roman" panose="02020603050405020304" pitchFamily="18" charset="0"/>
                <a:cs typeface="Times New Roman" panose="02020603050405020304" pitchFamily="18" charset="0"/>
              </a:rPr>
              <a:t>friction.</a:t>
            </a:r>
            <a:endParaRPr lang="en-US" sz="3800" dirty="0"/>
          </a:p>
        </p:txBody>
      </p:sp>
    </p:spTree>
    <p:extLst>
      <p:ext uri="{BB962C8B-B14F-4D97-AF65-F5344CB8AC3E}">
        <p14:creationId xmlns:p14="http://schemas.microsoft.com/office/powerpoint/2010/main" val="1716634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440B2-2DDF-4E32-8277-8A4037320DD5}"/>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0AFA2E93-1105-4B2C-9C3C-CF944CDEF819}"/>
              </a:ext>
            </a:extLst>
          </p:cNvPr>
          <p:cNvGraphicFramePr>
            <a:graphicFrameLocks noGrp="1"/>
          </p:cNvGraphicFramePr>
          <p:nvPr>
            <p:ph idx="1"/>
            <p:extLst>
              <p:ext uri="{D42A27DB-BD31-4B8C-83A1-F6EECF244321}">
                <p14:modId xmlns:p14="http://schemas.microsoft.com/office/powerpoint/2010/main" val="1372944000"/>
              </p:ext>
            </p:extLst>
          </p:nvPr>
        </p:nvGraphicFramePr>
        <p:xfrm>
          <a:off x="304800" y="1166018"/>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5275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B450C-8367-4261-85EB-2BA197268CB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Fluid friction</a:t>
            </a:r>
          </a:p>
        </p:txBody>
      </p:sp>
      <p:sp>
        <p:nvSpPr>
          <p:cNvPr id="3" name="Content Placeholder 2">
            <a:extLst>
              <a:ext uri="{FF2B5EF4-FFF2-40B4-BE49-F238E27FC236}">
                <a16:creationId xmlns:a16="http://schemas.microsoft.com/office/drawing/2014/main" id="{A28F2DCC-57A6-449C-BFD6-1864084C035E}"/>
              </a:ext>
            </a:extLst>
          </p:cNvPr>
          <p:cNvSpPr>
            <a:spLocks noGrp="1"/>
          </p:cNvSpPr>
          <p:nvPr>
            <p:ph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Develop between two layers of fluid , moving at different velocities.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Fluid friction is that force which resist the motion either within the fluid itself or of another medium moving through the fluid.</a:t>
            </a:r>
          </a:p>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853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A20B9-12E7-4501-BF6E-ED89E986461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1B280020-E180-4D4E-89CE-19AB6B915A32}"/>
              </a:ext>
            </a:extLst>
          </p:cNvPr>
          <p:cNvPicPr>
            <a:picLocks noGrp="1" noChangeAspect="1"/>
          </p:cNvPicPr>
          <p:nvPr>
            <p:ph idx="1"/>
          </p:nvPr>
        </p:nvPicPr>
        <p:blipFill>
          <a:blip r:embed="rId2"/>
          <a:stretch>
            <a:fillRect/>
          </a:stretch>
        </p:blipFill>
        <p:spPr>
          <a:xfrm>
            <a:off x="-1" y="-3517"/>
            <a:ext cx="9095509" cy="6861517"/>
          </a:xfrm>
          <a:prstGeom prst="rect">
            <a:avLst/>
          </a:prstGeom>
        </p:spPr>
      </p:pic>
    </p:spTree>
    <p:extLst>
      <p:ext uri="{BB962C8B-B14F-4D97-AF65-F5344CB8AC3E}">
        <p14:creationId xmlns:p14="http://schemas.microsoft.com/office/powerpoint/2010/main" val="392153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F935E-ED7A-4A45-A0B6-01C391CC2DD6}"/>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E472F52D-95F6-42EC-B8EC-CFF2A99F91CE}"/>
              </a:ext>
            </a:extLst>
          </p:cNvPr>
          <p:cNvPicPr>
            <a:picLocks noGrp="1" noChangeAspect="1"/>
          </p:cNvPicPr>
          <p:nvPr>
            <p:ph idx="1"/>
          </p:nvPr>
        </p:nvPicPr>
        <p:blipFill>
          <a:blip r:embed="rId2"/>
          <a:stretch>
            <a:fillRect/>
          </a:stretch>
        </p:blipFill>
        <p:spPr>
          <a:xfrm>
            <a:off x="0" y="0"/>
            <a:ext cx="9219492" cy="6858000"/>
          </a:xfrm>
          <a:prstGeom prst="rect">
            <a:avLst/>
          </a:prstGeom>
        </p:spPr>
      </p:pic>
      <p:pic>
        <p:nvPicPr>
          <p:cNvPr id="5" name="Picture 4">
            <a:extLst>
              <a:ext uri="{FF2B5EF4-FFF2-40B4-BE49-F238E27FC236}">
                <a16:creationId xmlns:a16="http://schemas.microsoft.com/office/drawing/2014/main" id="{4E5BEDB1-E78A-418F-BAFF-8225E72F70A2}"/>
              </a:ext>
            </a:extLst>
          </p:cNvPr>
          <p:cNvPicPr>
            <a:picLocks noChangeAspect="1"/>
          </p:cNvPicPr>
          <p:nvPr/>
        </p:nvPicPr>
        <p:blipFill rotWithShape="1">
          <a:blip r:embed="rId3"/>
          <a:srcRect t="43956"/>
          <a:stretch/>
        </p:blipFill>
        <p:spPr>
          <a:xfrm>
            <a:off x="2590800" y="5029200"/>
            <a:ext cx="5638800" cy="533400"/>
          </a:xfrm>
          <a:prstGeom prst="rect">
            <a:avLst/>
          </a:prstGeom>
        </p:spPr>
      </p:pic>
    </p:spTree>
    <p:extLst>
      <p:ext uri="{BB962C8B-B14F-4D97-AF65-F5344CB8AC3E}">
        <p14:creationId xmlns:p14="http://schemas.microsoft.com/office/powerpoint/2010/main" val="2591014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96904-5AE3-452E-B9D7-9B9777F315F8}"/>
              </a:ext>
            </a:extLst>
          </p:cNvPr>
          <p:cNvSpPr>
            <a:spLocks noGrp="1"/>
          </p:cNvSpPr>
          <p:nvPr>
            <p:ph type="title"/>
          </p:nvPr>
        </p:nvSpPr>
        <p:spPr>
          <a:solidFill>
            <a:schemeClr val="tx2">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fontScale="90000"/>
          </a:bodyPr>
          <a:lstStyle/>
          <a:p>
            <a:r>
              <a:rPr lang="en-US" b="1" dirty="0">
                <a:latin typeface="Times New Roman" panose="02020603050405020304" pitchFamily="18" charset="0"/>
                <a:cs typeface="Times New Roman" panose="02020603050405020304" pitchFamily="18" charset="0"/>
              </a:rPr>
              <a:t>Dry friction/Coulomb Friction</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5F0397-C1E5-4FBB-B192-92F7D2DDF229}"/>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friction developed between two bodies having dry contact surface.</a:t>
            </a:r>
          </a:p>
          <a:p>
            <a:r>
              <a:rPr lang="en-US" dirty="0">
                <a:latin typeface="Times New Roman" panose="02020603050405020304" pitchFamily="18" charset="0"/>
                <a:cs typeface="Times New Roman" panose="02020603050405020304" pitchFamily="18" charset="0"/>
              </a:rPr>
              <a:t>Major causes of dry friction are:</a:t>
            </a:r>
          </a:p>
          <a:p>
            <a:pPr lvl="1"/>
            <a:r>
              <a:rPr lang="en-US" dirty="0">
                <a:latin typeface="Times New Roman" panose="02020603050405020304" pitchFamily="18" charset="0"/>
                <a:cs typeface="Times New Roman" panose="02020603050405020304" pitchFamily="18" charset="0"/>
              </a:rPr>
              <a:t>Roughness of surface of contact</a:t>
            </a:r>
          </a:p>
          <a:p>
            <a:pPr lvl="1"/>
            <a:r>
              <a:rPr lang="en-US" dirty="0">
                <a:latin typeface="Times New Roman" panose="02020603050405020304" pitchFamily="18" charset="0"/>
                <a:cs typeface="Times New Roman" panose="02020603050405020304" pitchFamily="18" charset="0"/>
              </a:rPr>
              <a:t> Intermolecular attraction etc.</a:t>
            </a:r>
          </a:p>
        </p:txBody>
      </p:sp>
    </p:spTree>
    <p:extLst>
      <p:ext uri="{BB962C8B-B14F-4D97-AF65-F5344CB8AC3E}">
        <p14:creationId xmlns:p14="http://schemas.microsoft.com/office/powerpoint/2010/main" val="2065441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93547821"/>
              </p:ext>
            </p:extLst>
          </p:nvPr>
        </p:nvGraphicFramePr>
        <p:xfrm>
          <a:off x="0" y="0"/>
          <a:ext cx="8991600" cy="640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9382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E2984-4AA4-4B86-ABF3-303AFBF648F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Effects of friction</a:t>
            </a:r>
          </a:p>
        </p:txBody>
      </p:sp>
      <p:sp>
        <p:nvSpPr>
          <p:cNvPr id="3" name="Content Placeholder 2">
            <a:extLst>
              <a:ext uri="{FF2B5EF4-FFF2-40B4-BE49-F238E27FC236}">
                <a16:creationId xmlns:a16="http://schemas.microsoft.com/office/drawing/2014/main" id="{84E8DDD7-B7A4-42BD-9F08-B2538A0263C3}"/>
              </a:ext>
            </a:extLst>
          </p:cNvPr>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Associated with energy dissipation.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Mechanical energy converted to heat energy.</a:t>
            </a:r>
          </a:p>
        </p:txBody>
      </p:sp>
    </p:spTree>
    <p:extLst>
      <p:ext uri="{BB962C8B-B14F-4D97-AF65-F5344CB8AC3E}">
        <p14:creationId xmlns:p14="http://schemas.microsoft.com/office/powerpoint/2010/main" val="636165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7"/>
            <a:ext cx="8229600" cy="1143000"/>
          </a:xfrm>
        </p:spPr>
        <p:txBody>
          <a:bodyPr>
            <a:normAutofit/>
          </a:bodyPr>
          <a:lstStyle/>
          <a:p>
            <a:r>
              <a:rPr lang="en-US" sz="6000" b="1" i="1" dirty="0">
                <a:solidFill>
                  <a:srgbClr val="00B050"/>
                </a:solidFill>
                <a:latin typeface="Times New Roman" panose="02020603050405020304" pitchFamily="18" charset="0"/>
                <a:cs typeface="Times New Roman" panose="02020603050405020304" pitchFamily="18" charset="0"/>
              </a:rPr>
              <a:t>Static Friction</a:t>
            </a:r>
          </a:p>
        </p:txBody>
      </p:sp>
      <p:sp>
        <p:nvSpPr>
          <p:cNvPr id="3" name="Content Placeholder 2"/>
          <p:cNvSpPr>
            <a:spLocks noGrp="1"/>
          </p:cNvSpPr>
          <p:nvPr>
            <p:ph sz="quarter" idx="1"/>
          </p:nvPr>
        </p:nvSpPr>
        <p:spPr>
          <a:xfrm>
            <a:off x="457200" y="1600200"/>
            <a:ext cx="4724400" cy="4525963"/>
          </a:xfrm>
        </p:spPr>
        <p:txBody>
          <a:bodyPr>
            <a:normAutofit/>
          </a:bodyPr>
          <a:lstStyle/>
          <a:p>
            <a:pPr algn="just"/>
            <a:r>
              <a:rPr lang="en-US" dirty="0">
                <a:latin typeface="Times New Roman" pitchFamily="18" charset="0"/>
                <a:cs typeface="Times New Roman" pitchFamily="18" charset="0"/>
              </a:rPr>
              <a:t>Static friction is friction that occurs when the surfaces in contact are at rest (not in motion). </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Examples: </a:t>
            </a:r>
          </a:p>
          <a:p>
            <a:pPr lvl="1" algn="just"/>
            <a:r>
              <a:rPr lang="en-US" dirty="0">
                <a:latin typeface="Times New Roman" pitchFamily="18" charset="0"/>
                <a:cs typeface="Times New Roman" pitchFamily="18" charset="0"/>
              </a:rPr>
              <a:t>A book resting on a desk. </a:t>
            </a:r>
          </a:p>
          <a:p>
            <a:pPr lvl="1" algn="just"/>
            <a:r>
              <a:rPr lang="en-US" dirty="0">
                <a:latin typeface="Times New Roman" pitchFamily="18" charset="0"/>
                <a:cs typeface="Times New Roman" pitchFamily="18" charset="0"/>
              </a:rPr>
              <a:t>A plant  on a table. </a:t>
            </a:r>
          </a:p>
          <a:p>
            <a:pPr algn="just"/>
            <a:endParaRPr lang="en-US"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3886200"/>
            <a:ext cx="35814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3555" y="1143000"/>
            <a:ext cx="3692525" cy="2438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4599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0FD8-1A7E-4A30-827B-060CD192EB9E}"/>
              </a:ext>
            </a:extLst>
          </p:cNvPr>
          <p:cNvSpPr>
            <a:spLocks noGrp="1"/>
          </p:cNvSpPr>
          <p:nvPr>
            <p:ph type="title"/>
          </p:nvPr>
        </p:nvSpPr>
        <p:spPr/>
        <p:txBody>
          <a:bodyPr>
            <a:noAutofit/>
          </a:bodyPr>
          <a:lstStyle/>
          <a:p>
            <a:r>
              <a:rPr lang="en-US" b="1" dirty="0">
                <a:latin typeface="Times New Roman" panose="02020603050405020304" pitchFamily="18" charset="0"/>
                <a:cs typeface="Times New Roman" panose="02020603050405020304" pitchFamily="18" charset="0"/>
              </a:rPr>
              <a:t>Static friction:</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E22B4171-C0ED-7D9E-AA2A-DDC4BF0D766F}"/>
              </a:ext>
            </a:extLst>
          </p:cNvPr>
          <p:cNvSpPr>
            <a:spLocks noGrp="1"/>
          </p:cNvSpPr>
          <p:nvPr>
            <p:ph idx="1"/>
          </p:nvPr>
        </p:nvSpPr>
        <p:spPr/>
        <p:txBody>
          <a:bodyPr/>
          <a:lstStyle/>
          <a:p>
            <a:pPr algn="just"/>
            <a:r>
              <a:rPr lang="en-US" sz="3200" dirty="0">
                <a:latin typeface="Times New Roman" panose="02020603050405020304" pitchFamily="18" charset="0"/>
                <a:cs typeface="Times New Roman" panose="02020603050405020304" pitchFamily="18" charset="0"/>
              </a:rPr>
              <a:t>The opposing force that comes into play when one body tends to move over the surface of another, but the actual motion has yet not started is called static friction.</a:t>
            </a:r>
            <a:br>
              <a:rPr lang="en-US" sz="3200" dirty="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2737258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94760212"/>
              </p:ext>
            </p:extLst>
          </p:nvPr>
        </p:nvGraphicFramePr>
        <p:xfrm>
          <a:off x="457200" y="274638"/>
          <a:ext cx="8229600" cy="5851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4318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lumMod val="60000"/>
              <a:lumOff val="40000"/>
            </a:schemeClr>
          </a:solidFill>
        </p:spPr>
        <p:txBody>
          <a:bodyPr/>
          <a:lstStyle/>
          <a:p>
            <a:r>
              <a:rPr lang="en-US" dirty="0">
                <a:latin typeface="Times New Roman" panose="02020603050405020304" pitchFamily="18" charset="0"/>
                <a:cs typeface="Times New Roman" panose="02020603050405020304" pitchFamily="18" charset="0"/>
              </a:rPr>
              <a:t>Sliding Friction</a:t>
            </a:r>
          </a:p>
        </p:txBody>
      </p:sp>
      <p:sp>
        <p:nvSpPr>
          <p:cNvPr id="3" name="Content Placeholder 2"/>
          <p:cNvSpPr>
            <a:spLocks noGrp="1"/>
          </p:cNvSpPr>
          <p:nvPr>
            <p:ph sz="quarter" idx="1"/>
          </p:nvPr>
        </p:nvSpPr>
        <p:spPr>
          <a:xfrm>
            <a:off x="457200" y="1295400"/>
            <a:ext cx="4572000" cy="5410200"/>
          </a:xfrm>
        </p:spPr>
        <p:txBody>
          <a:bodyPr>
            <a:normAutofit/>
          </a:bodyPr>
          <a:lstStyle/>
          <a:p>
            <a:r>
              <a:rPr lang="en-US" b="1" dirty="0">
                <a:latin typeface="Times New Roman" panose="02020603050405020304" pitchFamily="18" charset="0"/>
                <a:cs typeface="Times New Roman" panose="02020603050405020304" pitchFamily="18" charset="0"/>
              </a:rPr>
              <a:t>Sliding friction </a:t>
            </a:r>
            <a:r>
              <a:rPr lang="en-US" dirty="0">
                <a:latin typeface="Times New Roman" panose="02020603050405020304" pitchFamily="18" charset="0"/>
                <a:cs typeface="Times New Roman" panose="02020603050405020304" pitchFamily="18" charset="0"/>
              </a:rPr>
              <a:t>is friction that occurs when solid surfaces slide over one another. </a:t>
            </a:r>
          </a:p>
          <a:p>
            <a:r>
              <a:rPr lang="en-US" dirty="0">
                <a:latin typeface="Times New Roman" panose="02020603050405020304" pitchFamily="18" charset="0"/>
                <a:cs typeface="Times New Roman" panose="02020603050405020304" pitchFamily="18" charset="0"/>
              </a:rPr>
              <a:t>Examples: </a:t>
            </a:r>
          </a:p>
          <a:p>
            <a:pPr lvl="1"/>
            <a:r>
              <a:rPr lang="en-US" b="1" i="1" u="sng" dirty="0">
                <a:latin typeface="Times New Roman" panose="02020603050405020304" pitchFamily="18" charset="0"/>
                <a:cs typeface="Times New Roman" panose="02020603050405020304" pitchFamily="18" charset="0"/>
              </a:rPr>
              <a:t>Writing</a:t>
            </a:r>
            <a:r>
              <a:rPr lang="en-US" dirty="0">
                <a:latin typeface="Times New Roman" panose="02020603050405020304" pitchFamily="18" charset="0"/>
                <a:cs typeface="Times New Roman" panose="02020603050405020304" pitchFamily="18" charset="0"/>
              </a:rPr>
              <a:t> – pencil point and paper </a:t>
            </a:r>
          </a:p>
          <a:p>
            <a:pPr lvl="1"/>
            <a:r>
              <a:rPr lang="en-US" b="1" i="1" u="sng" dirty="0">
                <a:latin typeface="Times New Roman" panose="02020603050405020304" pitchFamily="18" charset="0"/>
                <a:cs typeface="Times New Roman" panose="02020603050405020304" pitchFamily="18" charset="0"/>
              </a:rPr>
              <a:t>Combing your hair </a:t>
            </a:r>
            <a:r>
              <a:rPr lang="en-US" dirty="0">
                <a:latin typeface="Times New Roman" panose="02020603050405020304" pitchFamily="18" charset="0"/>
                <a:cs typeface="Times New Roman" panose="02020603050405020304" pitchFamily="18" charset="0"/>
              </a:rPr>
              <a:t>– surface of comb and strands of hair </a:t>
            </a:r>
          </a:p>
          <a:p>
            <a:endParaRPr lang="en-US" dirty="0">
              <a:latin typeface="Times New Roman" panose="02020603050405020304" pitchFamily="18" charset="0"/>
              <a:cs typeface="Times New Roman" panose="02020603050405020304" pitchFamily="18" charset="0"/>
            </a:endParaRPr>
          </a:p>
        </p:txBody>
      </p:sp>
      <p:sp>
        <p:nvSpPr>
          <p:cNvPr id="4" name="AutoShape 2" descr="data:image/jpeg;base64,/9j/4AAQSkZJRgABAQAAAQABAAD/2wCEAAkGBhISDxIQEBIQEBAQEA8QDw8PEBAPDw8QFBAVFBQQFBQXHCYeFxkjGRQUHy8gIycpLCwsFR4xNTAqNSYrLCkBCQoKDgwOFA8PGikcHCQsKSkpKSkpKSkpKSkpKSwpKSwsKSwpKSkpLCkpLCkpKSkpKSksKSkpKSwpKSkpKSwpLP/AABEIAK4BIgMBIgACEQEDEQH/xAAcAAABBQEBAQAAAAAAAAAAAAAAAQIEBQYDBwj/xABAEAACAQICBggCCQEHBQAAAAAAAQIDEQQhBRIxQVGRBhMUFVJhcYFToRYiMkJikrHB0fEjM2NyouHwQ0SCwtL/xAAZAQADAQEBAAAAAAAAAAAAAAAAAQMCBAX/xAAjEQACAgIBBQEBAQEAAAAAAAAAAQIREhMhAxQxUWFBIrEE/9oADAMBAAIRAxEAPwCdUxF8h+GrveVNLFJsmUqnB+x4h65cxrp+vzHRxBWxqZ8GthKhK9hiLOjVyR2VnlJJ+TVyvjPO25EpVbRu9u4aMs4YzQGHqbYKL4xyZRY3oc1nRnf8MsnzNCq/NiSxFn5sbo1GUkYSthalJ2qRcfVZcyZgazWaNlKlGatNKSfEq6/Rj71F5bdV/syck/wsuonwzpo+pfMvMPIoMA7ZPJrai6oVBQZOaLCLKzpNoVYnDyhlrr61N8Jr9nsLCnI7IujnZ8/Y/BuEnGSalFtNPamtpWVaZ7N006IKvF1qStViryil/eJf+36nk2KwzTdzqhOyTVFVKIxolVKZwlE6E7JtHOwg5oRo0YoQQUBmRAAAAAABiAAAAAAAAAAAAAVCCgA+JPwhXxJ+EZlgy0QCJgIyXiq2JuGxpU9ZxFhUszymj26NLDEJ+pJo1+DM7QxVibTxO/gjAqNFRr3vffZHWpiNvCK+ZRUsZms91xy0jeLT9wsWJbxxGTk9yDCvWze/MrKmIThZb2ifhJWtbPYMK4LaMrRS3ydkWFFWSS5lVh6ylPyhkvUuIyRtE5EHSeA/6kVmvtJb1xImHxJfUzM6UoOlVa+7LOP7onNVyjUHf8suKGJJtKoZ3C4ktKFYIyFKBZSXzMD076Jpp4mjHNZ1YrevGl+vM3MqmV9vASc048lzLp1ySo+fK9EhTgbvpv0c6irrwX9lUbcbbIy3w/jyMbVpnVGVkmqILiMaJE4HJxLJmGjnYadGhtjRhoaAthBmRAFEAQAADEAAAAAAAAAAAAOTJGGq2ZFHRYmBdKuKQdcBGaL9VkdFMt9JdD5K7hyM/iMHVpv6yZ51Rl4PaUyZGZJp18imhi7bSXSxKZKUGiiaZY9c9qGTrPPzONOodVsJjo60sY7rgmaLBYz6t9+wyuoT8FWaE3Q3GzWYRWS83mXOHrXM9gq+si6wWSNRkQki3pPI4aTwCrUnH7yzg+D4e4+lK53pyKeSHh2YmlPVdnk07NcGi2wle5z6U6P1ZdfFZPKdtz3SKvCYyzRztYs6l/as1cKmX/NiCOb8k7+5CwuLVrvYS6ae1b7tIvF2Rao5aX0ZGvSlSlslmnvjLdJe541pTRsqVSVOatKLcX68fQ9vbyMr036PdZT7RFfXgrVEvvQ8Xqv09CsJUzDVnk9SkcJUi4q4Yjzw5dSJ4lW6YxwLN4cY8ObXUM4la4COBYvCjXhDWxGcCv1RLE94Qa8Ia2IT6ZBsBLeEY14RjzRjWyMISXhWN7Mx5IWtnADq8OxOpY8kLBnMB/VMTUY7Fixo6IagsYhYUyUAuoBkzR7nFpkfEaOhPak/YjwxXnY7QrveeRZ6lFDpHoZCV3HIzeL6NVaezNHpkal0NnQjLabU2CdHlCqyg7STRNo4pM22P6PU5XyT4FDiuhzWcHYHTLRmivgydQhciy0ZWpfag3FfeRMwU0yElRb84LfA0WX+EuU+j4l9h4CiQmT6EjuiIlvO8ahdM52dK1NTi4SV4yVmnwMPpDR8qFVwecXnCXGP8m2UjhpPRyrU3F5SWcJcJfwKccka6c8X8M3g6uwuKNRmcoXjLVeTTaa4NF9hJ3JQZeaLTCUteaju2v0R3xFFXaayas08009waNSjFye2X6HStPWzO1RWJyNvI8p6S6C6ivKK+w/rU3+F7vbZ7FJLCHqvSjRKq0NZfapXkvOP3l+/sYSWGJZUNFE8INeELt4UTsgZjKTsgdkLvsYjwgbAKTsgPBl32QOxhmBRdiE7F5F92MTsgbAKHsPkJ2HyNB2UTsqDYFGf7B5Cd3+RoeyidlDYFGe7u8hr0b5Gj7KgWE8h7GFGaei/ITuvyNM8IJ2Qe1ixRnu7hDQ9lA1uZnBFzHFZkqhis9v+5no1n7kyhidnFZnKdlGiVf8A3JFOpv8AIooYq/uyTLF+ezL3HZhouoVE7cRuunOyzUdvqV7x2rC+95R9TrgMorjtY7Fj+ltCmnk1kQtK9E4tdZRtGe2y2S9SXhZZ2f8AQtoy3cDdJrkxk4vgweBxtpOMlqyi7NeZeYfHIrumOjtSarwW37dv1IOCxd0c0k4s6OJqzX0K6ZKgzO4WuXGHxCNxlZGUaJ0EdNYjKoPU8vT9SqZOjO9IKWrX1lsqK79Vk/2JGj5XXojh0nl9akt6Uv2GaJrZ24knxI6krgi2oYi5PoSKDB1GpOL3N29NxeYWVysJkZxom6icWnscZJ8mecTpm/0rWnTwtWdODnNQerFbbPJy9k2zEYKPXQ14ZrY1vi+DHOLqznjJWyJ1QnVFp3ZPgOWiZ8CeLN5IquqE6kuFoifAd3LPgGLDJFJ1QdUXi0JMXuOQ8WLNFF1IdQXy0FIXuKQYyDNFB2cTs5oe4ZCrQEh4SFnEz3Zw7OaPuCXEPo/LigwkGcTOLDC9mNIujz3seuj3mGuQbImZ7MJ2U1K0AuI5aCXENchbEZTsoGu7jiA9cg2RPOZRHxXEdCSl9lpiuJJs7jtGpb2RzliXa3ncZJs5zWYholLHNyinsj+pfYPFJmVo09+8s8PV1Vfhu8wyobjZrcHPP9S1oz/UzWi67+9tZoKDyRtSshNUddIYVVKbi81ZnnNei6FZwf2W7x9OB6ZfIynSzRetHWW1ZoJci6UqdEPD4i9i2wtcy2jq7a/UuaM2Q8M6JI0FOtdEhT2FVh6pZYaN/QvB3wc8qirZC0roiVV68XnFWUXsa28yphSlCVmmn5mw1Rs6Ke1J+quVl0U/BCH/AEuPD5RQU5Xze3iWPe1OjDXqNRS3t7fRbW/IlrAw8MeRmulPQ91b1aLeulnTbbUv8l9j8jMei0+WOXXjLiik0j0/rPFKtTbjThlGnxjfNvzZdYdxrvtmAsq3/cYTYqvFpcf6o89rYSUZOMk007NNWaZoOjFKrSqQrpypxzamknkvw78r2Oy4xVM53Ft8HouFk5RvKnOlJNqUJq0otbV5rzO2odKtfWaqpqpRrZ060Fkn8OS3P+m0dqGWqMHLVDVOuqLqiEctUXUOuqCQActQNQ76oaoAcerDqztqiaoAc+rDqzrqgkAHLqxerOthUgA5dWHVnWwWADlqAdrAAHgKTTum0ybhtLSWU1dcd51lhrnKphfkcrkpeT2S1o1YTV4tPy3oHhyiVGUXeLaZZYTSb2TXuSca8DJ1GhmS6GHTlfchlBJq6zJ1FE7CyZo+lnc0FBZFRg2W1KZuLIzdkq5C0lTvBklSGV43RQmuGYKdDUrPhLP3LWhEdpbDf2keOb/YlYTDka5Om7VnfDUi6wdLK5X4eF8lvskXdOnZJcDq6Mf04uvLihqiLqj9UNU6DjG6gah0sFgAp9KdGqVeUajilOLX1rXUlfZJbyHp7op1tOLpScatO7jd2jL/AOXkrP2NNYWwqV2PJnn3R/T88NOUJwbjmsRhpZXttqQW6S3r39NYsbClCE+sdTDVpNUqtv7tWVoVHud7o59IOjccQlODVOvD7FTZe2xS/ncV2hIVcM5Rr0/7CplWhbWp3+LC10vTL9LaT/Ga8mnSDVKGhpWFCWpCca2Gu7ThK86Ce6VPakuXDgaGDTSaaaaTTWaae8Rhobqi2HaotgAZYLDrBYAG2DVHWFsADdULDgGIbYNUcKADNUNUfYB0AzVAfYBAeOui7X4HGpSz9F+paSicJwv7vM85M9pMrqlFuyX/ACx1w2DbeaLKnhzvDD8NryXoFjs40cFbZl6bAq6U6qSU1eL+8t3qi16pRj52M1pmGtf0YkrfIkzU4PGxaTTLCliDzzQmkJRy2rgazCY26E04uhOJoIV7nZSKmOLS2tJebDt+v9WDfnKz+RuNsjLg7Y7RTlPXU1sS1Xlb0Y+lhJJWyz2ttbDnSwMn95kiGiZeJl9aZHbKqLDDRhDfd8SSsTHiuZWw0L5s7R0GuLKLjwQly7ZNWIjxQ5V48VzIkdCR4vbxOi0LDz5mrZmkSFiI8VzDtEfEuaOK0LT4fNh3JS8PzY+RcHftEPFHmhViIeKPNEZ6Ao+H5sT6PUPB82HIuCYqseK5jk1xIsNC0VsgvmztHAU1shHkMODniNHUpu84Qk1slZKSflJZodh8JqO0MoPNQ3Re/VO8aSWxJeiH2ChWJYLCijAbYLCgACWEHWCwCG2FsKAwECw4B0AiQC2EAAALAAHkkcZGSyaDWM9R0VXv9WM/ZMt8HobFv7v5lY4pdFLwz1I9RfpZ0ZE+i0s2R8L0YxL+1NR/yr+Syo9DG/tznL3t8kT1sb6kSrx+lI22mfxNSVS6SaTyv5HoNLoVSS2FhQ6NUY2+qvcoum0YfWijzvRmiVkmnyNTgejcGk7PlY1NLRkI7IpeyJMaKRvD2Sl1r8FJQ6PUlb6t/XMsKOjIrZFL2J3VjrG1Ei5tkeGFS3HVUkdLAboxY2MB1gAYgaBoW4lwECCwAMQCiAABYAAACwAAAAAAAIAogAAChYYCAKAxAAAMBRLDgABtgHWEACqhgI8EdY4ZLcZn6QVPEC6QT4/I4d0fR04SNWqaHRRkpdIJ8Xy/2E78m975P+A3L0GtmwuGsY/vefGXJid6T/HyYb/ga/pstdeQdauKMb3hL/E5MV42XCpyf8i3v0Gv6bF148VzGvGQ8S5mQ7U/BU5B2h/DnyQt8vQa17NesZDxLmOWIjxRj1iH8OXyHLEy3Upc0Pe/Qaka9VlxXMXrFxRj+1T+G/zDli6ng/1Gt/wWr6a7rFxQnWLiuZku1VfAveQjxVXww/MG/wCBq+mu66PFcw7RHiuZke1VeFPmIsVV/wAPmHcfA1GueJj4lzE7XDxIyXa6nGmgeLqeOn8hdwPSap6Qgt9/Qb3nHz5GX7bU+JDkJ26pb+9jyM9wx6Uad6UXhkN70/BIy0sZP4y5De2T+P8AIz3D9j0o1T0k90GHeUvB8zJPFS315ew14l/GmLe/f+D0o2HeEvB8xO3y8K5mO67/ABZ8xvXL4s+Ydw/YaUbTvCXCPMTvJ/g/MYp1o+OfNjXVh4pcxdxIelG37y84L3E7y/FDmYd16fGT9xrxNPz5h3Eg0I3L0mvHAY9LR+LAxHa6XD5g8bS8uYb5BpRtnpmHxYnN6ep/F+SMW9IUuEeZzlpWnwjzFukPSjbd/UvisDEd70/w8wHun6DSiW9Pvww5B9IJcI/lL5YCn4Y8kKsDT8MeQqfs1x6M89PT8vyje/5/8iaVYaHhjyQvZ4+FckGL9jtejM9+1PP8onfNX8X5TU9THguSF6pcFyDH6Fr0ZTvatwn+UXvOvwqcjWKC4DtRBgGRke3V392pyDtWI8NQ12qCiGAZGR63EeCoGtifBU5mvURUGtBkY62I+HPmI6WJ+HLmbJCtBrQZGMWHxPw5cxexYr4b5mysLcNaDNmN7uxXg/1DlorFeGP5jYgPBBmzHPQ2K4R5irQWK/DzZsAuGCFmzIfR7FcYc2O+jmJ8UPma5DrjwQZsx/0YxPjh8xfotX+JHkzXXC4YIM2ZH6KV/irkC6I1virka4VBigzZkfofU+M+Qq6GT31pcjWXC4YiyZlfoW99aY76Er4tTmahgOgyZll0Hj8SpzHfQan458zUWDVChZMzS6D0d7n+Zj10Jofif/kzRpBYYZMoI9DMP4b+7HrobhvB+pepDkgoWTKL6G4bwL5gXlwGFs//2Q=="/>
          <p:cNvSpPr>
            <a:spLocks noChangeAspect="1" noChangeArrowheads="1"/>
          </p:cNvSpPr>
          <p:nvPr/>
        </p:nvSpPr>
        <p:spPr bwMode="auto">
          <a:xfrm>
            <a:off x="63500" y="-3841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2286000"/>
            <a:ext cx="1981200" cy="19316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descr="D:\Hai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0200" y="4419600"/>
            <a:ext cx="2043545" cy="2106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716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lumMod val="40000"/>
              <a:lumOff val="60000"/>
            </a:schemeClr>
          </a:solidFill>
        </p:spPr>
        <p:txBody>
          <a:bodyPr/>
          <a:lstStyle/>
          <a:p>
            <a:r>
              <a:rPr lang="en-US" dirty="0">
                <a:latin typeface="Times New Roman" panose="02020603050405020304" pitchFamily="18" charset="0"/>
                <a:cs typeface="Times New Roman" panose="02020603050405020304" pitchFamily="18" charset="0"/>
              </a:rPr>
              <a:t>Rolling Friction</a:t>
            </a:r>
          </a:p>
        </p:txBody>
      </p:sp>
      <p:sp>
        <p:nvSpPr>
          <p:cNvPr id="3" name="Content Placeholder 2"/>
          <p:cNvSpPr>
            <a:spLocks noGrp="1"/>
          </p:cNvSpPr>
          <p:nvPr>
            <p:ph sz="quarter" idx="1"/>
          </p:nvPr>
        </p:nvSpPr>
        <p:spPr>
          <a:xfrm>
            <a:off x="457200" y="1600200"/>
            <a:ext cx="4800600" cy="5054604"/>
          </a:xfrm>
        </p:spPr>
        <p:txBody>
          <a:bodyPr>
            <a:normAutofit/>
          </a:bodyPr>
          <a:lstStyle/>
          <a:p>
            <a:r>
              <a:rPr lang="en-US" b="1" dirty="0">
                <a:latin typeface="Times New Roman" panose="02020603050405020304" pitchFamily="18" charset="0"/>
                <a:cs typeface="Times New Roman" panose="02020603050405020304" pitchFamily="18" charset="0"/>
              </a:rPr>
              <a:t>Rolling friction </a:t>
            </a:r>
            <a:r>
              <a:rPr lang="en-US" dirty="0">
                <a:latin typeface="Times New Roman" panose="02020603050405020304" pitchFamily="18" charset="0"/>
                <a:cs typeface="Times New Roman" panose="02020603050405020304" pitchFamily="18" charset="0"/>
              </a:rPr>
              <a:t>is friction that occurs between surfaces in motion in which one of the surfaces is a wheel, roller, or ball. </a:t>
            </a:r>
          </a:p>
          <a:p>
            <a:r>
              <a:rPr lang="en-US" dirty="0">
                <a:latin typeface="Times New Roman" panose="02020603050405020304" pitchFamily="18" charset="0"/>
                <a:cs typeface="Times New Roman" panose="02020603050405020304" pitchFamily="18" charset="0"/>
              </a:rPr>
              <a:t>Examples: </a:t>
            </a:r>
          </a:p>
          <a:p>
            <a:pPr lvl="1"/>
            <a:r>
              <a:rPr lang="en-US" dirty="0">
                <a:latin typeface="Times New Roman" panose="02020603050405020304" pitchFamily="18" charset="0"/>
                <a:cs typeface="Times New Roman" panose="02020603050405020304" pitchFamily="18" charset="0"/>
              </a:rPr>
              <a:t>Driving a car – tires and road</a:t>
            </a:r>
          </a:p>
          <a:p>
            <a:pPr lvl="1"/>
            <a:r>
              <a:rPr lang="en-US" dirty="0">
                <a:latin typeface="Times New Roman" panose="02020603050405020304" pitchFamily="18" charset="0"/>
                <a:cs typeface="Times New Roman" panose="02020603050405020304" pitchFamily="18" charset="0"/>
              </a:rPr>
              <a:t>Bowling – ball and lane </a:t>
            </a:r>
          </a:p>
          <a:p>
            <a:endParaRPr lang="en-US" dirty="0">
              <a:latin typeface="Times New Roman" panose="02020603050405020304" pitchFamily="18" charset="0"/>
              <a:cs typeface="Times New Roman" panose="02020603050405020304" pitchFamily="18" charset="0"/>
            </a:endParaRPr>
          </a:p>
        </p:txBody>
      </p:sp>
      <p:sp>
        <p:nvSpPr>
          <p:cNvPr id="4" name="AutoShape 2" descr="data:image/jpeg;base64,/9j/4AAQSkZJRgABAQAAAQABAAD/2wCEAAkGBhQSEBUUEhQQFRUSFRAUFBQVDw8UEBcUFBQVFRcVFBQXHCYeFxkjGRQUHy8gIycpLCwsFR4xNTAqNSYrLCkBCQoKDgwOGA8PGikkHiQpLCktLCksLC4sKSwsKSkpKSksLCkpKSksLCwpNCksLC0pKSwpLCkpNCwpKSksLCkpLP/AABEIAQMAwgMBIgACEQEDEQH/xAAcAAABBAMBAAAAAAAAAAAAAAAAAQIDBAUGBwj/xAA9EAACAQIDBQUGAwcDBQAAAAAAAQIDEQQSIQUGBzFBE1FhcYEiMpGhscEjQlIUcoKS0eHwCGLCFiRDU7L/xAAaAQEBAAMBAQAAAAAAAAAAAAAAAQIDBQQG/8QAJxEBAAICAQQCAgIDAQAAAAAAAAECAxEEEiExQRNRBWEycSKhsRX/2gAMAwEAAhEDEQA/AOGgAAAAAAAAAAAAAAAAAAAAAAAAAAAAAAAAAAAAAAAAAAAAAAAAAAAAAAAAAAAAAAAAAAAAAAAAAAAAAAAAAAAAAAAAAAAAAAAAAAAAAAAAAAAAAAAAAAAAAAAAAAAAAAAAAAAAAAAAAG88OeH0doOUqspRhHSOSylKXVttPRaAaMBnN8d2ZYDFzoSeZK0oS6uDva/jo16HRuEfDzD4mg6uJpxqOpfKpXtGPJW15u17+IHHSahg5zvkjOWVXllhKVl3u3LkZvf3dtYHH1aEb5FaVO7u8kuSfk7r0O68GdgU6WDV4xzTipTbSbbaV7vw5egHmofh6EpyUYJylJpJLm2zc+MG7McHtOoqcVGlWSqQSVopvSUV6q/8RHwpwCqbQUpK6pxbX7zaS+TkBU27w2xuDw8cRWpWpSteUZKWRvkqiXK/errxNXPZu29mQr4GrRmrxqUZRa/h+TvqeMwJKOGlO+WMpWTbyxbsl1duSI2j0bwU3Xp0cPmlCPaVEnNtJu7Xu37lfly595yvjPu9Twe1ZxpJRhWhCuoJWjFzcoySXdmg36gaKB2fhdwow2KwzqYqMpSqRurTlHKnyta2vLmcv3s2E8Fja+Gbv2NRxUuri7Si345WgMQB0vdPg1PGYOVZ1MlRxzU4ZbxtzSn118OVznGIoyhOUJLLKDcZLqpRdmvigIwAAAAAAAAAAAAAAAAO2cDsUuxto2pyuvnr8TiZvfCzeaOEq1O0zODyNKKV76p835fAkzqNyzpS17RWsd5ZLjvKLxlK3Ps5X8syt9ze+DGNTwdO3SLT/hbT+hyPiVt2GLx7q082VQhFZkk9Lvkn4mxcKN84YOnNVVOSzuyjl0TSfVrrck2iI6vTOmDJfJ8VY/y+lTjfiVLaVlzjTV/Vux13hNj+0wtNrrCLfwV0ef8Afva6xW0K1aOZRk4qKdrpKKXTxu/U33hbxAhg8NlqQnO0pxWWUForO2r7pIWvFY3PhcfHyZMnxUjdvr+jf9QWIjLEUP1Ltl6fhmscKMZkx2X9cH/NGSa+WYg4lbxLGYvPG6io8nzTbd18kYjdTG9ljKM9dJWt35k1b5l3ExtrnHat+ifO9PWe19oqjgKtWTsoUZyb7rRZ47wqTnFS5OUb+V1c7RvrxVjW2XUw8aUoyqRjDN2kGrXV9F3q5xMlbxeNw2Z+PkwW6Mkal6u4fVfYaXQ4zx+xiqbXsv8Ax0KUJeDzTn9Jr4m4bo8RaOFhFzhUnnhF+zl52s/eaORb57Y/a8fiK6VlUqOyfO0Uoq/pFCt4tMxC5ONkx0re0aifH7ejeGVVfs0MvLJD/wCUcL4tYuNXbVfolKnCT8oxv8L29DfuHPEDD4bBQjV7TN2aXswuvZ9n7HGNq451q9Wq73q1Kk3fn7cm7fMsWiZmIYXw3pWtrRqJ8ft6m3Fko4ZW5ZfseYd6Jp47FNcniMQ15OrI7PsTiFh6GzZKU5dqqOiVOo1mcdPatbmcGnK7u3dvVvrcRaJ8JfFfHrqjW+8GgAFawAAAAAAAAAAAAAG28NVX/bVLDwjOahylbLlco35tdxqR2fhBsDsqfayXt1bPyj+VfO/qSY3GmeO/RaLa3pz7iHhq0NoVXiIxhOplnljbLa2VW1f6e8zfCOeJjWqSw9KNW+SMlKOZJJSf6lrqjcuM+7HbUY14L8SlfkneUHzWnW+q9e8yfCTd/wDZqKv78/am/wDc+notPQk13GmyuaIyfJMR/XpxDeylUjja6rQyVHUcpwtZRc7Ssld6arqbvwjx2JpQqvD4dVlKU814Skk40048n1bSMpxu3Tcq8MTRjeU3GnUSXNvSEvovVdxvvCfYKwuHjBc7Xk++T1b+Imu41tceaK5PkmsT57enn/felVWMm61NU5zSnkSskm2uV3bkzGbHi3iKVufaQfwkn9jtXHDdHOu3ivap3lp1j+dff495pPC3dftcUqzvlpu0fGbWr8kn8X4DWo012v1Xm2td/DK8Stv1sRs6lCeG7KMJwqOap1E7rtKajJuNtcyevgcrR7A3t3aWN2dVwzsnOmsravacbOMreDSPMGw92JTxfZVU12UmqsXbRwdnH1a+BKR0xqZbM+WuW/VWvT+nR9ysfiKGHjGODjVtRjq6cpa201Serv8AI5BtG/a1Lqz7SpdcrPM7qx6w3HweSk9Of+JHFeJfDucNsNU1ali26qko6QenaLzu7/x+DFazEz3XNmjJWtYrrX+0250K8dlVIwwarKdOpaq6bco582sX4JpnLGettytmRpYZU4q0VFRt4JWOE7T4cOltidBr8BPtou2nZyk7Q9HdeSLWupljlyxetaxGtR++65jsLWjsKUf2SOVRo3xOT21FShJvN5+z5M5jI9bYTY8amBnQkrwqU3Bq2lmjyxvBseWFxNWhP3qU3G/eucZesWn6itdJmy/JrtrUaY8AAyaQAAAAAAAAAAAC2At7HwXbV6dPpKSv5LV/JM9HbrYZRikvA4RuXQaxUXJaWlbvv/lzvu781ZWAk3xa7KK6yaS9S5uxQyxRid78Rmq0lorX8rpJGb2NUtDyQGI3tlmnGP6n9DZd26ahBGobUqqeNdr5YpWv0vqbjsf2kkuXUChvzFVKNrPW/NaGs7ibHhQjGEV7MNO+7vdv1bZte/FfLSsvL4lHdSCja4G3LEq3KXwOdbf3bhDHyrwjbt8ubT80Va/qsvwfedMTMNvJhrxjK2sWgJtg0ctMrb1bMVSnGVtYO6Ze2TUTjoT4+F6cvICnsOlaHojFb07KUqkKltU7X8H/AHSMzsqfsryRFt62ReaAdsqn7Bwv/UDsBQr0sTFJdonTnzu2vai/hm+CO7bOqWicw490u0wcUleSqwa7/dknb0bA8+ALKNnZiAAAAAAAADoQbdkm2+iV38DO4PddvWpK3+2PP1fQzWHwMKatCKX1fmzXbLEeGyMcy13CbvTlrP2V3c5f2MjHZEYL2Vr3vVmX7McqRonJMtkUiGJwM+zqxk/ytX8uTOybv45ZVZrocwlhk+aMzsXasqKStdLlrqkZUyR7Y2p9Ny3grXqRb6P6mZwOL/C9Dne1NvTqWyxSatzdzO7K27F09ZJO3JtXRti8SwmswuOX/cN3eqRvmxaqUUcsltiHbJKUW33NM3fY+0FZamUSx0XfXEZtO5oTYL5cjD7y7QWbVrV95PsbGl2N8w1WzXcyLb07QK+z8Rmt3Ixm9O1krRutWv6hGWwE1eJd2nWSpvyNZ2fjvd8yPebb8YQs5JOTsrsbXTNbLxSUUVd4MerJeKMHgduRUb5o/wAyNX2zvZnrezrCHVPm+9eBjN4hYrMui4PG2ic34nbVVSpCktct5y+i+5O99LQtGM720va1/iahiasqk3ObvKTu2acmSNahspSd92IxOzIVF7UU/Hk/iYTGbsSWtN5l3PSX9H8jbeyDIa65Jq2TSJc5q0nF2kmn3NNMYdExOAhUVpxUl4rVeTMBjt0OtKX8MvtI31zRPlptjmPDWgL72HX/APVP4CG3qj7YalvGUVUyZUx2U5+3t0hVMXKS5RVAmzSJUy3TokcI6l6ERs0rTpDeyLlanohkaZUVFR1Mrhdv1aeiyvzTv8mVHAVQ/wAsjKLTHiUmsSZtOrUru85JeCWn1M7sXayikqjV1a7el/EwkqQkaZlGSYYzTbosN66cYe/H0kvoaVtrbMq1ftFoo3UPLq35lF0gVP8AyxbZJkjHpk8NvJViuUNPPu8zH7Sxk60s03fuS5LyFjTHuka5vM+2UViFJUR0aRbVIFT1MWWkColavRszKqloU8XHVElYUsguQmyhkJtdIezDKTZQdMbNIezEJ+zEGzRlgyj1EXKQMyiqA9RFlKwDGi5h3oUu1QlLG2ZYGSqx0EhAjr4pKPmSYSqpIy9ojxUfogqZUrydreJHtzaEKNNzm7Lkl1k+iRoe09vzryvJtR/LBOSS8W7as34cNsk9mq94q2faG8tKPsxvN62d7QsvHn39DGT3pqfljCPPvl9efwNejGLd/u/6EsUunTW2rOzi4FfcPJbNLNf9T1b8oPvuvpYt0d63opw0709beRrsXr4Drrv+p6//ADaWjw1/NaPboGzsfSqv2Gs1m7O6ZfcTmFPTVNp8007NPwNn2DvXqqdd92Wp9pf1Oby/xd8cdVO8PTj5ETOrNryaEMo6ltLQowq3k/kcWez2J+hjqsszb+BaxlS3s9/PyKiRJlYgmUEh9gsYKZYLElgsF0YKOsIDRmUFEco3HsqI5OxUrVC3KNyliUWGMq1SqQ3HSHQjqvM2sD63JWv49w7D4zJq3pZt+SLdan7BrO8WJy08q5y5+S/vYyrXc6S1vbFbb2tPFVr6tJ5acEm3rorJc5NjK2AnTeWrCpTkknlnCUJWfJ5ZJOxt3Bba2Ew+0XUxcow/DkqVSbSpRm2r3b91uOifn3k/F7eujj8dF4dqVKjTdPtFFrPNzlKTi3zgtEvV9TucWmrRXTwXnfdFu5wnxuMwyxFNU4Rmm6aqOSnUS6pW9mL6N8zUqlJxk4yTjKLcZJqzUouzT8U0zqmwOOKw2Ap0P2aUqtGnGlCWeKovIssZSXNcldI5bXxEqk5Tm7yqSlOTta8ptybt5tnY4sZZtbrjt6ab69GxQ+w1IckdatGo+IZRUD5FtjiSJbZu5ttyh2M3rH3X1ce70+hmIw16mgYLEOE4yXOLTR0XZ81OKkuUkmvJq58L+X4nw5Ouvif+utxcvVXU+lWstf8ALjEW8dC0vQqtHFewqQ6w0ciGiWFQ6wlgoyAFwIaDQzmOYqRWJrRSxMS8yCpC5lEpMMU4hHmT16ViJI2xLXMLdbErJZc2abt+d6tuiyr7v6mztGqbWX41TzX0RvwfzasvhR7OxJBixjdWdlLpfk/XvEUWnZppn1HHhz7JExyYxSHRZ18bTJ8S/DZdTJmyu3fYq4RpTV+V0d32ftnArZeV5M2RpqyzZu+5sy5pxRWYrM7nXZIjbhNhUyXHSTqSceV3YhR6/TEqWqN83VxP4KT/ACuS+d/o0aVRp9e42fdn3J/v/wDFHzP56sfBv6l7uJ/Nm8ZLM9OhVsWWQyifEuvCMcDQkWA9CtDUOTIEuKOsAUxRBitjJP4sMTWwsKkDKqvVpXKc4WMqoFbEUTOJYTDHtGtbcpWrPxUX9vsbRKBiN4cNeKl+nR+T5fP6now21ZoyRurCOCaVx0KWlr3Xc9UvLuCk9DM7o0aM8dh44q3YSqxVS7tGzTyqT/S55U/Bn0mDJqNvDaGFlhm+VvjcIYdnbOMW6uEp4RYijCnSqwnSh+GlGNSE3lytLRtLVPmrPocgidPi8j5K9UNVqRCla3f8GWFXla15W9bFlIconRrdh0wqwotk9PDJc9SWwJmc3TRWjY93adqN/wBUpP8A4/Y1lJydl1sl5s3PCUMkIxX5Ul8Op8t+ezR0RT7l7uHT/KZWkNnEWI5nyLpqzQjRJOIwKEKhooDrANuAC3GCyBIoBEhWOiiIVDJofIYBBOgVK+DUk0+T0ZlGMyGUW0k125/i8I6VRxl6PvXRoan0Zu+09jxrQs9JL3ZdU/ujTsXg5UpZKis+j6NeD6na4fJie0+Xgy4pr39H1cVOaip1Kk4w91TqznGP7qk7R07gpshgTRid/FkeWYPHpjEOR7a5GGisSU7IbKqkZDZGxXValO6h075eXh4mrkcymGvVaWVMc3nULe7uz7/iyWn5PuzYBYxSVlolyQh8NyuTbkZJvLsYscUrqD4seiND0eVsJOJCyy0QziBGJFitCSQUtxRmcAFSFYIRhCpD0hIoWQDWxIhIVAIwiIx0UA4hrYWNROM4qSfRomYUyxOjTXcZud1pTt/tnqv5uZjJ7u4iL9y/7sk/ubyhD2Y+dlp7aLcelmjrY9fpTl62/qWKW7deXvZYrxd38EbmRzN8/lM0xqNQwji0YjAbuU4ay9uS6teyvKP9TKoVCHPyZb5J3edvRWkVjUHIRghZGtkREkWRjkBJEbKI4WQFZobYlnEjaIptgC4FCtgkIPighyGtjmMYCCsIiSIpCSIweioJCw5DZD4gOBCoRAPRHLkSIZLkIDIgwiKy6UgrAEQNHIaKgiSLHojix6AbJELRZkiGoiLCMBQCmokiIAYiQyQAUOQ18wAiiJJEQCoRj0ACQ8QAAehkgAsKYhZCAUKgQASwRiIAIhyJEABTkMkAAhEAARX/2Q=="/>
          <p:cNvSpPr>
            <a:spLocks noChangeAspect="1" noChangeArrowheads="1"/>
          </p:cNvSpPr>
          <p:nvPr/>
        </p:nvSpPr>
        <p:spPr bwMode="auto">
          <a:xfrm>
            <a:off x="63500" y="-3841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447800"/>
            <a:ext cx="2133600" cy="1828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4746" y="5123007"/>
            <a:ext cx="2627313" cy="1531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4746" y="3352800"/>
            <a:ext cx="2627313" cy="174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361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Limiting Friction</a:t>
            </a:r>
          </a:p>
        </p:txBody>
      </p:sp>
      <p:sp>
        <p:nvSpPr>
          <p:cNvPr id="3" name="Content Placeholder 2"/>
          <p:cNvSpPr>
            <a:spLocks noGrp="1"/>
          </p:cNvSpPr>
          <p:nvPr>
            <p:ph idx="1"/>
          </p:nvPr>
        </p:nvSpPr>
        <p:spPr>
          <a:xfrm>
            <a:off x="0" y="1600200"/>
            <a:ext cx="9144000" cy="4525963"/>
          </a:xfrm>
        </p:spPr>
        <p:txBody>
          <a:bodyPr>
            <a:normAutofit/>
          </a:bodyPr>
          <a:lstStyle/>
          <a:p>
            <a:pPr algn="just"/>
            <a:r>
              <a:rPr lang="en-US" dirty="0">
                <a:latin typeface="Times New Roman" panose="02020603050405020304" pitchFamily="18" charset="0"/>
                <a:cs typeface="Times New Roman" panose="02020603050405020304" pitchFamily="18" charset="0"/>
              </a:rPr>
              <a:t>The frictional force is just sufficient to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prevent motion up to a certain limit, hence the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name LIMITING FRICTION.</a:t>
            </a:r>
          </a:p>
          <a:p>
            <a:pPr algn="just"/>
            <a:r>
              <a:rPr lang="en-US" dirty="0">
                <a:latin typeface="Times New Roman" panose="02020603050405020304" pitchFamily="18" charset="0"/>
                <a:cs typeface="Times New Roman" panose="02020603050405020304" pitchFamily="18" charset="0"/>
              </a:rPr>
              <a:t>The limiting frictional force is proportional to  the normal reaction (pressure with which the surfaces are forced together) between the bodies in contact.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737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A69D7-8DE0-4EB7-9F8F-2D22198217E7}"/>
              </a:ext>
            </a:extLst>
          </p:cNvPr>
          <p:cNvSpPr>
            <a:spLocks noGrp="1"/>
          </p:cNvSpPr>
          <p:nvPr>
            <p:ph type="title"/>
          </p:nvPr>
        </p:nvSpPr>
        <p:spPr>
          <a:xfrm>
            <a:off x="457200" y="0"/>
            <a:ext cx="8229600" cy="1287463"/>
          </a:xfrm>
          <a:solidFill>
            <a:schemeClr val="accent3">
              <a:lumMod val="60000"/>
              <a:lumOff val="40000"/>
            </a:schemeClr>
          </a:solidFill>
        </p:spPr>
        <p:txBody>
          <a:bodyPr>
            <a:noAutofit/>
          </a:bodyPr>
          <a:lstStyle/>
          <a:p>
            <a:r>
              <a:rPr lang="en-US" sz="5000" b="1" dirty="0">
                <a:latin typeface="Times New Roman" panose="02020603050405020304" pitchFamily="18" charset="0"/>
                <a:cs typeface="Times New Roman" panose="02020603050405020304" pitchFamily="18" charset="0"/>
              </a:rPr>
              <a:t>Limiting friction</a:t>
            </a:r>
            <a:br>
              <a:rPr lang="en-US" sz="5000" b="1" dirty="0">
                <a:latin typeface="Times New Roman" panose="02020603050405020304" pitchFamily="18" charset="0"/>
                <a:cs typeface="Times New Roman" panose="02020603050405020304" pitchFamily="18" charset="0"/>
              </a:rPr>
            </a:br>
            <a:endParaRPr lang="en-US" sz="5000" b="1"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EF815966-D250-448C-878D-C8E33DBF1E78}"/>
              </a:ext>
            </a:extLst>
          </p:cNvPr>
          <p:cNvSpPr>
            <a:spLocks noGrp="1"/>
          </p:cNvSpPr>
          <p:nvPr>
            <p:ph idx="1"/>
          </p:nvPr>
        </p:nvSpPr>
        <p:spPr>
          <a:xfrm>
            <a:off x="0" y="1287463"/>
            <a:ext cx="9144000" cy="5410200"/>
          </a:xfrm>
        </p:spPr>
        <p:txBody>
          <a:bodyPr>
            <a:normAutofit/>
          </a:bodyPr>
          <a:lstStyle/>
          <a:p>
            <a:pPr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On increasing external force(P) , static friction forces(F) also increases.</a:t>
            </a:r>
          </a:p>
          <a:p>
            <a:pPr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If the applied force exceeds a certain(maximum) value, the body starts moving.</a:t>
            </a:r>
          </a:p>
          <a:p>
            <a:pPr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This maximum value of static friction up to which body does not move is called limiting friction.</a:t>
            </a:r>
          </a:p>
        </p:txBody>
      </p:sp>
    </p:spTree>
    <p:extLst>
      <p:ext uri="{BB962C8B-B14F-4D97-AF65-F5344CB8AC3E}">
        <p14:creationId xmlns:p14="http://schemas.microsoft.com/office/powerpoint/2010/main" val="1257752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9B605-53B8-A43E-69FF-AFC35B37552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Impending motion</a:t>
            </a:r>
          </a:p>
        </p:txBody>
      </p:sp>
      <p:sp>
        <p:nvSpPr>
          <p:cNvPr id="3" name="Content Placeholder 2">
            <a:extLst>
              <a:ext uri="{FF2B5EF4-FFF2-40B4-BE49-F238E27FC236}">
                <a16:creationId xmlns:a16="http://schemas.microsoft.com/office/drawing/2014/main" id="{D93AEDBF-1D3C-F106-DB43-07A1B9409495}"/>
              </a:ext>
            </a:extLst>
          </p:cNvPr>
          <p:cNvSpPr>
            <a:spLocks noGrp="1"/>
          </p:cNvSpPr>
          <p:nvPr>
            <p:ph idx="1"/>
          </p:nvPr>
        </p:nvSpPr>
        <p:spPr/>
        <p:txBody>
          <a:bodyPr>
            <a:normAutofit/>
          </a:bodyPr>
          <a:lstStyle/>
          <a:p>
            <a:pPr algn="just"/>
            <a:r>
              <a:rPr lang="en-US" sz="3600" b="1" dirty="0">
                <a:latin typeface="Times New Roman" panose="02020603050405020304" pitchFamily="18" charset="0"/>
                <a:cs typeface="Times New Roman" panose="02020603050405020304" pitchFamily="18" charset="0"/>
              </a:rPr>
              <a:t>When an object is just about to slip from any surface</a:t>
            </a:r>
            <a:r>
              <a:rPr lang="en-US" sz="3600" dirty="0">
                <a:latin typeface="Times New Roman" panose="02020603050405020304" pitchFamily="18" charset="0"/>
                <a:cs typeface="Times New Roman" panose="02020603050405020304" pitchFamily="18" charset="0"/>
              </a:rPr>
              <a:t> then the state of the object is known as impending motion. When the static friction reaches its maximum limit then the impending motion occurs.</a:t>
            </a:r>
          </a:p>
          <a:p>
            <a:pPr algn="just"/>
            <a:endParaRPr lang="en-US" sz="3600" dirty="0">
              <a:latin typeface="Times New Roman" panose="02020603050405020304" pitchFamily="18" charset="0"/>
              <a:cs typeface="Times New Roman" panose="02020603050405020304" pitchFamily="18" charset="0"/>
            </a:endParaRPr>
          </a:p>
          <a:p>
            <a:pPr algn="just"/>
            <a:endParaRPr lang="en-US" sz="3600" dirty="0">
              <a:latin typeface="Times New Roman" panose="02020603050405020304" pitchFamily="18" charset="0"/>
              <a:cs typeface="Times New Roman" panose="02020603050405020304" pitchFamily="18" charset="0"/>
            </a:endParaRPr>
          </a:p>
          <a:p>
            <a:pPr algn="just"/>
            <a:endParaRPr lang="en-US" sz="36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FDD4F7C2-9345-847B-4206-7823AB66CD36}"/>
              </a:ext>
            </a:extLst>
          </p:cNvPr>
          <p:cNvSpPr txBox="1">
            <a:spLocks noChangeArrowheads="1"/>
          </p:cNvSpPr>
          <p:nvPr/>
        </p:nvSpPr>
        <p:spPr bwMode="auto">
          <a:xfrm>
            <a:off x="457200" y="5153799"/>
            <a:ext cx="868680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0" fontAlgn="base" hangingPunct="0">
              <a:spcBef>
                <a:spcPct val="0"/>
              </a:spcBef>
              <a:spcAft>
                <a:spcPct val="0"/>
              </a:spcAft>
            </a:pPr>
            <a:r>
              <a:rPr lang="en-US" altLang="en-US" sz="3600" dirty="0">
                <a:latin typeface="Times New Roman" panose="02020603050405020304" pitchFamily="18" charset="0"/>
                <a:cs typeface="Times New Roman" panose="02020603050405020304" pitchFamily="18" charset="0"/>
              </a:rPr>
              <a:t>The mathematical formula of the impending motion is </a:t>
            </a:r>
            <a:r>
              <a:rPr lang="en-US" altLang="en-US" sz="3600" i="1" dirty="0">
                <a:latin typeface="Times New Roman" panose="02020603050405020304" pitchFamily="18" charset="0"/>
                <a:cs typeface="Times New Roman" panose="02020603050405020304" pitchFamily="18" charset="0"/>
              </a:rPr>
              <a:t>F</a:t>
            </a:r>
            <a:r>
              <a:rPr lang="en-US" altLang="en-US" sz="3600" dirty="0">
                <a:latin typeface="Times New Roman" panose="02020603050405020304" pitchFamily="18" charset="0"/>
                <a:cs typeface="Times New Roman" panose="02020603050405020304" pitchFamily="18" charset="0"/>
              </a:rPr>
              <a:t>=</a:t>
            </a:r>
            <a:r>
              <a:rPr lang="en-US" altLang="en-US" sz="3600" i="1" dirty="0" err="1">
                <a:latin typeface="Times New Roman" panose="02020603050405020304" pitchFamily="18" charset="0"/>
                <a:cs typeface="Times New Roman" panose="02020603050405020304" pitchFamily="18" charset="0"/>
              </a:rPr>
              <a:t>μsN</a:t>
            </a:r>
            <a:r>
              <a:rPr lang="en-US" altLang="en-US" sz="4000" dirty="0"/>
              <a:t>. </a:t>
            </a:r>
            <a:endParaRPr lang="en-US" altLang="en-US" sz="4000" dirty="0">
              <a:latin typeface="Arial" panose="020B0604020202020204" pitchFamily="34" charset="0"/>
            </a:endParaRPr>
          </a:p>
        </p:txBody>
      </p:sp>
    </p:spTree>
    <p:extLst>
      <p:ext uri="{BB962C8B-B14F-4D97-AF65-F5344CB8AC3E}">
        <p14:creationId xmlns:p14="http://schemas.microsoft.com/office/powerpoint/2010/main" val="1727485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7563-3B26-1EB8-A331-E2AEA411A425}"/>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C661B9D5-F5FC-02D8-7EA9-2BB6CBD210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8011" y="1981200"/>
            <a:ext cx="7720189" cy="4510087"/>
          </a:xfrm>
        </p:spPr>
      </p:pic>
    </p:spTree>
    <p:extLst>
      <p:ext uri="{BB962C8B-B14F-4D97-AF65-F5344CB8AC3E}">
        <p14:creationId xmlns:p14="http://schemas.microsoft.com/office/powerpoint/2010/main" val="3161243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8EF82-1E0F-43AA-9368-2021FD244B8E}"/>
              </a:ext>
            </a:extLst>
          </p:cNvPr>
          <p:cNvSpPr>
            <a:spLocks noGrp="1"/>
          </p:cNvSpPr>
          <p:nvPr>
            <p:ph type="title"/>
          </p:nvPr>
        </p:nvSpPr>
        <p:spPr>
          <a:xfrm>
            <a:off x="304800" y="193397"/>
            <a:ext cx="7886700" cy="1013824"/>
          </a:xfrm>
          <a:solidFill>
            <a:schemeClr val="accent3">
              <a:lumMod val="60000"/>
              <a:lumOff val="40000"/>
            </a:schemeClr>
          </a:solidFill>
        </p:spPr>
        <p:txBody>
          <a:bodyPr>
            <a:normAutofit/>
          </a:bodyPr>
          <a:lstStyle/>
          <a:p>
            <a:r>
              <a:rPr lang="en-US" b="1" dirty="0">
                <a:latin typeface="Times New Roman" panose="02020603050405020304" pitchFamily="18" charset="0"/>
                <a:cs typeface="Times New Roman" panose="02020603050405020304" pitchFamily="18" charset="0"/>
              </a:rPr>
              <a:t>Angle of friction </a:t>
            </a:r>
          </a:p>
        </p:txBody>
      </p:sp>
      <p:sp>
        <p:nvSpPr>
          <p:cNvPr id="3" name="Content Placeholder 2">
            <a:extLst>
              <a:ext uri="{FF2B5EF4-FFF2-40B4-BE49-F238E27FC236}">
                <a16:creationId xmlns:a16="http://schemas.microsoft.com/office/drawing/2014/main" id="{D6BC9273-127E-49F5-B24E-9839C555757F}"/>
              </a:ext>
            </a:extLst>
          </p:cNvPr>
          <p:cNvSpPr>
            <a:spLocks noGrp="1"/>
          </p:cNvSpPr>
          <p:nvPr>
            <p:ph idx="1"/>
          </p:nvPr>
        </p:nvSpPr>
        <p:spPr>
          <a:xfrm>
            <a:off x="0" y="1207221"/>
            <a:ext cx="9144000" cy="3263504"/>
          </a:xfrm>
        </p:spPr>
        <p:txBody>
          <a:bodyPr/>
          <a:lstStyle/>
          <a:p>
            <a:pPr algn="just"/>
            <a:r>
              <a:rPr lang="en-US" dirty="0">
                <a:latin typeface="Times New Roman" panose="02020603050405020304" pitchFamily="18" charset="0"/>
                <a:cs typeface="Times New Roman" panose="02020603050405020304" pitchFamily="18" charset="0"/>
              </a:rPr>
              <a:t>The angle between normal reaction (N/RN</a:t>
            </a:r>
            <a:r>
              <a:rPr lang="en-US" altLang="ko-K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resultant (R) of friction force with the normal reaction is called angle of friction (∅).</a:t>
            </a:r>
          </a:p>
          <a:p>
            <a:pPr marL="0" indent="0" algn="just">
              <a:buNone/>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B35885-92D3-42A6-8532-5F39EDAA9E69}"/>
              </a:ext>
            </a:extLst>
          </p:cNvPr>
          <p:cNvPicPr>
            <a:picLocks noChangeAspect="1"/>
          </p:cNvPicPr>
          <p:nvPr/>
        </p:nvPicPr>
        <p:blipFill>
          <a:blip r:embed="rId2"/>
          <a:stretch>
            <a:fillRect/>
          </a:stretch>
        </p:blipFill>
        <p:spPr>
          <a:xfrm>
            <a:off x="1752600" y="3475617"/>
            <a:ext cx="4495800" cy="3143916"/>
          </a:xfrm>
          <a:prstGeom prst="rect">
            <a:avLst/>
          </a:prstGeom>
        </p:spPr>
      </p:pic>
      <p:sp>
        <p:nvSpPr>
          <p:cNvPr id="5" name="TextBox 4">
            <a:extLst>
              <a:ext uri="{FF2B5EF4-FFF2-40B4-BE49-F238E27FC236}">
                <a16:creationId xmlns:a16="http://schemas.microsoft.com/office/drawing/2014/main" id="{9CE5739A-7EC9-4640-BF85-CA0C1C024DCB}"/>
              </a:ext>
            </a:extLst>
          </p:cNvPr>
          <p:cNvSpPr txBox="1"/>
          <p:nvPr/>
        </p:nvSpPr>
        <p:spPr>
          <a:xfrm>
            <a:off x="4541520" y="3733800"/>
            <a:ext cx="1249680" cy="600164"/>
          </a:xfrm>
          <a:prstGeom prst="rect">
            <a:avLst/>
          </a:prstGeom>
          <a:noFill/>
        </p:spPr>
        <p:txBody>
          <a:bodyPr wrap="square" rtlCol="0">
            <a:spAutoFit/>
          </a:bodyPr>
          <a:lstStyle/>
          <a:p>
            <a:r>
              <a:rPr lang="en-US" sz="3300" b="1" dirty="0">
                <a:solidFill>
                  <a:schemeClr val="tx1">
                    <a:lumMod val="95000"/>
                    <a:lumOff val="5000"/>
                  </a:schemeClr>
                </a:solidFill>
                <a:latin typeface="Times New Roman" panose="02020603050405020304" pitchFamily="18" charset="0"/>
                <a:cs typeface="Times New Roman" panose="02020603050405020304" pitchFamily="18" charset="0"/>
              </a:rPr>
              <a:t>/ N </a:t>
            </a:r>
          </a:p>
        </p:txBody>
      </p:sp>
    </p:spTree>
    <p:extLst>
      <p:ext uri="{BB962C8B-B14F-4D97-AF65-F5344CB8AC3E}">
        <p14:creationId xmlns:p14="http://schemas.microsoft.com/office/powerpoint/2010/main" val="326920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732"/>
            <a:ext cx="8229600" cy="936840"/>
          </a:xfrm>
          <a:solidFill>
            <a:schemeClr val="accent3">
              <a:lumMod val="60000"/>
              <a:lumOff val="40000"/>
            </a:schemeClr>
          </a:solidFill>
        </p:spPr>
        <p:txBody>
          <a:bodyPr>
            <a:normAutofit fontScale="90000"/>
          </a:bodyPr>
          <a:lstStyle/>
          <a:p>
            <a:r>
              <a:rPr lang="en-US" b="1" dirty="0">
                <a:latin typeface="Times New Roman" panose="02020603050405020304" pitchFamily="18" charset="0"/>
                <a:cs typeface="Times New Roman" panose="02020603050405020304" pitchFamily="18" charset="0"/>
              </a:rPr>
              <a:t>COEFFICIENT OF FRICTION</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3754" y="1079571"/>
            <a:ext cx="8229600" cy="4525963"/>
          </a:xfrm>
        </p:spPr>
        <p:txBody>
          <a:bodyPr/>
          <a:lstStyle/>
          <a:p>
            <a:pPr algn="just"/>
            <a:r>
              <a:rPr lang="en-US" dirty="0">
                <a:latin typeface="Times New Roman" panose="02020603050405020304" pitchFamily="18" charset="0"/>
                <a:cs typeface="Times New Roman" panose="02020603050405020304" pitchFamily="18" charset="0"/>
              </a:rPr>
              <a:t>It is the ratio of </a:t>
            </a:r>
            <a:r>
              <a:rPr lang="en-US" b="1" i="1" dirty="0">
                <a:latin typeface="Times New Roman" panose="02020603050405020304" pitchFamily="18" charset="0"/>
                <a:cs typeface="Times New Roman" panose="02020603050405020304" pitchFamily="18" charset="0"/>
              </a:rPr>
              <a:t>limiting friction </a:t>
            </a:r>
            <a:r>
              <a:rPr lang="en-US" dirty="0">
                <a:latin typeface="Times New Roman" panose="02020603050405020304" pitchFamily="18" charset="0"/>
                <a:cs typeface="Times New Roman" panose="02020603050405020304" pitchFamily="18" charset="0"/>
              </a:rPr>
              <a:t>to the </a:t>
            </a:r>
            <a:r>
              <a:rPr lang="en-US" b="1" i="1" dirty="0">
                <a:latin typeface="Times New Roman" panose="02020603050405020304" pitchFamily="18" charset="0"/>
                <a:cs typeface="Times New Roman" panose="02020603050405020304" pitchFamily="18" charset="0"/>
              </a:rPr>
              <a:t>normal reaction</a:t>
            </a:r>
            <a:r>
              <a:rPr lang="en-US" dirty="0">
                <a:latin typeface="Times New Roman" panose="02020603050405020304" pitchFamily="18" charset="0"/>
                <a:cs typeface="Times New Roman" panose="02020603050405020304" pitchFamily="18" charset="0"/>
              </a:rPr>
              <a:t>, between the two bodies, and is generally</a:t>
            </a:r>
          </a:p>
          <a:p>
            <a:pPr algn="just"/>
            <a:r>
              <a:rPr lang="en-US" dirty="0">
                <a:latin typeface="Times New Roman" panose="02020603050405020304" pitchFamily="18" charset="0"/>
                <a:cs typeface="Times New Roman" panose="02020603050405020304" pitchFamily="18" charset="0"/>
              </a:rPr>
              <a:t>Denoted by </a:t>
            </a:r>
            <a:r>
              <a:rPr lang="el-GR" dirty="0">
                <a:latin typeface="Times New Roman" panose="02020603050405020304" pitchFamily="18" charset="0"/>
                <a:cs typeface="Times New Roman" panose="02020603050405020304" pitchFamily="18" charset="0"/>
              </a:rPr>
              <a:t>μ.</a:t>
            </a:r>
          </a:p>
          <a:p>
            <a:pPr algn="just"/>
            <a:r>
              <a:rPr lang="en-US" dirty="0">
                <a:latin typeface="Times New Roman" panose="02020603050405020304" pitchFamily="18" charset="0"/>
                <a:cs typeface="Times New Roman" panose="02020603050405020304" pitchFamily="18" charset="0"/>
              </a:rPr>
              <a:t>Mathematically, coefficient of friction,</a:t>
            </a:r>
          </a:p>
          <a:p>
            <a:pPr algn="just"/>
            <a:endParaRPr lang="en-US" dirty="0">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4808" b="10735"/>
          <a:stretch/>
        </p:blipFill>
        <p:spPr bwMode="auto">
          <a:xfrm>
            <a:off x="304799" y="4038600"/>
            <a:ext cx="8704381" cy="2285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9190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ADC1D-0184-404D-AC3B-5BD56A40D22F}"/>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310602EF-83FA-44C6-BDCE-5D1E25E4E2AB}"/>
              </a:ext>
            </a:extLst>
          </p:cNvPr>
          <p:cNvPicPr>
            <a:picLocks noGrp="1" noChangeAspect="1"/>
          </p:cNvPicPr>
          <p:nvPr>
            <p:ph idx="1"/>
          </p:nvPr>
        </p:nvPicPr>
        <p:blipFill>
          <a:blip r:embed="rId2"/>
          <a:stretch>
            <a:fillRect/>
          </a:stretch>
        </p:blipFill>
        <p:spPr>
          <a:xfrm>
            <a:off x="38100" y="0"/>
            <a:ext cx="9067800" cy="6858000"/>
          </a:xfrm>
          <a:prstGeom prst="rect">
            <a:avLst/>
          </a:prstGeom>
        </p:spPr>
      </p:pic>
      <p:sp>
        <p:nvSpPr>
          <p:cNvPr id="5" name="Rectangle 4">
            <a:extLst>
              <a:ext uri="{FF2B5EF4-FFF2-40B4-BE49-F238E27FC236}">
                <a16:creationId xmlns:a16="http://schemas.microsoft.com/office/drawing/2014/main" id="{A91DD5C7-ACD3-492C-ACBE-8DE6F7540CA7}"/>
              </a:ext>
            </a:extLst>
          </p:cNvPr>
          <p:cNvSpPr/>
          <p:nvPr/>
        </p:nvSpPr>
        <p:spPr>
          <a:xfrm>
            <a:off x="457200" y="6477000"/>
            <a:ext cx="8458200" cy="381000"/>
          </a:xfrm>
          <a:prstGeom prst="rect">
            <a:avLst/>
          </a:prstGeom>
          <a:noFill/>
          <a:ln w="571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C50AEB6-111B-495D-B417-66A30796F594}"/>
              </a:ext>
            </a:extLst>
          </p:cNvPr>
          <p:cNvSpPr txBox="1"/>
          <p:nvPr/>
        </p:nvSpPr>
        <p:spPr>
          <a:xfrm>
            <a:off x="609600" y="152400"/>
            <a:ext cx="51288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 /</a:t>
            </a:r>
          </a:p>
        </p:txBody>
      </p:sp>
      <p:sp>
        <p:nvSpPr>
          <p:cNvPr id="7" name="Rectangle 6">
            <a:extLst>
              <a:ext uri="{FF2B5EF4-FFF2-40B4-BE49-F238E27FC236}">
                <a16:creationId xmlns:a16="http://schemas.microsoft.com/office/drawing/2014/main" id="{392E298C-C190-41C5-9750-11496B899104}"/>
              </a:ext>
            </a:extLst>
          </p:cNvPr>
          <p:cNvSpPr/>
          <p:nvPr/>
        </p:nvSpPr>
        <p:spPr>
          <a:xfrm>
            <a:off x="2743200" y="160338"/>
            <a:ext cx="512885"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latin typeface="Times New Roman" panose="02020603050405020304" pitchFamily="18" charset="0"/>
                <a:cs typeface="Times New Roman" panose="02020603050405020304" pitchFamily="18" charset="0"/>
              </a:rPr>
              <a:t>/ N</a:t>
            </a:r>
          </a:p>
        </p:txBody>
      </p:sp>
    </p:spTree>
    <p:extLst>
      <p:ext uri="{BB962C8B-B14F-4D97-AF65-F5344CB8AC3E}">
        <p14:creationId xmlns:p14="http://schemas.microsoft.com/office/powerpoint/2010/main" val="2260628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3F230-CE8A-4D81-8893-89D14AEB01BE}"/>
              </a:ext>
            </a:extLst>
          </p:cNvPr>
          <p:cNvSpPr>
            <a:spLocks noGrp="1"/>
          </p:cNvSpPr>
          <p:nvPr>
            <p:ph type="title"/>
          </p:nvPr>
        </p:nvSpPr>
        <p:spPr>
          <a:solidFill>
            <a:schemeClr val="accent2">
              <a:lumMod val="40000"/>
              <a:lumOff val="60000"/>
            </a:schemeClr>
          </a:solidFill>
        </p:spPr>
        <p:txBody>
          <a:bodyPr/>
          <a:lstStyle/>
          <a:p>
            <a:r>
              <a:rPr lang="en-US" b="1" dirty="0">
                <a:latin typeface="Times New Roman" panose="02020603050405020304" pitchFamily="18" charset="0"/>
                <a:cs typeface="Times New Roman" panose="02020603050405020304" pitchFamily="18" charset="0"/>
              </a:rPr>
              <a:t>Laws of friction(Dry friction)</a:t>
            </a:r>
          </a:p>
        </p:txBody>
      </p:sp>
      <p:sp>
        <p:nvSpPr>
          <p:cNvPr id="3" name="Content Placeholder 2">
            <a:extLst>
              <a:ext uri="{FF2B5EF4-FFF2-40B4-BE49-F238E27FC236}">
                <a16:creationId xmlns:a16="http://schemas.microsoft.com/office/drawing/2014/main" id="{B950041B-DD8A-4C3E-A69A-1CCDDEB69381}"/>
              </a:ext>
            </a:extLst>
          </p:cNvPr>
          <p:cNvSpPr>
            <a:spLocks noGrp="1"/>
          </p:cNvSpPr>
          <p:nvPr>
            <p:ph idx="1"/>
          </p:nvPr>
        </p:nvSpPr>
        <p:spPr>
          <a:xfrm>
            <a:off x="0" y="1428188"/>
            <a:ext cx="9067800" cy="5429811"/>
          </a:xfrm>
        </p:spPr>
        <p:txBody>
          <a:bodyPr>
            <a:noAutofit/>
          </a:bodyPr>
          <a:lstStyle/>
          <a:p>
            <a:pPr marL="514350" indent="-514350" algn="just">
              <a:buFont typeface="+mj-lt"/>
              <a:buAutoNum type="arabicPeriod"/>
            </a:pPr>
            <a:r>
              <a:rPr lang="en-US" sz="3400" dirty="0">
                <a:latin typeface="Times New Roman" panose="02020603050405020304" pitchFamily="18" charset="0"/>
                <a:cs typeface="Times New Roman" panose="02020603050405020304" pitchFamily="18" charset="0"/>
              </a:rPr>
              <a:t>The force of friction acts in the opposite direction in which surface is having tendency to move.</a:t>
            </a:r>
          </a:p>
          <a:p>
            <a:pPr marL="514350" indent="-514350" algn="just">
              <a:buFont typeface="+mj-lt"/>
              <a:buAutoNum type="arabicPeriod"/>
            </a:pPr>
            <a:r>
              <a:rPr lang="en-US" sz="3400" dirty="0">
                <a:latin typeface="Times New Roman" panose="02020603050405020304" pitchFamily="18" charset="0"/>
                <a:cs typeface="Times New Roman" panose="02020603050405020304" pitchFamily="18" charset="0"/>
              </a:rPr>
              <a:t>The force of friction is equal to the force applied to the surface, so long as the surface is at rest.</a:t>
            </a:r>
          </a:p>
          <a:p>
            <a:pPr marL="514350" indent="-514350" algn="just">
              <a:buFont typeface="+mj-lt"/>
              <a:buAutoNum type="arabicPeriod"/>
            </a:pPr>
            <a:r>
              <a:rPr lang="en-US" sz="3400" dirty="0">
                <a:latin typeface="Times New Roman" panose="02020603050405020304" pitchFamily="18" charset="0"/>
                <a:cs typeface="Times New Roman" panose="02020603050405020304" pitchFamily="18" charset="0"/>
              </a:rPr>
              <a:t>When the surface is on the point of motion , the force of friction is maximum and this maximum frictional force is called the limiting frictional force.</a:t>
            </a:r>
          </a:p>
        </p:txBody>
      </p:sp>
    </p:spTree>
    <p:extLst>
      <p:ext uri="{BB962C8B-B14F-4D97-AF65-F5344CB8AC3E}">
        <p14:creationId xmlns:p14="http://schemas.microsoft.com/office/powerpoint/2010/main" val="2536149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D585BD-9703-4B88-85E9-A25A753DE965}"/>
              </a:ext>
            </a:extLst>
          </p:cNvPr>
          <p:cNvSpPr>
            <a:spLocks noGrp="1"/>
          </p:cNvSpPr>
          <p:nvPr>
            <p:ph idx="1"/>
          </p:nvPr>
        </p:nvSpPr>
        <p:spPr>
          <a:xfrm>
            <a:off x="0" y="76200"/>
            <a:ext cx="9144000" cy="6629400"/>
          </a:xfrm>
        </p:spPr>
        <p:txBody>
          <a:bodyPr>
            <a:normAutofit lnSpcReduction="10000"/>
          </a:bodyPr>
          <a:lstStyle/>
          <a:p>
            <a:pPr marL="0" indent="0" algn="just">
              <a:buNone/>
            </a:pPr>
            <a:r>
              <a:rPr lang="en-US" sz="3900" dirty="0">
                <a:solidFill>
                  <a:schemeClr val="tx1">
                    <a:lumMod val="95000"/>
                    <a:lumOff val="5000"/>
                  </a:schemeClr>
                </a:solidFill>
                <a:latin typeface="Times New Roman" panose="02020603050405020304" pitchFamily="18" charset="0"/>
                <a:cs typeface="Times New Roman" panose="02020603050405020304" pitchFamily="18" charset="0"/>
              </a:rPr>
              <a:t>5.The limiting frictional force does not depend upon the shape and area of surfaces in contact.</a:t>
            </a:r>
          </a:p>
          <a:p>
            <a:pPr marL="0" indent="0" algn="just">
              <a:buNone/>
            </a:pPr>
            <a:endParaRPr lang="en-US" sz="39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sz="3900" dirty="0">
                <a:solidFill>
                  <a:schemeClr val="tx1">
                    <a:lumMod val="95000"/>
                    <a:lumOff val="5000"/>
                  </a:schemeClr>
                </a:solidFill>
                <a:latin typeface="Times New Roman" panose="02020603050405020304" pitchFamily="18" charset="0"/>
                <a:cs typeface="Times New Roman" panose="02020603050405020304" pitchFamily="18" charset="0"/>
              </a:rPr>
              <a:t>6.The ratio between limiting friction and normal reaction is slightly less when the two surfaces are in motion.</a:t>
            </a:r>
          </a:p>
          <a:p>
            <a:pPr marL="0" indent="0" algn="just">
              <a:buNone/>
            </a:pPr>
            <a:endParaRPr lang="en-US" sz="39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r>
              <a:rPr lang="en-US" sz="3900" dirty="0">
                <a:solidFill>
                  <a:schemeClr val="tx1">
                    <a:lumMod val="95000"/>
                    <a:lumOff val="5000"/>
                  </a:schemeClr>
                </a:solidFill>
                <a:latin typeface="Times New Roman" panose="02020603050405020304" pitchFamily="18" charset="0"/>
                <a:cs typeface="Times New Roman" panose="02020603050405020304" pitchFamily="18" charset="0"/>
              </a:rPr>
              <a:t>7.The force of friction is independent of the velocity of sliding which happens in the cases of low velocities.</a:t>
            </a:r>
          </a:p>
        </p:txBody>
      </p:sp>
    </p:spTree>
    <p:extLst>
      <p:ext uri="{BB962C8B-B14F-4D97-AF65-F5344CB8AC3E}">
        <p14:creationId xmlns:p14="http://schemas.microsoft.com/office/powerpoint/2010/main" val="827647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endParaRPr lang="en-US" sz="3600" dirty="0">
              <a:latin typeface="Times New Roman" pitchFamily="18" charset="0"/>
              <a:cs typeface="Times New Roman" pitchFamily="18" charset="0"/>
            </a:endParaRPr>
          </a:p>
          <a:p>
            <a:pPr marL="0" indent="0" algn="just">
              <a:buNone/>
            </a:pPr>
            <a:r>
              <a:rPr lang="en-US" sz="3600" dirty="0">
                <a:latin typeface="Times New Roman" pitchFamily="18" charset="0"/>
                <a:cs typeface="Times New Roman" pitchFamily="18" charset="0"/>
              </a:rPr>
              <a:t>4. The force of friction is independent of the area of contact between the two surfaces.</a:t>
            </a:r>
          </a:p>
          <a:p>
            <a:pPr marL="0" indent="0" algn="just">
              <a:buNone/>
            </a:pPr>
            <a:r>
              <a:rPr lang="en-US" sz="3600" dirty="0">
                <a:latin typeface="Times New Roman" pitchFamily="18" charset="0"/>
                <a:cs typeface="Times New Roman" pitchFamily="18" charset="0"/>
              </a:rPr>
              <a:t>5. The force of friction depends upon the roughness of the surfaces.</a:t>
            </a:r>
          </a:p>
        </p:txBody>
      </p:sp>
      <p:sp>
        <p:nvSpPr>
          <p:cNvPr id="5" name="Title 4">
            <a:extLst>
              <a:ext uri="{FF2B5EF4-FFF2-40B4-BE49-F238E27FC236}">
                <a16:creationId xmlns:a16="http://schemas.microsoft.com/office/drawing/2014/main" id="{2A2C4371-0262-5130-626E-905393EE0FF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280789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D7BD-7467-4AC3-B12E-A6C57D19F2AE}"/>
              </a:ext>
            </a:extLst>
          </p:cNvPr>
          <p:cNvSpPr>
            <a:spLocks noGrp="1"/>
          </p:cNvSpPr>
          <p:nvPr>
            <p:ph type="title"/>
          </p:nvPr>
        </p:nvSpPr>
        <p:spPr>
          <a:solidFill>
            <a:schemeClr val="accent2">
              <a:lumMod val="40000"/>
              <a:lumOff val="60000"/>
            </a:schemeClr>
          </a:solidFill>
        </p:spPr>
        <p:txBody>
          <a:bodyPr>
            <a:noAutofit/>
          </a:bodyPr>
          <a:lstStyle/>
          <a:p>
            <a:pPr algn="just"/>
            <a:r>
              <a:rPr lang="en-US" sz="5000" dirty="0">
                <a:latin typeface="Times New Roman" panose="02020603050405020304" pitchFamily="18" charset="0"/>
                <a:cs typeface="Times New Roman" panose="02020603050405020304" pitchFamily="18" charset="0"/>
              </a:rPr>
              <a:t>Static Friction, it’s coefficient and angle</a:t>
            </a:r>
          </a:p>
        </p:txBody>
      </p:sp>
      <p:sp>
        <p:nvSpPr>
          <p:cNvPr id="3" name="Content Placeholder 2">
            <a:extLst>
              <a:ext uri="{FF2B5EF4-FFF2-40B4-BE49-F238E27FC236}">
                <a16:creationId xmlns:a16="http://schemas.microsoft.com/office/drawing/2014/main" id="{594AFAB3-B7C0-A7B3-F522-4B24872CFB39}"/>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Let W be the weight of the block.</a:t>
            </a:r>
          </a:p>
          <a:p>
            <a:pPr algn="just"/>
            <a:r>
              <a:rPr lang="en-US" dirty="0">
                <a:latin typeface="Times New Roman" panose="02020603050405020304" pitchFamily="18" charset="0"/>
                <a:cs typeface="Times New Roman" panose="02020603050405020304" pitchFamily="18" charset="0"/>
              </a:rPr>
              <a:t>Let N be the normal reaction.</a:t>
            </a:r>
          </a:p>
          <a:p>
            <a:pPr algn="just"/>
            <a:r>
              <a:rPr lang="en-US" dirty="0">
                <a:latin typeface="Times New Roman" panose="02020603050405020304" pitchFamily="18" charset="0"/>
                <a:cs typeface="Times New Roman" panose="02020603050405020304" pitchFamily="18" charset="0"/>
              </a:rPr>
              <a:t>If force P is applied gradually, the frictional force also increases until it reaches its maximum limit Fs(</a:t>
            </a:r>
            <a:r>
              <a:rPr lang="en-US" dirty="0" err="1">
                <a:latin typeface="Times New Roman" panose="02020603050405020304" pitchFamily="18" charset="0"/>
                <a:cs typeface="Times New Roman" panose="02020603050405020304" pitchFamily="18" charset="0"/>
              </a:rPr>
              <a:t>i.e</a:t>
            </a:r>
            <a:r>
              <a:rPr lang="en-US" dirty="0">
                <a:latin typeface="Times New Roman" panose="02020603050405020304" pitchFamily="18" charset="0"/>
                <a:cs typeface="Times New Roman" panose="02020603050405020304" pitchFamily="18" charset="0"/>
              </a:rPr>
              <a:t> static frictional force)</a:t>
            </a:r>
          </a:p>
          <a:p>
            <a:pPr algn="just"/>
            <a:r>
              <a:rPr lang="en-US" dirty="0">
                <a:latin typeface="Times New Roman" panose="02020603050405020304" pitchFamily="18" charset="0"/>
                <a:cs typeface="Times New Roman" panose="02020603050405020304" pitchFamily="18" charset="0"/>
              </a:rPr>
              <a:t>If P is increased furthers cant balance the block any more and the block starts moving.</a:t>
            </a:r>
          </a:p>
          <a:p>
            <a:pPr algn="just"/>
            <a:r>
              <a:rPr lang="en-US" dirty="0">
                <a:latin typeface="Times New Roman" panose="02020603050405020304" pitchFamily="18" charset="0"/>
                <a:cs typeface="Times New Roman" panose="02020603050405020304" pitchFamily="18" charset="0"/>
              </a:rPr>
              <a:t>Once the block is set in motion Fs drops to </a:t>
            </a:r>
            <a:r>
              <a:rPr lang="en-US" dirty="0" err="1">
                <a:latin typeface="Times New Roman" panose="02020603050405020304" pitchFamily="18" charset="0"/>
                <a:cs typeface="Times New Roman" panose="02020603050405020304" pitchFamily="18" charset="0"/>
              </a:rPr>
              <a:t>fk</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i.e</a:t>
            </a:r>
            <a:r>
              <a:rPr lang="en-US" dirty="0">
                <a:latin typeface="Times New Roman" panose="02020603050405020304" pitchFamily="18" charset="0"/>
                <a:cs typeface="Times New Roman" panose="02020603050405020304" pitchFamily="18" charset="0"/>
              </a:rPr>
              <a:t> kinetic friction force).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4033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3C770-FFDF-76F9-5D57-8E38A0B39B7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F23F365-FD36-CB6C-8872-17E83D6147C0}"/>
              </a:ext>
            </a:extLst>
          </p:cNvPr>
          <p:cNvPicPr>
            <a:picLocks noGrp="1" noChangeAspect="1"/>
          </p:cNvPicPr>
          <p:nvPr>
            <p:ph idx="1"/>
          </p:nvPr>
        </p:nvPicPr>
        <p:blipFill>
          <a:blip r:embed="rId2"/>
          <a:stretch>
            <a:fillRect/>
          </a:stretch>
        </p:blipFill>
        <p:spPr>
          <a:xfrm>
            <a:off x="19877" y="274638"/>
            <a:ext cx="4978637" cy="3535362"/>
          </a:xfrm>
        </p:spPr>
      </p:pic>
      <p:pic>
        <p:nvPicPr>
          <p:cNvPr id="7" name="Picture 6">
            <a:extLst>
              <a:ext uri="{FF2B5EF4-FFF2-40B4-BE49-F238E27FC236}">
                <a16:creationId xmlns:a16="http://schemas.microsoft.com/office/drawing/2014/main" id="{D958AD51-C6BF-9C1C-3B9A-E0DB6A305DF1}"/>
              </a:ext>
            </a:extLst>
          </p:cNvPr>
          <p:cNvPicPr>
            <a:picLocks noChangeAspect="1"/>
          </p:cNvPicPr>
          <p:nvPr/>
        </p:nvPicPr>
        <p:blipFill>
          <a:blip r:embed="rId3"/>
          <a:stretch>
            <a:fillRect/>
          </a:stretch>
        </p:blipFill>
        <p:spPr>
          <a:xfrm>
            <a:off x="4800600" y="4191000"/>
            <a:ext cx="3971925" cy="1866900"/>
          </a:xfrm>
          <a:prstGeom prst="rect">
            <a:avLst/>
          </a:prstGeom>
        </p:spPr>
      </p:pic>
      <p:sp>
        <p:nvSpPr>
          <p:cNvPr id="8" name="TextBox 7">
            <a:extLst>
              <a:ext uri="{FF2B5EF4-FFF2-40B4-BE49-F238E27FC236}">
                <a16:creationId xmlns:a16="http://schemas.microsoft.com/office/drawing/2014/main" id="{A25F546C-EB30-9EDE-2097-50D268D7B260}"/>
              </a:ext>
            </a:extLst>
          </p:cNvPr>
          <p:cNvSpPr txBox="1"/>
          <p:nvPr/>
        </p:nvSpPr>
        <p:spPr>
          <a:xfrm>
            <a:off x="685800" y="4191000"/>
            <a:ext cx="1864613"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Fig a. No friction</a:t>
            </a:r>
          </a:p>
        </p:txBody>
      </p:sp>
      <p:sp>
        <p:nvSpPr>
          <p:cNvPr id="9" name="TextBox 8">
            <a:extLst>
              <a:ext uri="{FF2B5EF4-FFF2-40B4-BE49-F238E27FC236}">
                <a16:creationId xmlns:a16="http://schemas.microsoft.com/office/drawing/2014/main" id="{3969A63C-475C-C9EC-4F78-BF770A5E0295}"/>
              </a:ext>
            </a:extLst>
          </p:cNvPr>
          <p:cNvSpPr txBox="1"/>
          <p:nvPr/>
        </p:nvSpPr>
        <p:spPr>
          <a:xfrm>
            <a:off x="5638800" y="6254234"/>
            <a:ext cx="1601721"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Fig b. Friction</a:t>
            </a:r>
          </a:p>
        </p:txBody>
      </p:sp>
    </p:spTree>
    <p:extLst>
      <p:ext uri="{BB962C8B-B14F-4D97-AF65-F5344CB8AC3E}">
        <p14:creationId xmlns:p14="http://schemas.microsoft.com/office/powerpoint/2010/main" val="979395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D7BD-7467-4AC3-B12E-A6C57D19F2AE}"/>
              </a:ext>
            </a:extLst>
          </p:cNvPr>
          <p:cNvSpPr>
            <a:spLocks noGrp="1"/>
          </p:cNvSpPr>
          <p:nvPr>
            <p:ph type="title"/>
          </p:nvPr>
        </p:nvSpPr>
        <p:spPr>
          <a:xfrm>
            <a:off x="0" y="381000"/>
            <a:ext cx="9160412" cy="2286000"/>
          </a:xfrm>
          <a:solidFill>
            <a:schemeClr val="accent2">
              <a:lumMod val="40000"/>
              <a:lumOff val="60000"/>
            </a:schemeClr>
          </a:solidFill>
        </p:spPr>
        <p:txBody>
          <a:bodyPr>
            <a:noAutofit/>
          </a:bodyPr>
          <a:lstStyle/>
          <a:p>
            <a:pPr algn="just"/>
            <a:r>
              <a:rPr lang="en-US" sz="5000" dirty="0">
                <a:latin typeface="Times New Roman" panose="02020603050405020304" pitchFamily="18" charset="0"/>
                <a:cs typeface="Times New Roman" panose="02020603050405020304" pitchFamily="18" charset="0"/>
              </a:rPr>
              <a:t>Static Friction, it’s coefficient and angle</a:t>
            </a:r>
          </a:p>
        </p:txBody>
      </p:sp>
      <p:pic>
        <p:nvPicPr>
          <p:cNvPr id="5" name="Picture 4">
            <a:extLst>
              <a:ext uri="{FF2B5EF4-FFF2-40B4-BE49-F238E27FC236}">
                <a16:creationId xmlns:a16="http://schemas.microsoft.com/office/drawing/2014/main" id="{B65A5B85-426D-4BBC-B5B8-77D7E57F7503}"/>
              </a:ext>
            </a:extLst>
          </p:cNvPr>
          <p:cNvPicPr>
            <a:picLocks noChangeAspect="1"/>
          </p:cNvPicPr>
          <p:nvPr/>
        </p:nvPicPr>
        <p:blipFill>
          <a:blip r:embed="rId2"/>
          <a:stretch>
            <a:fillRect/>
          </a:stretch>
        </p:blipFill>
        <p:spPr>
          <a:xfrm>
            <a:off x="-25790" y="2517322"/>
            <a:ext cx="9160412" cy="3931543"/>
          </a:xfrm>
          <a:prstGeom prst="rect">
            <a:avLst/>
          </a:prstGeom>
        </p:spPr>
      </p:pic>
      <p:sp>
        <p:nvSpPr>
          <p:cNvPr id="3" name="TextBox 2">
            <a:extLst>
              <a:ext uri="{FF2B5EF4-FFF2-40B4-BE49-F238E27FC236}">
                <a16:creationId xmlns:a16="http://schemas.microsoft.com/office/drawing/2014/main" id="{B1EE3D52-5480-073E-0F75-833BC197A2A2}"/>
              </a:ext>
            </a:extLst>
          </p:cNvPr>
          <p:cNvSpPr txBox="1"/>
          <p:nvPr/>
        </p:nvSpPr>
        <p:spPr>
          <a:xfrm>
            <a:off x="3875650" y="3130492"/>
            <a:ext cx="304800" cy="523220"/>
          </a:xfrm>
          <a:prstGeom prst="rect">
            <a:avLst/>
          </a:prstGeom>
          <a:noFill/>
        </p:spPr>
        <p:txBody>
          <a:bodyPr wrap="square" rtlCol="0">
            <a:spAutoFit/>
          </a:bodyPr>
          <a:lstStyle/>
          <a:p>
            <a:r>
              <a:rPr lang="en-US" sz="2800" b="1" dirty="0"/>
              <a:t>s</a:t>
            </a:r>
          </a:p>
        </p:txBody>
      </p:sp>
    </p:spTree>
    <p:extLst>
      <p:ext uri="{BB962C8B-B14F-4D97-AF65-F5344CB8AC3E}">
        <p14:creationId xmlns:p14="http://schemas.microsoft.com/office/powerpoint/2010/main" val="2808567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065C-1DE7-4F66-EB0A-0AC0C79D97D9}"/>
              </a:ext>
            </a:extLst>
          </p:cNvPr>
          <p:cNvSpPr>
            <a:spLocks noGrp="1"/>
          </p:cNvSpPr>
          <p:nvPr>
            <p:ph type="title"/>
          </p:nvPr>
        </p:nvSpPr>
        <p:spPr/>
        <p:txBody>
          <a:bodyPr/>
          <a:lstStyle/>
          <a:p>
            <a:r>
              <a:rPr lang="en-US" dirty="0"/>
              <a:t>From experiments: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FEA56C-9CA6-68AA-939B-8088CBBC9584}"/>
                  </a:ext>
                </a:extLst>
              </p:cNvPr>
              <p:cNvSpPr>
                <a:spLocks noGrp="1"/>
              </p:cNvSpPr>
              <p:nvPr>
                <p:ph idx="1"/>
              </p:nvPr>
            </p:nvSpPr>
            <p:spPr/>
            <p:txBody>
              <a:bodyPr/>
              <a:lstStyle/>
              <a:p>
                <a:r>
                  <a:rPr lang="en-US" dirty="0"/>
                  <a:t>Note: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𝑘</m:t>
                        </m:r>
                      </m:sub>
                    </m:sSub>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𝑎𝑏𝑜𝑢𝑡</m:t>
                    </m:r>
                    <m:r>
                      <a:rPr lang="en-US" b="0" i="1" smtClean="0">
                        <a:latin typeface="Cambria Math" panose="02040503050406030204" pitchFamily="18" charset="0"/>
                      </a:rPr>
                      <m:t> 25% </m:t>
                    </m:r>
                    <m:r>
                      <a:rPr lang="en-US" b="0" i="1" smtClean="0">
                        <a:latin typeface="Cambria Math" panose="02040503050406030204" pitchFamily="18" charset="0"/>
                      </a:rPr>
                      <m:t>𝑠𝑚𝑎𝑙𝑙𝑒𝑟</m:t>
                    </m:r>
                    <m:r>
                      <a:rPr lang="en-US" b="0" i="1" smtClean="0">
                        <a:latin typeface="Cambria Math" panose="02040503050406030204" pitchFamily="18" charset="0"/>
                      </a:rPr>
                      <m:t> </m:t>
                    </m:r>
                    <m:r>
                      <a:rPr lang="en-US" b="0" i="1" smtClean="0">
                        <a:latin typeface="Cambria Math" panose="02040503050406030204" pitchFamily="18" charset="0"/>
                      </a:rPr>
                      <m:t>𝑡h𝑎𝑛</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𝑠</m:t>
                        </m:r>
                      </m:sub>
                    </m:sSub>
                  </m:oMath>
                </a14:m>
                <a:r>
                  <a:rPr lang="en-US" dirty="0"/>
                  <a:t>.</a:t>
                </a:r>
              </a:p>
              <a:p>
                <a:endParaRPr lang="en-US" dirty="0"/>
              </a:p>
            </p:txBody>
          </p:sp>
        </mc:Choice>
        <mc:Fallback xmlns="">
          <p:sp>
            <p:nvSpPr>
              <p:cNvPr id="3" name="Content Placeholder 2">
                <a:extLst>
                  <a:ext uri="{FF2B5EF4-FFF2-40B4-BE49-F238E27FC236}">
                    <a16:creationId xmlns:a16="http://schemas.microsoft.com/office/drawing/2014/main" id="{65FEA56C-9CA6-68AA-939B-8088CBBC9584}"/>
                  </a:ext>
                </a:extLst>
              </p:cNvPr>
              <p:cNvSpPr>
                <a:spLocks noGrp="1" noRot="1" noChangeAspect="1" noMove="1" noResize="1" noEditPoints="1" noAdjustHandles="1" noChangeArrowheads="1" noChangeShapeType="1" noTextEdit="1"/>
              </p:cNvSpPr>
              <p:nvPr>
                <p:ph idx="1"/>
              </p:nvPr>
            </p:nvSpPr>
            <p:spPr>
              <a:blipFill>
                <a:blip r:embed="rId2"/>
                <a:stretch>
                  <a:fillRect l="-1704" t="-1617"/>
                </a:stretch>
              </a:blipFill>
            </p:spPr>
            <p:txBody>
              <a:bodyPr/>
              <a:lstStyle/>
              <a:p>
                <a:r>
                  <a:rPr lang="en-US">
                    <a:noFill/>
                  </a:rPr>
                  <a:t> </a:t>
                </a:r>
              </a:p>
            </p:txBody>
          </p:sp>
        </mc:Fallback>
      </mc:AlternateContent>
    </p:spTree>
    <p:extLst>
      <p:ext uri="{BB962C8B-B14F-4D97-AF65-F5344CB8AC3E}">
        <p14:creationId xmlns:p14="http://schemas.microsoft.com/office/powerpoint/2010/main" val="3426925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D7BD-7467-4AC3-B12E-A6C57D19F2AE}"/>
              </a:ext>
            </a:extLst>
          </p:cNvPr>
          <p:cNvSpPr>
            <a:spLocks noGrp="1"/>
          </p:cNvSpPr>
          <p:nvPr>
            <p:ph type="title"/>
          </p:nvPr>
        </p:nvSpPr>
        <p:spPr>
          <a:xfrm>
            <a:off x="457200" y="685800"/>
            <a:ext cx="8229600" cy="2209800"/>
          </a:xfrm>
          <a:solidFill>
            <a:schemeClr val="accent2">
              <a:lumMod val="40000"/>
              <a:lumOff val="60000"/>
            </a:schemeClr>
          </a:solidFill>
        </p:spPr>
        <p:txBody>
          <a:bodyPr>
            <a:noAutofit/>
          </a:bodyPr>
          <a:lstStyle/>
          <a:p>
            <a:pPr algn="just"/>
            <a:r>
              <a:rPr lang="en-US" sz="5000" dirty="0">
                <a:latin typeface="Times New Roman" panose="02020603050405020304" pitchFamily="18" charset="0"/>
                <a:cs typeface="Times New Roman" panose="02020603050405020304" pitchFamily="18" charset="0"/>
              </a:rPr>
              <a:t>Condition of no friction , no motion , impending motion and motion.</a:t>
            </a:r>
          </a:p>
        </p:txBody>
      </p:sp>
      <p:sp>
        <p:nvSpPr>
          <p:cNvPr id="3" name="Content Placeholder 2">
            <a:extLst>
              <a:ext uri="{FF2B5EF4-FFF2-40B4-BE49-F238E27FC236}">
                <a16:creationId xmlns:a16="http://schemas.microsoft.com/office/drawing/2014/main" id="{09CE2C0E-FADB-EA88-F6BD-48116D06496B}"/>
              </a:ext>
            </a:extLst>
          </p:cNvPr>
          <p:cNvSpPr>
            <a:spLocks noGrp="1"/>
          </p:cNvSpPr>
          <p:nvPr>
            <p:ph idx="1"/>
          </p:nvPr>
        </p:nvSpPr>
        <p:spPr>
          <a:xfrm>
            <a:off x="457200" y="2053882"/>
            <a:ext cx="8229600" cy="4525963"/>
          </a:xfrm>
        </p:spPr>
        <p:txBody>
          <a:bodyPr/>
          <a:lstStyle/>
          <a:p>
            <a:endParaRPr lang="en-US" dirty="0"/>
          </a:p>
        </p:txBody>
      </p:sp>
    </p:spTree>
    <p:extLst>
      <p:ext uri="{BB962C8B-B14F-4D97-AF65-F5344CB8AC3E}">
        <p14:creationId xmlns:p14="http://schemas.microsoft.com/office/powerpoint/2010/main" val="4134295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9C0F1-00FA-BFC0-480D-7049A5D2A2CB}"/>
              </a:ext>
            </a:extLst>
          </p:cNvPr>
          <p:cNvSpPr>
            <a:spLocks noGrp="1"/>
          </p:cNvSpPr>
          <p:nvPr>
            <p:ph type="title"/>
          </p:nvPr>
        </p:nvSpPr>
        <p:spPr/>
        <p:txBody>
          <a:bodyPr/>
          <a:lstStyle/>
          <a:p>
            <a:r>
              <a:rPr lang="en-US" dirty="0"/>
              <a:t>z</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71B585DD-3C65-FD8B-D321-4F5470F45E56}"/>
                  </a:ext>
                </a:extLst>
              </p:cNvPr>
              <p:cNvGraphicFramePr>
                <a:graphicFrameLocks noGrp="1"/>
              </p:cNvGraphicFramePr>
              <p:nvPr>
                <p:ph idx="1"/>
                <p:extLst>
                  <p:ext uri="{D42A27DB-BD31-4B8C-83A1-F6EECF244321}">
                    <p14:modId xmlns:p14="http://schemas.microsoft.com/office/powerpoint/2010/main" val="3396985285"/>
                  </p:ext>
                </p:extLst>
              </p:nvPr>
            </p:nvGraphicFramePr>
            <p:xfrm>
              <a:off x="1" y="1"/>
              <a:ext cx="9144001" cy="6911392"/>
            </p:xfrm>
            <a:graphic>
              <a:graphicData uri="http://schemas.openxmlformats.org/drawingml/2006/table">
                <a:tbl>
                  <a:tblPr firstRow="1" bandRow="1">
                    <a:tableStyleId>{5C22544A-7EE6-4342-B048-85BDC9FD1C3A}</a:tableStyleId>
                  </a:tblPr>
                  <a:tblGrid>
                    <a:gridCol w="677334">
                      <a:extLst>
                        <a:ext uri="{9D8B030D-6E8A-4147-A177-3AD203B41FA5}">
                          <a16:colId xmlns:a16="http://schemas.microsoft.com/office/drawing/2014/main" val="2614599675"/>
                        </a:ext>
                      </a:extLst>
                    </a:gridCol>
                    <a:gridCol w="3222544">
                      <a:extLst>
                        <a:ext uri="{9D8B030D-6E8A-4147-A177-3AD203B41FA5}">
                          <a16:colId xmlns:a16="http://schemas.microsoft.com/office/drawing/2014/main" val="237797627"/>
                        </a:ext>
                      </a:extLst>
                    </a:gridCol>
                    <a:gridCol w="5244123">
                      <a:extLst>
                        <a:ext uri="{9D8B030D-6E8A-4147-A177-3AD203B41FA5}">
                          <a16:colId xmlns:a16="http://schemas.microsoft.com/office/drawing/2014/main" val="2049212487"/>
                        </a:ext>
                      </a:extLst>
                    </a:gridCol>
                  </a:tblGrid>
                  <a:tr h="354303">
                    <a:tc>
                      <a:txBody>
                        <a:bodyPr/>
                        <a:lstStyle/>
                        <a:p>
                          <a:pPr algn="just"/>
                          <a:r>
                            <a:rPr lang="en-US" sz="2400" dirty="0">
                              <a:latin typeface="Times New Roman" panose="02020603050405020304" pitchFamily="18" charset="0"/>
                              <a:cs typeface="Times New Roman" panose="02020603050405020304" pitchFamily="18" charset="0"/>
                            </a:rPr>
                            <a:t>S.N</a:t>
                          </a:r>
                        </a:p>
                      </a:txBody>
                      <a:tcPr/>
                    </a:tc>
                    <a:tc>
                      <a:txBody>
                        <a:bodyPr/>
                        <a:lstStyle/>
                        <a:p>
                          <a:pPr algn="just"/>
                          <a:r>
                            <a:rPr lang="en-US" sz="2400" dirty="0">
                              <a:latin typeface="Times New Roman" panose="02020603050405020304" pitchFamily="18" charset="0"/>
                              <a:cs typeface="Times New Roman" panose="02020603050405020304" pitchFamily="18" charset="0"/>
                            </a:rPr>
                            <a:t>Illustration</a:t>
                          </a:r>
                        </a:p>
                      </a:txBody>
                      <a:tcPr/>
                    </a:tc>
                    <a:tc>
                      <a:txBody>
                        <a:bodyPr/>
                        <a:lstStyle/>
                        <a:p>
                          <a:pPr algn="just"/>
                          <a:r>
                            <a:rPr lang="en-US" sz="2400" dirty="0">
                              <a:latin typeface="Times New Roman" panose="02020603050405020304" pitchFamily="18" charset="0"/>
                              <a:cs typeface="Times New Roman" panose="02020603050405020304" pitchFamily="18" charset="0"/>
                            </a:rPr>
                            <a:t>Explanation</a:t>
                          </a:r>
                        </a:p>
                      </a:txBody>
                      <a:tcPr/>
                    </a:tc>
                    <a:extLst>
                      <a:ext uri="{0D108BD9-81ED-4DB2-BD59-A6C34878D82A}">
                        <a16:rowId xmlns:a16="http://schemas.microsoft.com/office/drawing/2014/main" val="2301476429"/>
                      </a:ext>
                    </a:extLst>
                  </a:tr>
                  <a:tr h="2571299">
                    <a:tc>
                      <a:txBody>
                        <a:bodyPr/>
                        <a:lstStyle/>
                        <a:p>
                          <a:pPr algn="just"/>
                          <a:r>
                            <a:rPr lang="en-US" sz="2400" dirty="0">
                              <a:latin typeface="Times New Roman" panose="02020603050405020304" pitchFamily="18" charset="0"/>
                              <a:cs typeface="Times New Roman" panose="02020603050405020304" pitchFamily="18" charset="0"/>
                            </a:rPr>
                            <a:t>1.</a:t>
                          </a:r>
                        </a:p>
                      </a:txBody>
                      <a:tcPr/>
                    </a:tc>
                    <a:tc>
                      <a:txBody>
                        <a:bodyPr/>
                        <a:lstStyle/>
                        <a:p>
                          <a:pPr algn="just"/>
                          <a:endParaRPr lang="en-US" sz="240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Self weight W and applied force P both are vertical.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no horizontal component of force</a:t>
                          </a:r>
                        </a:p>
                      </a:txBody>
                      <a:tcPr/>
                    </a:tc>
                    <a:extLst>
                      <a:ext uri="{0D108BD9-81ED-4DB2-BD59-A6C34878D82A}">
                        <a16:rowId xmlns:a16="http://schemas.microsoft.com/office/drawing/2014/main" val="3641342089"/>
                      </a:ext>
                    </a:extLst>
                  </a:tr>
                  <a:tr h="3425693">
                    <a:tc>
                      <a:txBody>
                        <a:bodyPr/>
                        <a:lstStyle/>
                        <a:p>
                          <a:pPr algn="just"/>
                          <a:r>
                            <a:rPr lang="en-US" sz="2400" dirty="0">
                              <a:latin typeface="Times New Roman" panose="02020603050405020304" pitchFamily="18" charset="0"/>
                              <a:cs typeface="Times New Roman" panose="02020603050405020304" pitchFamily="18" charset="0"/>
                            </a:rPr>
                            <a:t>2.</a:t>
                          </a:r>
                        </a:p>
                      </a:txBody>
                      <a:tcPr/>
                    </a:tc>
                    <a:tc>
                      <a:txBody>
                        <a:bodyPr/>
                        <a:lstStyle/>
                        <a:p>
                          <a:pPr algn="just"/>
                          <a:endParaRPr lang="en-US" sz="240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Applied force P is in the inclined position as shown in fig.</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angle between N and resultant R is less than angle of static friction.(</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oMath>
                          </a14:m>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Here is only friction but no motion.</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point of application of the resultant force shifts to the right end of the block in this case.</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65002104"/>
                      </a:ext>
                    </a:extLst>
                  </a:tr>
                  <a:tr h="354303">
                    <a:tc>
                      <a:txBody>
                        <a:bodyPr/>
                        <a:lstStyle/>
                        <a:p>
                          <a:pPr algn="just"/>
                          <a:endParaRPr lang="en-US" sz="2400">
                            <a:latin typeface="Times New Roman" panose="02020603050405020304" pitchFamily="18" charset="0"/>
                            <a:cs typeface="Times New Roman" panose="02020603050405020304" pitchFamily="18" charset="0"/>
                          </a:endParaRPr>
                        </a:p>
                      </a:txBody>
                      <a:tcPr/>
                    </a:tc>
                    <a:tc>
                      <a:txBody>
                        <a:bodyPr/>
                        <a:lstStyle/>
                        <a:p>
                          <a:pPr algn="just"/>
                          <a:endParaRPr lang="en-US" sz="2400" dirty="0">
                            <a:latin typeface="Times New Roman" panose="02020603050405020304" pitchFamily="18" charset="0"/>
                            <a:cs typeface="Times New Roman" panose="02020603050405020304" pitchFamily="18" charset="0"/>
                          </a:endParaRPr>
                        </a:p>
                      </a:txBody>
                      <a:tcPr/>
                    </a:tc>
                    <a:tc>
                      <a:txBody>
                        <a:bodyPr/>
                        <a:lstStyle/>
                        <a:p>
                          <a:pPr algn="just"/>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0072262"/>
                      </a:ext>
                    </a:extLst>
                  </a:tr>
                </a:tbl>
              </a:graphicData>
            </a:graphic>
          </p:graphicFrame>
        </mc:Choice>
        <mc:Fallback xmlns="">
          <p:graphicFrame>
            <p:nvGraphicFramePr>
              <p:cNvPr id="4" name="Table 4">
                <a:extLst>
                  <a:ext uri="{FF2B5EF4-FFF2-40B4-BE49-F238E27FC236}">
                    <a16:creationId xmlns:a16="http://schemas.microsoft.com/office/drawing/2014/main" id="{71B585DD-3C65-FD8B-D321-4F5470F45E56}"/>
                  </a:ext>
                </a:extLst>
              </p:cNvPr>
              <p:cNvGraphicFramePr>
                <a:graphicFrameLocks noGrp="1"/>
              </p:cNvGraphicFramePr>
              <p:nvPr>
                <p:ph idx="1"/>
                <p:extLst>
                  <p:ext uri="{D42A27DB-BD31-4B8C-83A1-F6EECF244321}">
                    <p14:modId xmlns:p14="http://schemas.microsoft.com/office/powerpoint/2010/main" val="3396985285"/>
                  </p:ext>
                </p:extLst>
              </p:nvPr>
            </p:nvGraphicFramePr>
            <p:xfrm>
              <a:off x="1" y="1"/>
              <a:ext cx="9144001" cy="6911392"/>
            </p:xfrm>
            <a:graphic>
              <a:graphicData uri="http://schemas.openxmlformats.org/drawingml/2006/table">
                <a:tbl>
                  <a:tblPr firstRow="1" bandRow="1">
                    <a:tableStyleId>{5C22544A-7EE6-4342-B048-85BDC9FD1C3A}</a:tableStyleId>
                  </a:tblPr>
                  <a:tblGrid>
                    <a:gridCol w="677334">
                      <a:extLst>
                        <a:ext uri="{9D8B030D-6E8A-4147-A177-3AD203B41FA5}">
                          <a16:colId xmlns:a16="http://schemas.microsoft.com/office/drawing/2014/main" val="2614599675"/>
                        </a:ext>
                      </a:extLst>
                    </a:gridCol>
                    <a:gridCol w="3222544">
                      <a:extLst>
                        <a:ext uri="{9D8B030D-6E8A-4147-A177-3AD203B41FA5}">
                          <a16:colId xmlns:a16="http://schemas.microsoft.com/office/drawing/2014/main" val="237797627"/>
                        </a:ext>
                      </a:extLst>
                    </a:gridCol>
                    <a:gridCol w="5244123">
                      <a:extLst>
                        <a:ext uri="{9D8B030D-6E8A-4147-A177-3AD203B41FA5}">
                          <a16:colId xmlns:a16="http://schemas.microsoft.com/office/drawing/2014/main" val="2049212487"/>
                        </a:ext>
                      </a:extLst>
                    </a:gridCol>
                  </a:tblGrid>
                  <a:tr h="457200">
                    <a:tc>
                      <a:txBody>
                        <a:bodyPr/>
                        <a:lstStyle/>
                        <a:p>
                          <a:pPr algn="just"/>
                          <a:r>
                            <a:rPr lang="en-US" sz="2400" dirty="0">
                              <a:latin typeface="Times New Roman" panose="02020603050405020304" pitchFamily="18" charset="0"/>
                              <a:cs typeface="Times New Roman" panose="02020603050405020304" pitchFamily="18" charset="0"/>
                            </a:rPr>
                            <a:t>S.N</a:t>
                          </a:r>
                        </a:p>
                      </a:txBody>
                      <a:tcPr/>
                    </a:tc>
                    <a:tc>
                      <a:txBody>
                        <a:bodyPr/>
                        <a:lstStyle/>
                        <a:p>
                          <a:pPr algn="just"/>
                          <a:r>
                            <a:rPr lang="en-US" sz="2400" dirty="0">
                              <a:latin typeface="Times New Roman" panose="02020603050405020304" pitchFamily="18" charset="0"/>
                              <a:cs typeface="Times New Roman" panose="02020603050405020304" pitchFamily="18" charset="0"/>
                            </a:rPr>
                            <a:t>Illustration</a:t>
                          </a:r>
                        </a:p>
                      </a:txBody>
                      <a:tcPr/>
                    </a:tc>
                    <a:tc>
                      <a:txBody>
                        <a:bodyPr/>
                        <a:lstStyle/>
                        <a:p>
                          <a:pPr algn="just"/>
                          <a:r>
                            <a:rPr lang="en-US" sz="2400" dirty="0">
                              <a:latin typeface="Times New Roman" panose="02020603050405020304" pitchFamily="18" charset="0"/>
                              <a:cs typeface="Times New Roman" panose="02020603050405020304" pitchFamily="18" charset="0"/>
                            </a:rPr>
                            <a:t>Explanation</a:t>
                          </a:r>
                        </a:p>
                      </a:txBody>
                      <a:tcPr/>
                    </a:tc>
                    <a:extLst>
                      <a:ext uri="{0D108BD9-81ED-4DB2-BD59-A6C34878D82A}">
                        <a16:rowId xmlns:a16="http://schemas.microsoft.com/office/drawing/2014/main" val="2301476429"/>
                      </a:ext>
                    </a:extLst>
                  </a:tr>
                  <a:tr h="2571299">
                    <a:tc>
                      <a:txBody>
                        <a:bodyPr/>
                        <a:lstStyle/>
                        <a:p>
                          <a:pPr algn="just"/>
                          <a:r>
                            <a:rPr lang="en-US" sz="2400" dirty="0">
                              <a:latin typeface="Times New Roman" panose="02020603050405020304" pitchFamily="18" charset="0"/>
                              <a:cs typeface="Times New Roman" panose="02020603050405020304" pitchFamily="18" charset="0"/>
                            </a:rPr>
                            <a:t>1.</a:t>
                          </a:r>
                        </a:p>
                      </a:txBody>
                      <a:tcPr/>
                    </a:tc>
                    <a:tc>
                      <a:txBody>
                        <a:bodyPr/>
                        <a:lstStyle/>
                        <a:p>
                          <a:pPr algn="just"/>
                          <a:endParaRPr lang="en-US" sz="240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Self weight W and applied force P both are vertical.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no horizontal component of force</a:t>
                          </a:r>
                        </a:p>
                      </a:txBody>
                      <a:tcPr/>
                    </a:tc>
                    <a:extLst>
                      <a:ext uri="{0D108BD9-81ED-4DB2-BD59-A6C34878D82A}">
                        <a16:rowId xmlns:a16="http://schemas.microsoft.com/office/drawing/2014/main" val="3641342089"/>
                      </a:ext>
                    </a:extLst>
                  </a:tr>
                  <a:tr h="3425693">
                    <a:tc>
                      <a:txBody>
                        <a:bodyPr/>
                        <a:lstStyle/>
                        <a:p>
                          <a:pPr algn="just"/>
                          <a:r>
                            <a:rPr lang="en-US" sz="2400" dirty="0">
                              <a:latin typeface="Times New Roman" panose="02020603050405020304" pitchFamily="18" charset="0"/>
                              <a:cs typeface="Times New Roman" panose="02020603050405020304" pitchFamily="18" charset="0"/>
                            </a:rPr>
                            <a:t>2.</a:t>
                          </a:r>
                        </a:p>
                      </a:txBody>
                      <a:tcPr/>
                    </a:tc>
                    <a:tc>
                      <a:txBody>
                        <a:bodyPr/>
                        <a:lstStyle/>
                        <a:p>
                          <a:pPr algn="just"/>
                          <a:endParaRPr lang="en-US" sz="2400"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a:blip r:embed="rId2"/>
                          <a:stretch>
                            <a:fillRect l="-74564" t="-89858" r="-465" b="-13701"/>
                          </a:stretch>
                        </a:blipFill>
                      </a:tcPr>
                    </a:tc>
                    <a:extLst>
                      <a:ext uri="{0D108BD9-81ED-4DB2-BD59-A6C34878D82A}">
                        <a16:rowId xmlns:a16="http://schemas.microsoft.com/office/drawing/2014/main" val="3565002104"/>
                      </a:ext>
                    </a:extLst>
                  </a:tr>
                  <a:tr h="457200">
                    <a:tc>
                      <a:txBody>
                        <a:bodyPr/>
                        <a:lstStyle/>
                        <a:p>
                          <a:pPr algn="just"/>
                          <a:endParaRPr lang="en-US" sz="2400">
                            <a:latin typeface="Times New Roman" panose="02020603050405020304" pitchFamily="18" charset="0"/>
                            <a:cs typeface="Times New Roman" panose="02020603050405020304" pitchFamily="18" charset="0"/>
                          </a:endParaRPr>
                        </a:p>
                      </a:txBody>
                      <a:tcPr/>
                    </a:tc>
                    <a:tc>
                      <a:txBody>
                        <a:bodyPr/>
                        <a:lstStyle/>
                        <a:p>
                          <a:pPr algn="just"/>
                          <a:endParaRPr lang="en-US" sz="2400" dirty="0">
                            <a:latin typeface="Times New Roman" panose="02020603050405020304" pitchFamily="18" charset="0"/>
                            <a:cs typeface="Times New Roman" panose="02020603050405020304" pitchFamily="18" charset="0"/>
                          </a:endParaRPr>
                        </a:p>
                      </a:txBody>
                      <a:tcPr/>
                    </a:tc>
                    <a:tc>
                      <a:txBody>
                        <a:bodyPr/>
                        <a:lstStyle/>
                        <a:p>
                          <a:pPr algn="just"/>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0072262"/>
                      </a:ext>
                    </a:extLst>
                  </a:tr>
                </a:tbl>
              </a:graphicData>
            </a:graphic>
          </p:graphicFrame>
        </mc:Fallback>
      </mc:AlternateContent>
      <p:pic>
        <p:nvPicPr>
          <p:cNvPr id="6" name="Picture 5">
            <a:extLst>
              <a:ext uri="{FF2B5EF4-FFF2-40B4-BE49-F238E27FC236}">
                <a16:creationId xmlns:a16="http://schemas.microsoft.com/office/drawing/2014/main" id="{5663245A-C89B-634B-44FF-43DF1F283FD6}"/>
              </a:ext>
            </a:extLst>
          </p:cNvPr>
          <p:cNvPicPr>
            <a:picLocks noChangeAspect="1"/>
          </p:cNvPicPr>
          <p:nvPr/>
        </p:nvPicPr>
        <p:blipFill>
          <a:blip r:embed="rId3"/>
          <a:stretch>
            <a:fillRect/>
          </a:stretch>
        </p:blipFill>
        <p:spPr>
          <a:xfrm>
            <a:off x="838200" y="465137"/>
            <a:ext cx="2667000" cy="2323411"/>
          </a:xfrm>
          <a:prstGeom prst="rect">
            <a:avLst/>
          </a:prstGeom>
        </p:spPr>
      </p:pic>
      <p:pic>
        <p:nvPicPr>
          <p:cNvPr id="8" name="Picture 7">
            <a:extLst>
              <a:ext uri="{FF2B5EF4-FFF2-40B4-BE49-F238E27FC236}">
                <a16:creationId xmlns:a16="http://schemas.microsoft.com/office/drawing/2014/main" id="{D317B170-EE04-DBB5-D888-F8DAA91FCB85}"/>
              </a:ext>
            </a:extLst>
          </p:cNvPr>
          <p:cNvPicPr>
            <a:picLocks noChangeAspect="1"/>
          </p:cNvPicPr>
          <p:nvPr/>
        </p:nvPicPr>
        <p:blipFill>
          <a:blip r:embed="rId4"/>
          <a:stretch>
            <a:fillRect/>
          </a:stretch>
        </p:blipFill>
        <p:spPr>
          <a:xfrm>
            <a:off x="838200" y="3124200"/>
            <a:ext cx="2667000" cy="3268662"/>
          </a:xfrm>
          <a:prstGeom prst="rect">
            <a:avLst/>
          </a:prstGeom>
        </p:spPr>
      </p:pic>
    </p:spTree>
    <p:extLst>
      <p:ext uri="{BB962C8B-B14F-4D97-AF65-F5344CB8AC3E}">
        <p14:creationId xmlns:p14="http://schemas.microsoft.com/office/powerpoint/2010/main" val="2755373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9C0F1-00FA-BFC0-480D-7049A5D2A2CB}"/>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71B585DD-3C65-FD8B-D321-4F5470F45E56}"/>
                  </a:ext>
                </a:extLst>
              </p:cNvPr>
              <p:cNvGraphicFramePr>
                <a:graphicFrameLocks noGrp="1"/>
              </p:cNvGraphicFramePr>
              <p:nvPr>
                <p:ph idx="1"/>
                <p:extLst>
                  <p:ext uri="{D42A27DB-BD31-4B8C-83A1-F6EECF244321}">
                    <p14:modId xmlns:p14="http://schemas.microsoft.com/office/powerpoint/2010/main" val="531835902"/>
                  </p:ext>
                </p:extLst>
              </p:nvPr>
            </p:nvGraphicFramePr>
            <p:xfrm>
              <a:off x="1" y="1"/>
              <a:ext cx="9144001" cy="7266173"/>
            </p:xfrm>
            <a:graphic>
              <a:graphicData uri="http://schemas.openxmlformats.org/drawingml/2006/table">
                <a:tbl>
                  <a:tblPr firstRow="1" bandRow="1">
                    <a:tableStyleId>{5C22544A-7EE6-4342-B048-85BDC9FD1C3A}</a:tableStyleId>
                  </a:tblPr>
                  <a:tblGrid>
                    <a:gridCol w="677334">
                      <a:extLst>
                        <a:ext uri="{9D8B030D-6E8A-4147-A177-3AD203B41FA5}">
                          <a16:colId xmlns:a16="http://schemas.microsoft.com/office/drawing/2014/main" val="2614599675"/>
                        </a:ext>
                      </a:extLst>
                    </a:gridCol>
                    <a:gridCol w="3222544">
                      <a:extLst>
                        <a:ext uri="{9D8B030D-6E8A-4147-A177-3AD203B41FA5}">
                          <a16:colId xmlns:a16="http://schemas.microsoft.com/office/drawing/2014/main" val="237797627"/>
                        </a:ext>
                      </a:extLst>
                    </a:gridCol>
                    <a:gridCol w="5244123">
                      <a:extLst>
                        <a:ext uri="{9D8B030D-6E8A-4147-A177-3AD203B41FA5}">
                          <a16:colId xmlns:a16="http://schemas.microsoft.com/office/drawing/2014/main" val="2049212487"/>
                        </a:ext>
                      </a:extLst>
                    </a:gridCol>
                  </a:tblGrid>
                  <a:tr h="354303">
                    <a:tc>
                      <a:txBody>
                        <a:bodyPr/>
                        <a:lstStyle/>
                        <a:p>
                          <a:r>
                            <a:rPr lang="en-US" sz="2400" dirty="0">
                              <a:latin typeface="Times New Roman" panose="02020603050405020304" pitchFamily="18" charset="0"/>
                              <a:cs typeface="Times New Roman" panose="02020603050405020304" pitchFamily="18" charset="0"/>
                            </a:rPr>
                            <a:t>S.N</a:t>
                          </a:r>
                        </a:p>
                      </a:txBody>
                      <a:tcPr/>
                    </a:tc>
                    <a:tc>
                      <a:txBody>
                        <a:bodyPr/>
                        <a:lstStyle/>
                        <a:p>
                          <a:r>
                            <a:rPr lang="en-US" sz="2400" dirty="0">
                              <a:latin typeface="Times New Roman" panose="02020603050405020304" pitchFamily="18" charset="0"/>
                              <a:cs typeface="Times New Roman" panose="02020603050405020304" pitchFamily="18" charset="0"/>
                            </a:rPr>
                            <a:t>Illustration</a:t>
                          </a:r>
                        </a:p>
                      </a:txBody>
                      <a:tcPr/>
                    </a:tc>
                    <a:tc>
                      <a:txBody>
                        <a:bodyPr/>
                        <a:lstStyle/>
                        <a:p>
                          <a:r>
                            <a:rPr lang="en-US" sz="2400" dirty="0">
                              <a:latin typeface="Times New Roman" panose="02020603050405020304" pitchFamily="18" charset="0"/>
                              <a:cs typeface="Times New Roman" panose="02020603050405020304" pitchFamily="18" charset="0"/>
                            </a:rPr>
                            <a:t>Explanation</a:t>
                          </a:r>
                        </a:p>
                      </a:txBody>
                      <a:tcPr/>
                    </a:tc>
                    <a:extLst>
                      <a:ext uri="{0D108BD9-81ED-4DB2-BD59-A6C34878D82A}">
                        <a16:rowId xmlns:a16="http://schemas.microsoft.com/office/drawing/2014/main" val="2301476429"/>
                      </a:ext>
                    </a:extLst>
                  </a:tr>
                  <a:tr h="2571299">
                    <a:tc>
                      <a:txBody>
                        <a:bodyPr/>
                        <a:lstStyle/>
                        <a:p>
                          <a:r>
                            <a:rPr lang="en-US" dirty="0">
                              <a:latin typeface="Times New Roman" panose="02020603050405020304" pitchFamily="18" charset="0"/>
                              <a:cs typeface="Times New Roman" panose="02020603050405020304" pitchFamily="18" charset="0"/>
                            </a:rPr>
                            <a:t>3.</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Times New Roman" panose="02020603050405020304" pitchFamily="18" charset="0"/>
                              <a:cs typeface="Times New Roman" panose="02020603050405020304" pitchFamily="18" charset="0"/>
                            </a:rPr>
                            <a:t>As </a:t>
                          </a:r>
                          <a:r>
                            <a:rPr lang="en-US" sz="2400" dirty="0" err="1">
                              <a:latin typeface="Times New Roman" panose="02020603050405020304" pitchFamily="18" charset="0"/>
                              <a:cs typeface="Times New Roman" panose="02020603050405020304" pitchFamily="18" charset="0"/>
                            </a:rPr>
                            <a:t>Px</a:t>
                          </a:r>
                          <a:r>
                            <a:rPr lang="en-US" sz="2400" dirty="0">
                              <a:latin typeface="Times New Roman" panose="02020603050405020304" pitchFamily="18" charset="0"/>
                              <a:cs typeface="Times New Roman" panose="02020603050405020304" pitchFamily="18" charset="0"/>
                            </a:rPr>
                            <a:t> increase gradually as shown in </a:t>
                          </a:r>
                          <a:r>
                            <a:rPr lang="en-US" sz="2400" dirty="0" err="1">
                              <a:latin typeface="Times New Roman" panose="02020603050405020304" pitchFamily="18" charset="0"/>
                              <a:cs typeface="Times New Roman" panose="02020603050405020304" pitchFamily="18" charset="0"/>
                            </a:rPr>
                            <a:t>fig,the</a:t>
                          </a:r>
                          <a:r>
                            <a:rPr lang="en-US" sz="2400" dirty="0">
                              <a:latin typeface="Times New Roman" panose="02020603050405020304" pitchFamily="18" charset="0"/>
                              <a:cs typeface="Times New Roman" panose="02020603050405020304" pitchFamily="18" charset="0"/>
                            </a:rPr>
                            <a:t> resultant R also increases and the angle becomes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oMath>
                          </a14:m>
                          <a:r>
                            <a:rPr lang="en-US" sz="2400" dirty="0">
                              <a:latin typeface="Times New Roman" panose="02020603050405020304" pitchFamily="18" charset="0"/>
                              <a:cs typeface="Times New Roman" panose="02020603050405020304" pitchFamily="18" charset="0"/>
                            </a:rPr>
                            <a: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Times New Roman" panose="02020603050405020304" pitchFamily="18" charset="0"/>
                              <a:cs typeface="Times New Roman" panose="02020603050405020304" pitchFamily="18" charset="0"/>
                            </a:rPr>
                            <a:t>The point of application of the resultant force shifts to the right ward.</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Times New Roman" panose="02020603050405020304" pitchFamily="18" charset="0"/>
                              <a:cs typeface="Times New Roman" panose="02020603050405020304" pitchFamily="18" charset="0"/>
                            </a:rPr>
                            <a:t>This is the condition of impending motion or critical condition before motion.</a:t>
                          </a:r>
                        </a:p>
                      </a:txBody>
                      <a:tcPr/>
                    </a:tc>
                    <a:extLst>
                      <a:ext uri="{0D108BD9-81ED-4DB2-BD59-A6C34878D82A}">
                        <a16:rowId xmlns:a16="http://schemas.microsoft.com/office/drawing/2014/main" val="3641342089"/>
                      </a:ext>
                    </a:extLst>
                  </a:tr>
                  <a:tr h="3425693">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applied force </a:t>
                          </a:r>
                          <a:r>
                            <a:rPr lang="en-US" sz="2400" dirty="0" err="1">
                              <a:latin typeface="Times New Roman" panose="02020603050405020304" pitchFamily="18" charset="0"/>
                              <a:cs typeface="Times New Roman" panose="02020603050405020304" pitchFamily="18" charset="0"/>
                            </a:rPr>
                            <a:t>P</a:t>
                          </a:r>
                          <a:r>
                            <a:rPr lang="en-US" sz="2400" baseline="-25000" dirty="0" err="1">
                              <a:latin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cs typeface="Times New Roman" panose="02020603050405020304" pitchFamily="18" charset="0"/>
                            </a:rPr>
                            <a:t> is further increases a condition will occur in which the block will be in motion the corresponding frictional force is </a:t>
                          </a:r>
                          <a:r>
                            <a:rPr lang="en-US" sz="2400" dirty="0" err="1">
                              <a:latin typeface="Times New Roman" panose="02020603050405020304" pitchFamily="18" charset="0"/>
                              <a:cs typeface="Times New Roman" panose="02020603050405020304" pitchFamily="18" charset="0"/>
                            </a:rPr>
                            <a:t>F</a:t>
                          </a:r>
                          <a:r>
                            <a:rPr lang="en-US" sz="2400" baseline="-25000" dirty="0" err="1">
                              <a:latin typeface="Times New Roman" panose="02020603050405020304" pitchFamily="18" charset="0"/>
                              <a:cs typeface="Times New Roman" panose="02020603050405020304" pitchFamily="18" charset="0"/>
                            </a:rPr>
                            <a:t>k</a:t>
                          </a:r>
                          <a:r>
                            <a:rPr lang="en-US" sz="2400" dirty="0">
                              <a:latin typeface="Times New Roman" panose="02020603050405020304" pitchFamily="18" charset="0"/>
                              <a:cs typeface="Times New Roman" panose="02020603050405020304" pitchFamily="18" charset="0"/>
                            </a:rPr>
                            <a:t> and the angle is(</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oMath>
                          </a14:m>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65002104"/>
                      </a:ext>
                    </a:extLst>
                  </a:tr>
                  <a:tr h="354303">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0072262"/>
                      </a:ext>
                    </a:extLst>
                  </a:tr>
                </a:tbl>
              </a:graphicData>
            </a:graphic>
          </p:graphicFrame>
        </mc:Choice>
        <mc:Fallback xmlns="">
          <p:graphicFrame>
            <p:nvGraphicFramePr>
              <p:cNvPr id="4" name="Table 4">
                <a:extLst>
                  <a:ext uri="{FF2B5EF4-FFF2-40B4-BE49-F238E27FC236}">
                    <a16:creationId xmlns:a16="http://schemas.microsoft.com/office/drawing/2014/main" id="{71B585DD-3C65-FD8B-D321-4F5470F45E56}"/>
                  </a:ext>
                </a:extLst>
              </p:cNvPr>
              <p:cNvGraphicFramePr>
                <a:graphicFrameLocks noGrp="1"/>
              </p:cNvGraphicFramePr>
              <p:nvPr>
                <p:ph idx="1"/>
                <p:extLst>
                  <p:ext uri="{D42A27DB-BD31-4B8C-83A1-F6EECF244321}">
                    <p14:modId xmlns:p14="http://schemas.microsoft.com/office/powerpoint/2010/main" val="531835902"/>
                  </p:ext>
                </p:extLst>
              </p:nvPr>
            </p:nvGraphicFramePr>
            <p:xfrm>
              <a:off x="1" y="1"/>
              <a:ext cx="9144001" cy="7266173"/>
            </p:xfrm>
            <a:graphic>
              <a:graphicData uri="http://schemas.openxmlformats.org/drawingml/2006/table">
                <a:tbl>
                  <a:tblPr firstRow="1" bandRow="1">
                    <a:tableStyleId>{5C22544A-7EE6-4342-B048-85BDC9FD1C3A}</a:tableStyleId>
                  </a:tblPr>
                  <a:tblGrid>
                    <a:gridCol w="677334">
                      <a:extLst>
                        <a:ext uri="{9D8B030D-6E8A-4147-A177-3AD203B41FA5}">
                          <a16:colId xmlns:a16="http://schemas.microsoft.com/office/drawing/2014/main" val="2614599675"/>
                        </a:ext>
                      </a:extLst>
                    </a:gridCol>
                    <a:gridCol w="3222544">
                      <a:extLst>
                        <a:ext uri="{9D8B030D-6E8A-4147-A177-3AD203B41FA5}">
                          <a16:colId xmlns:a16="http://schemas.microsoft.com/office/drawing/2014/main" val="237797627"/>
                        </a:ext>
                      </a:extLst>
                    </a:gridCol>
                    <a:gridCol w="5244123">
                      <a:extLst>
                        <a:ext uri="{9D8B030D-6E8A-4147-A177-3AD203B41FA5}">
                          <a16:colId xmlns:a16="http://schemas.microsoft.com/office/drawing/2014/main" val="2049212487"/>
                        </a:ext>
                      </a:extLst>
                    </a:gridCol>
                  </a:tblGrid>
                  <a:tr h="457200">
                    <a:tc>
                      <a:txBody>
                        <a:bodyPr/>
                        <a:lstStyle/>
                        <a:p>
                          <a:r>
                            <a:rPr lang="en-US" sz="2400" dirty="0">
                              <a:latin typeface="Times New Roman" panose="02020603050405020304" pitchFamily="18" charset="0"/>
                              <a:cs typeface="Times New Roman" panose="02020603050405020304" pitchFamily="18" charset="0"/>
                            </a:rPr>
                            <a:t>S.N</a:t>
                          </a:r>
                        </a:p>
                      </a:txBody>
                      <a:tcPr/>
                    </a:tc>
                    <a:tc>
                      <a:txBody>
                        <a:bodyPr/>
                        <a:lstStyle/>
                        <a:p>
                          <a:r>
                            <a:rPr lang="en-US" sz="2400" dirty="0">
                              <a:latin typeface="Times New Roman" panose="02020603050405020304" pitchFamily="18" charset="0"/>
                              <a:cs typeface="Times New Roman" panose="02020603050405020304" pitchFamily="18" charset="0"/>
                            </a:rPr>
                            <a:t>Illustration</a:t>
                          </a:r>
                        </a:p>
                      </a:txBody>
                      <a:tcPr/>
                    </a:tc>
                    <a:tc>
                      <a:txBody>
                        <a:bodyPr/>
                        <a:lstStyle/>
                        <a:p>
                          <a:r>
                            <a:rPr lang="en-US" sz="2400" dirty="0">
                              <a:latin typeface="Times New Roman" panose="02020603050405020304" pitchFamily="18" charset="0"/>
                              <a:cs typeface="Times New Roman" panose="02020603050405020304" pitchFamily="18" charset="0"/>
                            </a:rPr>
                            <a:t>Explanation</a:t>
                          </a:r>
                        </a:p>
                      </a:txBody>
                      <a:tcPr/>
                    </a:tc>
                    <a:extLst>
                      <a:ext uri="{0D108BD9-81ED-4DB2-BD59-A6C34878D82A}">
                        <a16:rowId xmlns:a16="http://schemas.microsoft.com/office/drawing/2014/main" val="2301476429"/>
                      </a:ext>
                    </a:extLst>
                  </a:tr>
                  <a:tr h="3017520">
                    <a:tc>
                      <a:txBody>
                        <a:bodyPr/>
                        <a:lstStyle/>
                        <a:p>
                          <a:r>
                            <a:rPr lang="en-US" dirty="0">
                              <a:latin typeface="Times New Roman" panose="02020603050405020304" pitchFamily="18" charset="0"/>
                              <a:cs typeface="Times New Roman" panose="02020603050405020304" pitchFamily="18" charset="0"/>
                            </a:rPr>
                            <a:t>3.</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a:blip r:embed="rId2"/>
                          <a:stretch>
                            <a:fillRect l="-74564" t="-16768" r="-465" b="-126263"/>
                          </a:stretch>
                        </a:blipFill>
                      </a:tcPr>
                    </a:tc>
                    <a:extLst>
                      <a:ext uri="{0D108BD9-81ED-4DB2-BD59-A6C34878D82A}">
                        <a16:rowId xmlns:a16="http://schemas.microsoft.com/office/drawing/2014/main" val="3641342089"/>
                      </a:ext>
                    </a:extLst>
                  </a:tr>
                  <a:tr h="3425693">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a:blip r:embed="rId2"/>
                          <a:stretch>
                            <a:fillRect l="-74564" t="-102847" r="-465" b="-11210"/>
                          </a:stretch>
                        </a:blipFill>
                      </a:tcPr>
                    </a:tc>
                    <a:extLst>
                      <a:ext uri="{0D108BD9-81ED-4DB2-BD59-A6C34878D82A}">
                        <a16:rowId xmlns:a16="http://schemas.microsoft.com/office/drawing/2014/main" val="3565002104"/>
                      </a:ext>
                    </a:extLst>
                  </a:tr>
                  <a:tr h="365760">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40072262"/>
                      </a:ext>
                    </a:extLst>
                  </a:tr>
                </a:tbl>
              </a:graphicData>
            </a:graphic>
          </p:graphicFrame>
        </mc:Fallback>
      </mc:AlternateContent>
      <p:pic>
        <p:nvPicPr>
          <p:cNvPr id="5" name="Picture 4">
            <a:extLst>
              <a:ext uri="{FF2B5EF4-FFF2-40B4-BE49-F238E27FC236}">
                <a16:creationId xmlns:a16="http://schemas.microsoft.com/office/drawing/2014/main" id="{A5383860-CD2E-C3D9-4D43-0DD1B03357CD}"/>
              </a:ext>
            </a:extLst>
          </p:cNvPr>
          <p:cNvPicPr>
            <a:picLocks noChangeAspect="1"/>
          </p:cNvPicPr>
          <p:nvPr/>
        </p:nvPicPr>
        <p:blipFill>
          <a:blip r:embed="rId3"/>
          <a:stretch>
            <a:fillRect/>
          </a:stretch>
        </p:blipFill>
        <p:spPr>
          <a:xfrm>
            <a:off x="674204" y="396875"/>
            <a:ext cx="2994991" cy="2391674"/>
          </a:xfrm>
          <a:prstGeom prst="rect">
            <a:avLst/>
          </a:prstGeom>
        </p:spPr>
      </p:pic>
      <p:pic>
        <p:nvPicPr>
          <p:cNvPr id="9" name="Picture 8">
            <a:extLst>
              <a:ext uri="{FF2B5EF4-FFF2-40B4-BE49-F238E27FC236}">
                <a16:creationId xmlns:a16="http://schemas.microsoft.com/office/drawing/2014/main" id="{CF9AD422-242F-E4F6-C5CE-6425FD0653A3}"/>
              </a:ext>
            </a:extLst>
          </p:cNvPr>
          <p:cNvPicPr>
            <a:picLocks noChangeAspect="1"/>
          </p:cNvPicPr>
          <p:nvPr/>
        </p:nvPicPr>
        <p:blipFill>
          <a:blip r:embed="rId4"/>
          <a:stretch>
            <a:fillRect/>
          </a:stretch>
        </p:blipFill>
        <p:spPr>
          <a:xfrm>
            <a:off x="674203" y="3313456"/>
            <a:ext cx="2994991" cy="2733675"/>
          </a:xfrm>
          <a:prstGeom prst="rect">
            <a:avLst/>
          </a:prstGeom>
        </p:spPr>
      </p:pic>
    </p:spTree>
    <p:extLst>
      <p:ext uri="{BB962C8B-B14F-4D97-AF65-F5344CB8AC3E}">
        <p14:creationId xmlns:p14="http://schemas.microsoft.com/office/powerpoint/2010/main" val="6355245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BC7DE-0CA5-4B3E-96DA-5D49130A0D1F}"/>
              </a:ext>
            </a:extLst>
          </p:cNvPr>
          <p:cNvSpPr>
            <a:spLocks noGrp="1"/>
          </p:cNvSpPr>
          <p:nvPr>
            <p:ph type="title"/>
          </p:nvPr>
        </p:nvSpPr>
        <p:spPr>
          <a:xfrm>
            <a:off x="457200" y="274638"/>
            <a:ext cx="8229600" cy="715962"/>
          </a:xfrm>
          <a:solidFill>
            <a:schemeClr val="accent2">
              <a:lumMod val="75000"/>
            </a:schemeClr>
          </a:solidFill>
        </p:spPr>
        <p:txBody>
          <a:bodyPr>
            <a:noAutofit/>
          </a:bodyPr>
          <a:lstStyle/>
          <a:p>
            <a:r>
              <a:rPr lang="en-US" sz="4500" b="1" dirty="0">
                <a:latin typeface="Times New Roman" panose="02020603050405020304" pitchFamily="18" charset="0"/>
                <a:cs typeface="Times New Roman" panose="02020603050405020304" pitchFamily="18" charset="0"/>
              </a:rPr>
              <a:t>Angle of repose</a:t>
            </a:r>
          </a:p>
        </p:txBody>
      </p:sp>
      <p:sp>
        <p:nvSpPr>
          <p:cNvPr id="3" name="Content Placeholder 2">
            <a:extLst>
              <a:ext uri="{FF2B5EF4-FFF2-40B4-BE49-F238E27FC236}">
                <a16:creationId xmlns:a16="http://schemas.microsoft.com/office/drawing/2014/main" id="{47447143-2C3E-45C2-AAFE-96F0633F85C0}"/>
              </a:ext>
            </a:extLst>
          </p:cNvPr>
          <p:cNvSpPr>
            <a:spLocks noGrp="1"/>
          </p:cNvSpPr>
          <p:nvPr>
            <p:ph idx="1"/>
          </p:nvPr>
        </p:nvSpPr>
        <p:spPr>
          <a:xfrm>
            <a:off x="447822" y="1166018"/>
            <a:ext cx="8229600" cy="4525963"/>
          </a:xfrm>
        </p:spPr>
        <p:txBody>
          <a:bodyPr/>
          <a:lstStyle/>
          <a:p>
            <a:pPr marL="0" indent="0" algn="just">
              <a:buNone/>
            </a:pPr>
            <a:r>
              <a:rPr lang="en-US" dirty="0">
                <a:latin typeface="Times New Roman" panose="02020603050405020304" pitchFamily="18" charset="0"/>
                <a:cs typeface="Times New Roman" panose="02020603050405020304" pitchFamily="18" charset="0"/>
              </a:rPr>
              <a:t>The angle made by the inclined plane with horizontal such that the body just begin to slide is called angle of repose. In figure below, α is the angle of repose.</a:t>
            </a:r>
          </a:p>
          <a:p>
            <a:pPr algn="just"/>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87600A0-BE42-490D-B363-5061E94A57F5}"/>
              </a:ext>
            </a:extLst>
          </p:cNvPr>
          <p:cNvPicPr>
            <a:picLocks noChangeAspect="1"/>
          </p:cNvPicPr>
          <p:nvPr/>
        </p:nvPicPr>
        <p:blipFill>
          <a:blip r:embed="rId2"/>
          <a:stretch>
            <a:fillRect/>
          </a:stretch>
        </p:blipFill>
        <p:spPr>
          <a:xfrm>
            <a:off x="1295400" y="3505200"/>
            <a:ext cx="6705600" cy="2447892"/>
          </a:xfrm>
          <a:prstGeom prst="rect">
            <a:avLst/>
          </a:prstGeom>
        </p:spPr>
      </p:pic>
    </p:spTree>
    <p:extLst>
      <p:ext uri="{BB962C8B-B14F-4D97-AF65-F5344CB8AC3E}">
        <p14:creationId xmlns:p14="http://schemas.microsoft.com/office/powerpoint/2010/main" val="102751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2C105-8898-475A-A9F2-9F5BED72986E}"/>
              </a:ext>
            </a:extLst>
          </p:cNvPr>
          <p:cNvSpPr>
            <a:spLocks noGrp="1"/>
          </p:cNvSpPr>
          <p:nvPr>
            <p:ph type="title"/>
          </p:nvPr>
        </p:nvSpPr>
        <p:spPr>
          <a:xfrm>
            <a:off x="0" y="274638"/>
            <a:ext cx="9144000" cy="1143000"/>
          </a:xfrm>
          <a:solidFill>
            <a:srgbClr val="00B050"/>
          </a:solidFill>
        </p:spPr>
        <p:txBody>
          <a:bodyPr>
            <a:normAutofit fontScale="90000"/>
          </a:bodyPr>
          <a:lstStyle/>
          <a:p>
            <a:pPr algn="just"/>
            <a:r>
              <a:rPr lang="en-US" b="1" dirty="0">
                <a:latin typeface="Times New Roman" panose="02020603050405020304" pitchFamily="18" charset="0"/>
                <a:cs typeface="Times New Roman" panose="02020603050405020304" pitchFamily="18" charset="0"/>
              </a:rPr>
              <a:t>Condition of tipping and sliding of a block</a:t>
            </a:r>
          </a:p>
        </p:txBody>
      </p:sp>
      <p:sp>
        <p:nvSpPr>
          <p:cNvPr id="3" name="Content Placeholder 2">
            <a:extLst>
              <a:ext uri="{FF2B5EF4-FFF2-40B4-BE49-F238E27FC236}">
                <a16:creationId xmlns:a16="http://schemas.microsoft.com/office/drawing/2014/main" id="{4815FF42-5612-4B96-B273-E17F2D0D00C5}"/>
              </a:ext>
            </a:extLst>
          </p:cNvPr>
          <p:cNvSpPr>
            <a:spLocks noGrp="1"/>
          </p:cNvSpPr>
          <p:nvPr>
            <p:ph idx="1"/>
          </p:nvPr>
        </p:nvSpPr>
        <p:spPr>
          <a:xfrm>
            <a:off x="0" y="1600200"/>
            <a:ext cx="9144000" cy="5257800"/>
          </a:xfrm>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As the magnitude of frictional force (F),increases from 0 to Fs, the point of application of the resultant (R) moves towards the right end of the block.</a:t>
            </a:r>
          </a:p>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Couples formed by P,F,W and N remain balanced.</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 R reaches B(end of block) before reaches its maximum value(Fs or </a:t>
            </a:r>
            <a:r>
              <a:rPr lang="en-US" dirty="0" err="1">
                <a:latin typeface="Times New Roman" panose="02020603050405020304" pitchFamily="18" charset="0"/>
                <a:cs typeface="Times New Roman" panose="02020603050405020304" pitchFamily="18" charset="0"/>
              </a:rPr>
              <a:t>Fm</a:t>
            </a:r>
            <a:r>
              <a:rPr lang="en-US" dirty="0">
                <a:latin typeface="Times New Roman" panose="02020603050405020304" pitchFamily="18" charset="0"/>
                <a:cs typeface="Times New Roman" panose="02020603050405020304" pitchFamily="18" charset="0"/>
              </a:rPr>
              <a:t>), the block will tip about B before sliding. </a:t>
            </a:r>
          </a:p>
        </p:txBody>
      </p:sp>
    </p:spTree>
    <p:extLst>
      <p:ext uri="{BB962C8B-B14F-4D97-AF65-F5344CB8AC3E}">
        <p14:creationId xmlns:p14="http://schemas.microsoft.com/office/powerpoint/2010/main" val="4061345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2ECDA-6674-476D-9BBF-CC76ECBDF5C5}"/>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4B5D922B-D5B3-404F-B567-185684F2A489}"/>
              </a:ext>
            </a:extLst>
          </p:cNvPr>
          <p:cNvPicPr>
            <a:picLocks noGrp="1" noChangeAspect="1"/>
          </p:cNvPicPr>
          <p:nvPr>
            <p:ph idx="1"/>
          </p:nvPr>
        </p:nvPicPr>
        <p:blipFill>
          <a:blip r:embed="rId2"/>
          <a:stretch>
            <a:fillRect/>
          </a:stretch>
        </p:blipFill>
        <p:spPr>
          <a:xfrm>
            <a:off x="485335" y="381000"/>
            <a:ext cx="8049065" cy="6537657"/>
          </a:xfrm>
          <a:prstGeom prst="rect">
            <a:avLst/>
          </a:prstGeom>
        </p:spPr>
      </p:pic>
    </p:spTree>
    <p:extLst>
      <p:ext uri="{BB962C8B-B14F-4D97-AF65-F5344CB8AC3E}">
        <p14:creationId xmlns:p14="http://schemas.microsoft.com/office/powerpoint/2010/main" val="18701238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D0BA6-C99D-4B34-BB46-DA1C76CBC4D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Condition of tipping and sliding</a:t>
            </a:r>
          </a:p>
        </p:txBody>
      </p:sp>
      <p:pic>
        <p:nvPicPr>
          <p:cNvPr id="4" name="Content Placeholder 3">
            <a:extLst>
              <a:ext uri="{FF2B5EF4-FFF2-40B4-BE49-F238E27FC236}">
                <a16:creationId xmlns:a16="http://schemas.microsoft.com/office/drawing/2014/main" id="{D31A323A-54F6-405C-B2EE-9018DC2437ED}"/>
              </a:ext>
            </a:extLst>
          </p:cNvPr>
          <p:cNvPicPr>
            <a:picLocks noGrp="1" noChangeAspect="1"/>
          </p:cNvPicPr>
          <p:nvPr>
            <p:ph idx="1"/>
          </p:nvPr>
        </p:nvPicPr>
        <p:blipFill>
          <a:blip r:embed="rId2"/>
          <a:stretch>
            <a:fillRect/>
          </a:stretch>
        </p:blipFill>
        <p:spPr>
          <a:xfrm>
            <a:off x="3733800" y="1402398"/>
            <a:ext cx="5410200" cy="3505200"/>
          </a:xfrm>
          <a:prstGeom prst="rect">
            <a:avLst/>
          </a:prstGeom>
        </p:spPr>
      </p:pic>
      <p:pic>
        <p:nvPicPr>
          <p:cNvPr id="5" name="Picture 4">
            <a:extLst>
              <a:ext uri="{FF2B5EF4-FFF2-40B4-BE49-F238E27FC236}">
                <a16:creationId xmlns:a16="http://schemas.microsoft.com/office/drawing/2014/main" id="{09354402-8CD1-4A01-BB61-F5F2C3EA6111}"/>
              </a:ext>
            </a:extLst>
          </p:cNvPr>
          <p:cNvPicPr>
            <a:picLocks noChangeAspect="1"/>
          </p:cNvPicPr>
          <p:nvPr/>
        </p:nvPicPr>
        <p:blipFill>
          <a:blip r:embed="rId3"/>
          <a:stretch>
            <a:fillRect/>
          </a:stretch>
        </p:blipFill>
        <p:spPr>
          <a:xfrm>
            <a:off x="228600" y="1417638"/>
            <a:ext cx="3124200" cy="4014429"/>
          </a:xfrm>
          <a:prstGeom prst="rect">
            <a:avLst/>
          </a:prstGeom>
        </p:spPr>
      </p:pic>
      <p:sp>
        <p:nvSpPr>
          <p:cNvPr id="6" name="TextBox 5">
            <a:extLst>
              <a:ext uri="{FF2B5EF4-FFF2-40B4-BE49-F238E27FC236}">
                <a16:creationId xmlns:a16="http://schemas.microsoft.com/office/drawing/2014/main" id="{0DF85F03-0FB3-44DA-8FAC-D8C37B7F2C98}"/>
              </a:ext>
            </a:extLst>
          </p:cNvPr>
          <p:cNvSpPr txBox="1"/>
          <p:nvPr/>
        </p:nvSpPr>
        <p:spPr>
          <a:xfrm>
            <a:off x="3733800" y="5181600"/>
            <a:ext cx="51816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 Sliding                              Fig b. Tipping</a:t>
            </a:r>
          </a:p>
        </p:txBody>
      </p:sp>
    </p:spTree>
    <p:extLst>
      <p:ext uri="{BB962C8B-B14F-4D97-AF65-F5344CB8AC3E}">
        <p14:creationId xmlns:p14="http://schemas.microsoft.com/office/powerpoint/2010/main" val="1149725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5C73-1399-4EEF-81B7-954E1A16FFDB}"/>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Numericals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A2AF31-A2D4-4155-8F23-BC09EA518377}"/>
              </a:ext>
            </a:extLst>
          </p:cNvPr>
          <p:cNvSpPr>
            <a:spLocks noGrp="1"/>
          </p:cNvSpPr>
          <p:nvPr>
            <p:ph idx="1"/>
          </p:nvPr>
        </p:nvSpPr>
        <p:spPr>
          <a:xfrm>
            <a:off x="0" y="1600200"/>
            <a:ext cx="8686800" cy="4525963"/>
          </a:xfrm>
        </p:spPr>
        <p:txBody>
          <a:bodyPr/>
          <a:lstStyle/>
          <a:p>
            <a:pPr algn="just"/>
            <a:r>
              <a:rPr lang="en-US" dirty="0">
                <a:latin typeface="Times New Roman" panose="02020603050405020304" pitchFamily="18" charset="0"/>
                <a:cs typeface="Times New Roman" panose="02020603050405020304" pitchFamily="18" charset="0"/>
              </a:rPr>
              <a:t> A body of weight 300 N is lying on a rough horizontal plane having a coefficient of friction as 0.3. Find the magnitude of the force, which can move the body, while acting at an angle of 25° with the horizontal. </a:t>
            </a:r>
          </a:p>
        </p:txBody>
      </p:sp>
      <p:pic>
        <p:nvPicPr>
          <p:cNvPr id="4" name="Picture 3">
            <a:extLst>
              <a:ext uri="{FF2B5EF4-FFF2-40B4-BE49-F238E27FC236}">
                <a16:creationId xmlns:a16="http://schemas.microsoft.com/office/drawing/2014/main" id="{E1190429-AA3B-415F-BE0D-A8DD44774806}"/>
              </a:ext>
            </a:extLst>
          </p:cNvPr>
          <p:cNvPicPr>
            <a:picLocks noChangeAspect="1"/>
          </p:cNvPicPr>
          <p:nvPr/>
        </p:nvPicPr>
        <p:blipFill>
          <a:blip r:embed="rId2"/>
          <a:stretch>
            <a:fillRect/>
          </a:stretch>
        </p:blipFill>
        <p:spPr>
          <a:xfrm>
            <a:off x="2438400" y="4213225"/>
            <a:ext cx="3486150" cy="2095500"/>
          </a:xfrm>
          <a:prstGeom prst="rect">
            <a:avLst/>
          </a:prstGeom>
        </p:spPr>
      </p:pic>
    </p:spTree>
    <p:extLst>
      <p:ext uri="{BB962C8B-B14F-4D97-AF65-F5344CB8AC3E}">
        <p14:creationId xmlns:p14="http://schemas.microsoft.com/office/powerpoint/2010/main" val="1798792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90411-97BB-46C7-AC82-C2318D61039A}"/>
              </a:ext>
            </a:extLst>
          </p:cNvPr>
          <p:cNvSpPr>
            <a:spLocks noGrp="1"/>
          </p:cNvSpPr>
          <p:nvPr>
            <p:ph type="title"/>
          </p:nvPr>
        </p:nvSpPr>
        <p:spPr/>
        <p:txBody>
          <a:bodyPr>
            <a:normAutofit/>
          </a:bodyPr>
          <a:lstStyle/>
          <a:p>
            <a:r>
              <a:rPr lang="en-US" sz="6000" dirty="0">
                <a:latin typeface="Times New Roman" panose="02020603050405020304" pitchFamily="18" charset="0"/>
                <a:cs typeface="Times New Roman" panose="02020603050405020304" pitchFamily="18" charset="0"/>
              </a:rPr>
              <a:t>Application :</a:t>
            </a:r>
          </a:p>
        </p:txBody>
      </p:sp>
      <p:sp>
        <p:nvSpPr>
          <p:cNvPr id="3" name="Content Placeholder 2">
            <a:extLst>
              <a:ext uri="{FF2B5EF4-FFF2-40B4-BE49-F238E27FC236}">
                <a16:creationId xmlns:a16="http://schemas.microsoft.com/office/drawing/2014/main" id="{C5F8CBC2-5A93-4D36-B64A-1E1CC4FAEDDB}"/>
              </a:ext>
            </a:extLst>
          </p:cNvPr>
          <p:cNvSpPr>
            <a:spLocks noGrp="1"/>
          </p:cNvSpPr>
          <p:nvPr>
            <p:ph idx="1"/>
          </p:nvPr>
        </p:nvSpPr>
        <p:spPr/>
        <p:txBody>
          <a:bodyPr/>
          <a:lstStyle/>
          <a:p>
            <a:r>
              <a:rPr lang="en-US" sz="4400" dirty="0">
                <a:latin typeface="Times New Roman" panose="02020603050405020304" pitchFamily="18" charset="0"/>
                <a:cs typeface="Times New Roman" panose="02020603050405020304" pitchFamily="18" charset="0"/>
              </a:rPr>
              <a:t>Ladder friction</a:t>
            </a:r>
          </a:p>
          <a:p>
            <a:endParaRPr lang="en-US" dirty="0"/>
          </a:p>
        </p:txBody>
      </p:sp>
      <p:pic>
        <p:nvPicPr>
          <p:cNvPr id="4" name="Content Placeholder 3">
            <a:extLst>
              <a:ext uri="{FF2B5EF4-FFF2-40B4-BE49-F238E27FC236}">
                <a16:creationId xmlns:a16="http://schemas.microsoft.com/office/drawing/2014/main" id="{D5BBC135-79B2-40BF-A151-10A7BEFEEB63}"/>
              </a:ext>
            </a:extLst>
          </p:cNvPr>
          <p:cNvPicPr>
            <a:picLocks noChangeAspect="1"/>
          </p:cNvPicPr>
          <p:nvPr/>
        </p:nvPicPr>
        <p:blipFill>
          <a:blip r:embed="rId2"/>
          <a:stretch>
            <a:fillRect/>
          </a:stretch>
        </p:blipFill>
        <p:spPr>
          <a:xfrm>
            <a:off x="838200" y="2438400"/>
            <a:ext cx="6619729" cy="3870325"/>
          </a:xfrm>
          <a:prstGeom prst="rect">
            <a:avLst/>
          </a:prstGeom>
        </p:spPr>
      </p:pic>
    </p:spTree>
    <p:extLst>
      <p:ext uri="{BB962C8B-B14F-4D97-AF65-F5344CB8AC3E}">
        <p14:creationId xmlns:p14="http://schemas.microsoft.com/office/powerpoint/2010/main" val="2412065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842-C406-4C37-998B-F6D9347BD3C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1DC2694-C99E-4EBC-A6BF-DDFE12C1C31E}"/>
              </a:ext>
            </a:extLst>
          </p:cNvPr>
          <p:cNvPicPr>
            <a:picLocks noGrp="1" noChangeAspect="1"/>
          </p:cNvPicPr>
          <p:nvPr>
            <p:ph idx="1"/>
          </p:nvPr>
        </p:nvPicPr>
        <p:blipFill>
          <a:blip r:embed="rId2"/>
          <a:stretch>
            <a:fillRect/>
          </a:stretch>
        </p:blipFill>
        <p:spPr>
          <a:xfrm>
            <a:off x="609600" y="457200"/>
            <a:ext cx="6096000" cy="6019800"/>
          </a:xfrm>
          <a:prstGeom prst="rect">
            <a:avLst/>
          </a:prstGeom>
        </p:spPr>
      </p:pic>
    </p:spTree>
    <p:extLst>
      <p:ext uri="{BB962C8B-B14F-4D97-AF65-F5344CB8AC3E}">
        <p14:creationId xmlns:p14="http://schemas.microsoft.com/office/powerpoint/2010/main" val="3749209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2B4A0C-FA3A-40BB-A27E-7DE717E487FD}"/>
              </a:ext>
            </a:extLst>
          </p:cNvPr>
          <p:cNvSpPr>
            <a:spLocks noGrp="1"/>
          </p:cNvSpPr>
          <p:nvPr>
            <p:ph idx="1"/>
          </p:nvPr>
        </p:nvSpPr>
        <p:spPr>
          <a:xfrm>
            <a:off x="0" y="152400"/>
            <a:ext cx="8991600" cy="6858000"/>
          </a:xfrm>
        </p:spPr>
        <p:txBody>
          <a:bodyPr>
            <a:normAutofit/>
          </a:bodyPr>
          <a:lstStyle/>
          <a:p>
            <a:pPr algn="just"/>
            <a:r>
              <a:rPr lang="en-US" dirty="0">
                <a:latin typeface="Times New Roman" panose="02020603050405020304" pitchFamily="18" charset="0"/>
                <a:cs typeface="Times New Roman" panose="02020603050405020304" pitchFamily="18" charset="0"/>
              </a:rPr>
              <a:t>Consider a ladder AB resting on the rough ground and leaning against a wall, as shown in Fig. 9.1. </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As the upper end of the ladder tends to slip downwards, therefore the direction of the force of friction between the ladder and the wall (</a:t>
            </a:r>
            <a:r>
              <a:rPr lang="en-US" dirty="0" err="1">
                <a:latin typeface="Times New Roman" panose="02020603050405020304" pitchFamily="18" charset="0"/>
                <a:cs typeface="Times New Roman" panose="02020603050405020304" pitchFamily="18" charset="0"/>
              </a:rPr>
              <a:t>Fw</a:t>
            </a:r>
            <a:r>
              <a:rPr lang="en-US" dirty="0">
                <a:latin typeface="Times New Roman" panose="02020603050405020304" pitchFamily="18" charset="0"/>
                <a:cs typeface="Times New Roman" panose="02020603050405020304" pitchFamily="18" charset="0"/>
              </a:rPr>
              <a:t>) will be upwards as shown in the figure.</a:t>
            </a:r>
          </a:p>
        </p:txBody>
      </p:sp>
    </p:spTree>
    <p:extLst>
      <p:ext uri="{BB962C8B-B14F-4D97-AF65-F5344CB8AC3E}">
        <p14:creationId xmlns:p14="http://schemas.microsoft.com/office/powerpoint/2010/main" val="19321993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2B4A0C-FA3A-40BB-A27E-7DE717E487FD}"/>
              </a:ext>
            </a:extLst>
          </p:cNvPr>
          <p:cNvSpPr>
            <a:spLocks noGrp="1"/>
          </p:cNvSpPr>
          <p:nvPr>
            <p:ph idx="1"/>
          </p:nvPr>
        </p:nvSpPr>
        <p:spPr>
          <a:xfrm>
            <a:off x="0" y="152400"/>
            <a:ext cx="8991600" cy="6858000"/>
          </a:xfrm>
        </p:spPr>
        <p:txBody>
          <a:bodyPr>
            <a:normAutofit/>
          </a:bodyPr>
          <a:lstStyle/>
          <a:p>
            <a:pPr algn="just"/>
            <a:r>
              <a:rPr lang="en-US" dirty="0">
                <a:latin typeface="Times New Roman" panose="02020603050405020304" pitchFamily="18" charset="0"/>
                <a:cs typeface="Times New Roman" panose="02020603050405020304" pitchFamily="18" charset="0"/>
              </a:rPr>
              <a:t>Similarly, as the lower end of the ladder tends to slip away from the wall, therefore the direction of the force of friction between the ladder and the floor (Ff) will be towards the wall as shown in the figure.</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Since the system is in equilibrium, therefore the algebraic sum of the horizontal and vertical components of the forces must also be equal to zero. </a:t>
            </a:r>
          </a:p>
        </p:txBody>
      </p:sp>
    </p:spTree>
    <p:extLst>
      <p:ext uri="{BB962C8B-B14F-4D97-AF65-F5344CB8AC3E}">
        <p14:creationId xmlns:p14="http://schemas.microsoft.com/office/powerpoint/2010/main" val="26618346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E946C-AFBE-404D-A98B-0C218D797EC3}"/>
              </a:ext>
            </a:extLst>
          </p:cNvPr>
          <p:cNvSpPr>
            <a:spLocks noGrp="1"/>
          </p:cNvSpPr>
          <p:nvPr>
            <p:ph type="title"/>
          </p:nvPr>
        </p:nvSpPr>
        <p:spPr/>
        <p:txBody>
          <a:bodyPr>
            <a:normAutofit/>
          </a:bodyPr>
          <a:lstStyle/>
          <a:p>
            <a:r>
              <a:rPr lang="en-US" sz="5400" b="1" dirty="0">
                <a:latin typeface="Times New Roman" panose="02020603050405020304" pitchFamily="18" charset="0"/>
                <a:cs typeface="Times New Roman" panose="02020603050405020304" pitchFamily="18" charset="0"/>
              </a:rPr>
              <a:t>Note:</a:t>
            </a:r>
          </a:p>
        </p:txBody>
      </p:sp>
      <p:sp>
        <p:nvSpPr>
          <p:cNvPr id="3" name="Content Placeholder 2">
            <a:extLst>
              <a:ext uri="{FF2B5EF4-FFF2-40B4-BE49-F238E27FC236}">
                <a16:creationId xmlns:a16="http://schemas.microsoft.com/office/drawing/2014/main" id="{33E27D77-0BCC-4DDE-99C2-21C0ED56F2EF}"/>
              </a:ext>
            </a:extLst>
          </p:cNvPr>
          <p:cNvSpPr>
            <a:spLocks noGrp="1"/>
          </p:cNvSpPr>
          <p:nvPr>
            <p:ph idx="1"/>
          </p:nvPr>
        </p:nvSpPr>
        <p:spPr>
          <a:xfrm>
            <a:off x="0" y="1600200"/>
            <a:ext cx="9144000" cy="4525963"/>
          </a:xfrm>
        </p:spPr>
        <p:txBody>
          <a:bodyPr>
            <a:noAutofit/>
          </a:bodyPr>
          <a:lstStyle/>
          <a:p>
            <a:pPr algn="just"/>
            <a:r>
              <a:rPr lang="en-US" sz="4800" dirty="0">
                <a:latin typeface="Times New Roman" panose="02020603050405020304" pitchFamily="18" charset="0"/>
                <a:cs typeface="Times New Roman" panose="02020603050405020304" pitchFamily="18" charset="0"/>
              </a:rPr>
              <a:t>The normal reaction at the floor (Rf) will act perpendicular of the floor. </a:t>
            </a:r>
          </a:p>
          <a:p>
            <a:pPr algn="just"/>
            <a:r>
              <a:rPr lang="en-US" sz="4800" dirty="0">
                <a:latin typeface="Times New Roman" panose="02020603050405020304" pitchFamily="18" charset="0"/>
                <a:cs typeface="Times New Roman" panose="02020603050405020304" pitchFamily="18" charset="0"/>
              </a:rPr>
              <a:t>Similarly, normal reaction of the wall (</a:t>
            </a:r>
            <a:r>
              <a:rPr lang="en-US" sz="4800" dirty="0" err="1">
                <a:latin typeface="Times New Roman" panose="02020603050405020304" pitchFamily="18" charset="0"/>
                <a:cs typeface="Times New Roman" panose="02020603050405020304" pitchFamily="18" charset="0"/>
              </a:rPr>
              <a:t>Rw</a:t>
            </a:r>
            <a:r>
              <a:rPr lang="en-US" sz="4800" dirty="0">
                <a:latin typeface="Times New Roman" panose="02020603050405020304" pitchFamily="18" charset="0"/>
                <a:cs typeface="Times New Roman" panose="02020603050405020304" pitchFamily="18" charset="0"/>
              </a:rPr>
              <a:t>) will also act perpendicular to the wall. </a:t>
            </a:r>
          </a:p>
        </p:txBody>
      </p:sp>
    </p:spTree>
    <p:extLst>
      <p:ext uri="{BB962C8B-B14F-4D97-AF65-F5344CB8AC3E}">
        <p14:creationId xmlns:p14="http://schemas.microsoft.com/office/powerpoint/2010/main" val="2713148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1778-CFBC-4C95-8061-F952AD1F9E2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938CC87E-1799-4192-8207-A56E366453EC}"/>
              </a:ext>
            </a:extLst>
          </p:cNvPr>
          <p:cNvPicPr>
            <a:picLocks noGrp="1" noChangeAspect="1"/>
          </p:cNvPicPr>
          <p:nvPr>
            <p:ph idx="1"/>
          </p:nvPr>
        </p:nvPicPr>
        <p:blipFill>
          <a:blip r:embed="rId2"/>
          <a:stretch>
            <a:fillRect/>
          </a:stretch>
        </p:blipFill>
        <p:spPr>
          <a:xfrm>
            <a:off x="550152" y="981477"/>
            <a:ext cx="8593848" cy="5968153"/>
          </a:xfrm>
          <a:prstGeom prst="rect">
            <a:avLst/>
          </a:prstGeom>
        </p:spPr>
      </p:pic>
    </p:spTree>
    <p:extLst>
      <p:ext uri="{BB962C8B-B14F-4D97-AF65-F5344CB8AC3E}">
        <p14:creationId xmlns:p14="http://schemas.microsoft.com/office/powerpoint/2010/main" val="35691291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7D736-912F-4EA5-9B59-E6CE799D7BD4}"/>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B68A3EB1-CF1D-4779-BB89-3D3275EE8A3F}"/>
              </a:ext>
            </a:extLst>
          </p:cNvPr>
          <p:cNvPicPr>
            <a:picLocks noGrp="1" noChangeAspect="1"/>
          </p:cNvPicPr>
          <p:nvPr>
            <p:ph idx="1"/>
          </p:nvPr>
        </p:nvPicPr>
        <p:blipFill>
          <a:blip r:embed="rId2"/>
          <a:stretch>
            <a:fillRect/>
          </a:stretch>
        </p:blipFill>
        <p:spPr>
          <a:xfrm>
            <a:off x="276737" y="348162"/>
            <a:ext cx="8744171" cy="5747838"/>
          </a:xfrm>
          <a:prstGeom prst="rect">
            <a:avLst/>
          </a:prstGeom>
        </p:spPr>
      </p:pic>
    </p:spTree>
    <p:extLst>
      <p:ext uri="{BB962C8B-B14F-4D97-AF65-F5344CB8AC3E}">
        <p14:creationId xmlns:p14="http://schemas.microsoft.com/office/powerpoint/2010/main" val="16611402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CB24D-85C8-4B2F-BB9D-4D0587BB52DF}"/>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51C0E85F-9814-4EC9-B30D-3EDCF159D4AC}"/>
              </a:ext>
            </a:extLst>
          </p:cNvPr>
          <p:cNvPicPr>
            <a:picLocks noGrp="1" noChangeAspect="1"/>
          </p:cNvPicPr>
          <p:nvPr>
            <p:ph idx="1"/>
          </p:nvPr>
        </p:nvPicPr>
        <p:blipFill>
          <a:blip r:embed="rId2"/>
          <a:stretch>
            <a:fillRect/>
          </a:stretch>
        </p:blipFill>
        <p:spPr>
          <a:xfrm>
            <a:off x="35169" y="937691"/>
            <a:ext cx="3668152" cy="5131627"/>
          </a:xfrm>
          <a:prstGeom prst="rect">
            <a:avLst/>
          </a:prstGeom>
        </p:spPr>
      </p:pic>
      <p:pic>
        <p:nvPicPr>
          <p:cNvPr id="5" name="Content Placeholder 3">
            <a:extLst>
              <a:ext uri="{FF2B5EF4-FFF2-40B4-BE49-F238E27FC236}">
                <a16:creationId xmlns:a16="http://schemas.microsoft.com/office/drawing/2014/main" id="{7EF8B180-6FCE-4721-B9EA-CCF9B83A0D66}"/>
              </a:ext>
            </a:extLst>
          </p:cNvPr>
          <p:cNvPicPr>
            <a:picLocks noChangeAspect="1"/>
          </p:cNvPicPr>
          <p:nvPr/>
        </p:nvPicPr>
        <p:blipFill>
          <a:blip r:embed="rId3"/>
          <a:stretch>
            <a:fillRect/>
          </a:stretch>
        </p:blipFill>
        <p:spPr>
          <a:xfrm>
            <a:off x="3840480" y="937690"/>
            <a:ext cx="4579033" cy="4333657"/>
          </a:xfrm>
          <a:prstGeom prst="rect">
            <a:avLst/>
          </a:prstGeom>
        </p:spPr>
      </p:pic>
    </p:spTree>
    <p:extLst>
      <p:ext uri="{BB962C8B-B14F-4D97-AF65-F5344CB8AC3E}">
        <p14:creationId xmlns:p14="http://schemas.microsoft.com/office/powerpoint/2010/main" val="31276968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6D700-6D4D-4083-9713-CB3B04047978}"/>
              </a:ext>
            </a:extLst>
          </p:cNvPr>
          <p:cNvSpPr>
            <a:spLocks noGrp="1"/>
          </p:cNvSpPr>
          <p:nvPr>
            <p:ph type="title"/>
          </p:nvPr>
        </p:nvSpPr>
        <p:spPr>
          <a:xfrm>
            <a:off x="74369" y="1523146"/>
            <a:ext cx="8995262" cy="991454"/>
          </a:xfrm>
        </p:spPr>
        <p:txBody>
          <a:bodyPr>
            <a:noAutofit/>
          </a:bodyPr>
          <a:lstStyle/>
          <a:p>
            <a:pPr algn="just"/>
            <a:r>
              <a:rPr lang="en-US" sz="2800" dirty="0">
                <a:latin typeface="Times New Roman" panose="02020603050405020304" pitchFamily="18" charset="0"/>
                <a:cs typeface="Times New Roman" panose="02020603050405020304" pitchFamily="18" charset="0"/>
              </a:rPr>
              <a:t>A uniform ladder of length 3.25m and weighing 250 N is placed against a smooth vertical wall with its lower end 1.25m from the </a:t>
            </a:r>
            <a:r>
              <a:rPr lang="en-US" sz="2800" dirty="0" err="1">
                <a:latin typeface="Times New Roman" panose="02020603050405020304" pitchFamily="18" charset="0"/>
                <a:cs typeface="Times New Roman" panose="02020603050405020304" pitchFamily="18" charset="0"/>
              </a:rPr>
              <a:t>wall.The</a:t>
            </a:r>
            <a:r>
              <a:rPr lang="en-US" sz="2800" dirty="0">
                <a:latin typeface="Times New Roman" panose="02020603050405020304" pitchFamily="18" charset="0"/>
                <a:cs typeface="Times New Roman" panose="02020603050405020304" pitchFamily="18" charset="0"/>
              </a:rPr>
              <a:t> coefficient of friction between the ladder and floor is 0.3.What is the frictional force acting on the ladder at the point of contact between the ladder and </a:t>
            </a:r>
            <a:r>
              <a:rPr lang="en-US" sz="2800" dirty="0" err="1">
                <a:latin typeface="Times New Roman" panose="02020603050405020304" pitchFamily="18" charset="0"/>
                <a:cs typeface="Times New Roman" panose="02020603050405020304" pitchFamily="18" charset="0"/>
              </a:rPr>
              <a:t>floor?Show</a:t>
            </a:r>
            <a:r>
              <a:rPr lang="en-US" sz="2800" dirty="0">
                <a:latin typeface="Times New Roman" panose="02020603050405020304" pitchFamily="18" charset="0"/>
                <a:cs typeface="Times New Roman" panose="02020603050405020304" pitchFamily="18" charset="0"/>
              </a:rPr>
              <a:t> that the ladder will remain in equilibrium in this position.</a:t>
            </a:r>
          </a:p>
        </p:txBody>
      </p:sp>
      <p:pic>
        <p:nvPicPr>
          <p:cNvPr id="6" name="Picture 5">
            <a:extLst>
              <a:ext uri="{FF2B5EF4-FFF2-40B4-BE49-F238E27FC236}">
                <a16:creationId xmlns:a16="http://schemas.microsoft.com/office/drawing/2014/main" id="{3E2DCA71-0FA8-4622-984D-BEE44D5FD222}"/>
              </a:ext>
            </a:extLst>
          </p:cNvPr>
          <p:cNvPicPr>
            <a:picLocks noChangeAspect="1"/>
          </p:cNvPicPr>
          <p:nvPr/>
        </p:nvPicPr>
        <p:blipFill>
          <a:blip r:embed="rId2"/>
          <a:stretch>
            <a:fillRect/>
          </a:stretch>
        </p:blipFill>
        <p:spPr>
          <a:xfrm>
            <a:off x="5257800" y="3278945"/>
            <a:ext cx="3238500" cy="3596640"/>
          </a:xfrm>
          <a:prstGeom prst="rect">
            <a:avLst/>
          </a:prstGeom>
        </p:spPr>
      </p:pic>
    </p:spTree>
    <p:extLst>
      <p:ext uri="{BB962C8B-B14F-4D97-AF65-F5344CB8AC3E}">
        <p14:creationId xmlns:p14="http://schemas.microsoft.com/office/powerpoint/2010/main" val="1990035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A901F-FCD5-4425-BB77-B4D395E6CD39}"/>
              </a:ext>
            </a:extLst>
          </p:cNvPr>
          <p:cNvSpPr>
            <a:spLocks noGrp="1"/>
          </p:cNvSpPr>
          <p:nvPr>
            <p:ph type="title"/>
          </p:nvPr>
        </p:nvSpPr>
        <p:spPr>
          <a:xfrm>
            <a:off x="304800" y="838200"/>
            <a:ext cx="8229600" cy="1143000"/>
          </a:xfrm>
        </p:spPr>
        <p:txBody>
          <a:bodyPr>
            <a:noAutofit/>
          </a:bodyPr>
          <a:lstStyle/>
          <a:p>
            <a:pPr algn="just"/>
            <a:r>
              <a:rPr lang="en-US" sz="2800" dirty="0">
                <a:latin typeface="Times New Roman" panose="02020603050405020304" pitchFamily="18" charset="0"/>
                <a:cs typeface="Times New Roman" panose="02020603050405020304" pitchFamily="18" charset="0"/>
              </a:rPr>
              <a:t>A ladder 5m long rests on a horizontal ground and lean against a smooth vertical wall at an angle 70 degree with the horizontal. The weight of the ladder is 900 N and acts at its middle. The ladder is at the point of sliding, when a man weighing 750 N stands on a rung 1.5 m from the bottom of the ladder. Calculate the coefficient of friction between the ladder and the floor.</a:t>
            </a:r>
          </a:p>
        </p:txBody>
      </p:sp>
      <p:pic>
        <p:nvPicPr>
          <p:cNvPr id="6" name="Content Placeholder 5">
            <a:extLst>
              <a:ext uri="{FF2B5EF4-FFF2-40B4-BE49-F238E27FC236}">
                <a16:creationId xmlns:a16="http://schemas.microsoft.com/office/drawing/2014/main" id="{105BFEF4-D6B9-4C05-9104-01F47CD98695}"/>
              </a:ext>
            </a:extLst>
          </p:cNvPr>
          <p:cNvPicPr>
            <a:picLocks noGrp="1" noChangeAspect="1"/>
          </p:cNvPicPr>
          <p:nvPr>
            <p:ph idx="1"/>
          </p:nvPr>
        </p:nvPicPr>
        <p:blipFill rotWithShape="1">
          <a:blip r:embed="rId2"/>
          <a:srcRect t="2350" b="8418"/>
          <a:stretch/>
        </p:blipFill>
        <p:spPr>
          <a:xfrm>
            <a:off x="5520127" y="2857501"/>
            <a:ext cx="3014273" cy="4038600"/>
          </a:xfrm>
          <a:prstGeom prst="rect">
            <a:avLst/>
          </a:prstGeom>
        </p:spPr>
      </p:pic>
    </p:spTree>
    <p:extLst>
      <p:ext uri="{BB962C8B-B14F-4D97-AF65-F5344CB8AC3E}">
        <p14:creationId xmlns:p14="http://schemas.microsoft.com/office/powerpoint/2010/main" val="4464002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EA791-E96E-49DA-8B83-60C0DADCECC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Block friction</a:t>
            </a:r>
          </a:p>
        </p:txBody>
      </p:sp>
      <p:sp>
        <p:nvSpPr>
          <p:cNvPr id="3" name="Content Placeholder 2">
            <a:extLst>
              <a:ext uri="{FF2B5EF4-FFF2-40B4-BE49-F238E27FC236}">
                <a16:creationId xmlns:a16="http://schemas.microsoft.com/office/drawing/2014/main" id="{E37A95E1-8899-4973-9356-66AAAE79957D}"/>
              </a:ext>
            </a:extLst>
          </p:cNvPr>
          <p:cNvSpPr>
            <a:spLocks noGrp="1"/>
          </p:cNvSpPr>
          <p:nvPr>
            <p:ph idx="1"/>
          </p:nvPr>
        </p:nvSpPr>
        <p:spPr>
          <a:xfrm>
            <a:off x="457200" y="1600200"/>
            <a:ext cx="8610600" cy="4525963"/>
          </a:xfrm>
        </p:spPr>
        <p:txBody>
          <a:bodyPr>
            <a:normAutofit/>
          </a:bodyPr>
          <a:lstStyle/>
          <a:p>
            <a:r>
              <a:rPr lang="en-US" sz="3600" dirty="0">
                <a:latin typeface="Times New Roman" panose="02020603050405020304" pitchFamily="18" charset="0"/>
                <a:cs typeface="Times New Roman" panose="02020603050405020304" pitchFamily="18" charset="0"/>
              </a:rPr>
              <a:t>Problem on block friction(horizontal plane)</a:t>
            </a:r>
          </a:p>
          <a:p>
            <a:r>
              <a:rPr lang="en-US" sz="3600" dirty="0">
                <a:latin typeface="Times New Roman" panose="02020603050405020304" pitchFamily="18" charset="0"/>
                <a:cs typeface="Times New Roman" panose="02020603050405020304" pitchFamily="18" charset="0"/>
              </a:rPr>
              <a:t>Problem on block friction(incline plane)</a:t>
            </a:r>
          </a:p>
          <a:p>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4195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4E12D-B38F-6A40-E40D-D36AB34EFFE9}"/>
              </a:ext>
            </a:extLst>
          </p:cNvPr>
          <p:cNvSpPr>
            <a:spLocks noGrp="1"/>
          </p:cNvSpPr>
          <p:nvPr>
            <p:ph type="title"/>
          </p:nvPr>
        </p:nvSpPr>
        <p:spPr>
          <a:xfrm>
            <a:off x="190500" y="274638"/>
            <a:ext cx="8763000" cy="1143000"/>
          </a:xfrm>
        </p:spPr>
        <p:txBody>
          <a:bodyPr>
            <a:normAutofit fontScale="90000"/>
          </a:bodyPr>
          <a:lstStyle/>
          <a:p>
            <a:r>
              <a:rPr lang="en-US" b="1" dirty="0"/>
              <a:t>Problems on block friction(horizontal plane) </a:t>
            </a:r>
          </a:p>
        </p:txBody>
      </p:sp>
      <p:graphicFrame>
        <p:nvGraphicFramePr>
          <p:cNvPr id="4" name="Content Placeholder 3">
            <a:extLst>
              <a:ext uri="{FF2B5EF4-FFF2-40B4-BE49-F238E27FC236}">
                <a16:creationId xmlns:a16="http://schemas.microsoft.com/office/drawing/2014/main" id="{F1FB9EE0-4010-D1B1-1EFA-E89CAD35F67F}"/>
              </a:ext>
            </a:extLst>
          </p:cNvPr>
          <p:cNvGraphicFramePr>
            <a:graphicFrameLocks noGrp="1"/>
          </p:cNvGraphicFramePr>
          <p:nvPr>
            <p:ph idx="1"/>
            <p:extLst>
              <p:ext uri="{D42A27DB-BD31-4B8C-83A1-F6EECF244321}">
                <p14:modId xmlns:p14="http://schemas.microsoft.com/office/powerpoint/2010/main" val="2797616659"/>
              </p:ext>
            </p:extLst>
          </p:nvPr>
        </p:nvGraphicFramePr>
        <p:xfrm>
          <a:off x="0" y="1417638"/>
          <a:ext cx="9144000" cy="4708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Arrow: Right 5">
            <a:extLst>
              <a:ext uri="{FF2B5EF4-FFF2-40B4-BE49-F238E27FC236}">
                <a16:creationId xmlns:a16="http://schemas.microsoft.com/office/drawing/2014/main" id="{333350A4-D6BC-C9C7-624B-047A7F9D18B8}"/>
              </a:ext>
            </a:extLst>
          </p:cNvPr>
          <p:cNvSpPr/>
          <p:nvPr/>
        </p:nvSpPr>
        <p:spPr>
          <a:xfrm rot="5400000">
            <a:off x="2564209" y="4880371"/>
            <a:ext cx="586581"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FEE192C-D1EF-77EB-4382-6208EFF1A861}"/>
              </a:ext>
            </a:extLst>
          </p:cNvPr>
          <p:cNvSpPr txBox="1"/>
          <p:nvPr/>
        </p:nvSpPr>
        <p:spPr>
          <a:xfrm>
            <a:off x="1828800" y="5551327"/>
            <a:ext cx="3001143" cy="584775"/>
          </a:xfrm>
          <a:prstGeom prst="rect">
            <a:avLst/>
          </a:prstGeom>
          <a:noFill/>
        </p:spPr>
        <p:txBody>
          <a:bodyPr wrap="none" rtlCol="0">
            <a:spAutoFit/>
          </a:bodyPr>
          <a:lstStyle/>
          <a:p>
            <a:r>
              <a:rPr lang="en-US" sz="3200" dirty="0">
                <a:solidFill>
                  <a:srgbClr val="FF0000"/>
                </a:solidFill>
                <a:latin typeface="Times New Roman" panose="02020603050405020304" pitchFamily="18" charset="0"/>
                <a:cs typeface="Times New Roman" panose="02020603050405020304" pitchFamily="18" charset="0"/>
              </a:rPr>
              <a:t>Normal Reaction</a:t>
            </a:r>
          </a:p>
        </p:txBody>
      </p:sp>
    </p:spTree>
    <p:extLst>
      <p:ext uri="{BB962C8B-B14F-4D97-AF65-F5344CB8AC3E}">
        <p14:creationId xmlns:p14="http://schemas.microsoft.com/office/powerpoint/2010/main" val="41015441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4E12D-B38F-6A40-E40D-D36AB34EFFE9}"/>
              </a:ext>
            </a:extLst>
          </p:cNvPr>
          <p:cNvSpPr>
            <a:spLocks noGrp="1"/>
          </p:cNvSpPr>
          <p:nvPr>
            <p:ph type="title"/>
          </p:nvPr>
        </p:nvSpPr>
        <p:spPr>
          <a:xfrm>
            <a:off x="190500" y="274638"/>
            <a:ext cx="8763000" cy="1143000"/>
          </a:xfrm>
        </p:spPr>
        <p:txBody>
          <a:bodyPr>
            <a:normAutofit fontScale="90000"/>
          </a:bodyPr>
          <a:lstStyle/>
          <a:p>
            <a:r>
              <a:rPr lang="en-US" b="1" dirty="0"/>
              <a:t>Problems on block friction(inclined plane) </a:t>
            </a:r>
          </a:p>
        </p:txBody>
      </p:sp>
      <p:graphicFrame>
        <p:nvGraphicFramePr>
          <p:cNvPr id="4" name="Content Placeholder 3">
            <a:extLst>
              <a:ext uri="{FF2B5EF4-FFF2-40B4-BE49-F238E27FC236}">
                <a16:creationId xmlns:a16="http://schemas.microsoft.com/office/drawing/2014/main" id="{F1FB9EE0-4010-D1B1-1EFA-E89CAD35F67F}"/>
              </a:ext>
            </a:extLst>
          </p:cNvPr>
          <p:cNvGraphicFramePr>
            <a:graphicFrameLocks noGrp="1"/>
          </p:cNvGraphicFramePr>
          <p:nvPr>
            <p:ph idx="1"/>
            <p:extLst>
              <p:ext uri="{D42A27DB-BD31-4B8C-83A1-F6EECF244321}">
                <p14:modId xmlns:p14="http://schemas.microsoft.com/office/powerpoint/2010/main" val="132135669"/>
              </p:ext>
            </p:extLst>
          </p:nvPr>
        </p:nvGraphicFramePr>
        <p:xfrm>
          <a:off x="0" y="1417638"/>
          <a:ext cx="9144000" cy="4708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Arrow: Right 5">
            <a:extLst>
              <a:ext uri="{FF2B5EF4-FFF2-40B4-BE49-F238E27FC236}">
                <a16:creationId xmlns:a16="http://schemas.microsoft.com/office/drawing/2014/main" id="{333350A4-D6BC-C9C7-624B-047A7F9D18B8}"/>
              </a:ext>
            </a:extLst>
          </p:cNvPr>
          <p:cNvSpPr/>
          <p:nvPr/>
        </p:nvSpPr>
        <p:spPr>
          <a:xfrm rot="5400000">
            <a:off x="2564209" y="4880371"/>
            <a:ext cx="586581"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FEE192C-D1EF-77EB-4382-6208EFF1A861}"/>
              </a:ext>
            </a:extLst>
          </p:cNvPr>
          <p:cNvSpPr txBox="1"/>
          <p:nvPr/>
        </p:nvSpPr>
        <p:spPr>
          <a:xfrm>
            <a:off x="1828800" y="5551327"/>
            <a:ext cx="3001143" cy="584775"/>
          </a:xfrm>
          <a:prstGeom prst="rect">
            <a:avLst/>
          </a:prstGeom>
          <a:noFill/>
        </p:spPr>
        <p:txBody>
          <a:bodyPr wrap="none" rtlCol="0">
            <a:spAutoFit/>
          </a:bodyPr>
          <a:lstStyle/>
          <a:p>
            <a:r>
              <a:rPr lang="en-US" sz="3200" dirty="0">
                <a:solidFill>
                  <a:srgbClr val="FF0000"/>
                </a:solidFill>
                <a:latin typeface="Times New Roman" panose="02020603050405020304" pitchFamily="18" charset="0"/>
                <a:cs typeface="Times New Roman" panose="02020603050405020304" pitchFamily="18" charset="0"/>
              </a:rPr>
              <a:t>Normal Reaction</a:t>
            </a:r>
          </a:p>
        </p:txBody>
      </p:sp>
    </p:spTree>
    <p:extLst>
      <p:ext uri="{BB962C8B-B14F-4D97-AF65-F5344CB8AC3E}">
        <p14:creationId xmlns:p14="http://schemas.microsoft.com/office/powerpoint/2010/main" val="32628463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5627-DA69-ED8E-0097-8AFCFFDABC55}"/>
              </a:ext>
            </a:extLst>
          </p:cNvPr>
          <p:cNvSpPr>
            <a:spLocks noGrp="1"/>
          </p:cNvSpPr>
          <p:nvPr>
            <p:ph type="title"/>
          </p:nvPr>
        </p:nvSpPr>
        <p:spPr>
          <a:xfrm>
            <a:off x="457199" y="274638"/>
            <a:ext cx="8686799" cy="1143000"/>
          </a:xfrm>
        </p:spPr>
        <p:txBody>
          <a:bodyPr>
            <a:normAutofit/>
          </a:bodyPr>
          <a:lstStyle/>
          <a:p>
            <a:pPr algn="l"/>
            <a:r>
              <a:rPr lang="en-US" sz="3200" b="1" dirty="0">
                <a:latin typeface="Times New Roman" panose="02020603050405020304" pitchFamily="18" charset="0"/>
                <a:cs typeface="Times New Roman" panose="02020603050405020304" pitchFamily="18" charset="0"/>
              </a:rPr>
              <a:t>Steps to analyze block friction(horizontal plane):</a:t>
            </a:r>
            <a:br>
              <a:rPr lang="en-US" sz="3200" dirty="0"/>
            </a:br>
            <a:r>
              <a:rPr lang="en-US" sz="3200" dirty="0"/>
              <a:t>Step 1:</a:t>
            </a:r>
          </a:p>
        </p:txBody>
      </p:sp>
      <p:sp>
        <p:nvSpPr>
          <p:cNvPr id="3" name="Content Placeholder 2">
            <a:extLst>
              <a:ext uri="{FF2B5EF4-FFF2-40B4-BE49-F238E27FC236}">
                <a16:creationId xmlns:a16="http://schemas.microsoft.com/office/drawing/2014/main" id="{1A0F8CDB-FFEB-EF26-387C-79DC513054B6}"/>
              </a:ext>
            </a:extLst>
          </p:cNvPr>
          <p:cNvSpPr>
            <a:spLocks noGrp="1"/>
          </p:cNvSpPr>
          <p:nvPr>
            <p:ph idx="1"/>
          </p:nvPr>
        </p:nvSpPr>
        <p:spPr/>
        <p:txBody>
          <a:bodyPr/>
          <a:lstStyle/>
          <a:p>
            <a:pPr marL="514350" indent="-514350">
              <a:buFont typeface="+mj-lt"/>
              <a:buAutoNum type="arabicPeriod"/>
            </a:pPr>
            <a:r>
              <a:rPr lang="en-US" dirty="0"/>
              <a:t>Free body diagram.</a:t>
            </a:r>
          </a:p>
          <a:p>
            <a:pPr marL="514350" indent="-514350">
              <a:buFont typeface="+mj-lt"/>
              <a:buAutoNum type="arabicPeriod"/>
            </a:pPr>
            <a:endParaRPr lang="en-US" dirty="0"/>
          </a:p>
          <a:p>
            <a:pPr marL="514350" indent="-514350">
              <a:buFont typeface="+mj-lt"/>
              <a:buAutoNum type="arabicPeriod"/>
            </a:pPr>
            <a:endParaRPr lang="en-US" dirty="0"/>
          </a:p>
        </p:txBody>
      </p:sp>
      <p:pic>
        <p:nvPicPr>
          <p:cNvPr id="5" name="Picture 4">
            <a:extLst>
              <a:ext uri="{FF2B5EF4-FFF2-40B4-BE49-F238E27FC236}">
                <a16:creationId xmlns:a16="http://schemas.microsoft.com/office/drawing/2014/main" id="{F9EA0515-BA78-8913-3B8F-E2595FB280CE}"/>
              </a:ext>
            </a:extLst>
          </p:cNvPr>
          <p:cNvPicPr>
            <a:picLocks noChangeAspect="1"/>
          </p:cNvPicPr>
          <p:nvPr/>
        </p:nvPicPr>
        <p:blipFill rotWithShape="1">
          <a:blip r:embed="rId2">
            <a:extLst>
              <a:ext uri="{28A0092B-C50C-407E-A947-70E740481C1C}">
                <a14:useLocalDpi xmlns:a14="http://schemas.microsoft.com/office/drawing/2010/main" val="0"/>
              </a:ext>
            </a:extLst>
          </a:blip>
          <a:srcRect l="7655" t="16268" r="11196" b="37640"/>
          <a:stretch/>
        </p:blipFill>
        <p:spPr>
          <a:xfrm>
            <a:off x="381000" y="2286000"/>
            <a:ext cx="4038600" cy="1524000"/>
          </a:xfrm>
          <a:prstGeom prst="rect">
            <a:avLst/>
          </a:prstGeom>
        </p:spPr>
      </p:pic>
      <p:pic>
        <p:nvPicPr>
          <p:cNvPr id="7" name="Picture 6">
            <a:extLst>
              <a:ext uri="{FF2B5EF4-FFF2-40B4-BE49-F238E27FC236}">
                <a16:creationId xmlns:a16="http://schemas.microsoft.com/office/drawing/2014/main" id="{F936DF64-DF89-12D6-8DE6-C7CD525321E4}"/>
              </a:ext>
            </a:extLst>
          </p:cNvPr>
          <p:cNvPicPr>
            <a:picLocks noChangeAspect="1"/>
          </p:cNvPicPr>
          <p:nvPr/>
        </p:nvPicPr>
        <p:blipFill rotWithShape="1">
          <a:blip r:embed="rId3"/>
          <a:srcRect l="4354" t="4674" r="4354" b="2408"/>
          <a:stretch/>
        </p:blipFill>
        <p:spPr>
          <a:xfrm>
            <a:off x="4088470" y="3581400"/>
            <a:ext cx="5055529" cy="2727325"/>
          </a:xfrm>
          <a:prstGeom prst="rect">
            <a:avLst/>
          </a:prstGeom>
        </p:spPr>
      </p:pic>
    </p:spTree>
    <p:extLst>
      <p:ext uri="{BB962C8B-B14F-4D97-AF65-F5344CB8AC3E}">
        <p14:creationId xmlns:p14="http://schemas.microsoft.com/office/powerpoint/2010/main" val="29053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83EB3-8525-7547-33CD-5CA5C6B8C8E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Step 2:Concurrent system</a:t>
            </a:r>
          </a:p>
        </p:txBody>
      </p:sp>
      <p:pic>
        <p:nvPicPr>
          <p:cNvPr id="5" name="Content Placeholder 4">
            <a:extLst>
              <a:ext uri="{FF2B5EF4-FFF2-40B4-BE49-F238E27FC236}">
                <a16:creationId xmlns:a16="http://schemas.microsoft.com/office/drawing/2014/main" id="{E673A7EE-01B4-CA18-DB11-9CA395200E78}"/>
              </a:ext>
            </a:extLst>
          </p:cNvPr>
          <p:cNvPicPr>
            <a:picLocks noGrp="1" noChangeAspect="1"/>
          </p:cNvPicPr>
          <p:nvPr>
            <p:ph idx="1"/>
          </p:nvPr>
        </p:nvPicPr>
        <p:blipFill>
          <a:blip r:embed="rId2"/>
          <a:stretch>
            <a:fillRect/>
          </a:stretch>
        </p:blipFill>
        <p:spPr>
          <a:xfrm>
            <a:off x="457200" y="1381195"/>
            <a:ext cx="6172200" cy="3271451"/>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64D0397-A5E0-3DB1-178C-94DBB1BD03CF}"/>
                  </a:ext>
                </a:extLst>
              </p:cNvPr>
              <p:cNvSpPr txBox="1"/>
              <p:nvPr/>
            </p:nvSpPr>
            <p:spPr>
              <a:xfrm>
                <a:off x="1752600" y="4652646"/>
                <a:ext cx="2438400" cy="10433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800" b="1" i="1" smtClean="0">
                              <a:latin typeface="Cambria Math" panose="02040503050406030204" pitchFamily="18" charset="0"/>
                            </a:rPr>
                          </m:ctrlPr>
                        </m:naryPr>
                        <m:sub/>
                        <m:sup/>
                        <m:e>
                          <m:r>
                            <a:rPr lang="en-US" sz="2800" b="1" i="1" smtClean="0">
                              <a:latin typeface="Cambria Math" panose="02040503050406030204" pitchFamily="18" charset="0"/>
                            </a:rPr>
                            <m:t>𝑭𝒙</m:t>
                          </m:r>
                          <m:r>
                            <a:rPr lang="en-US" sz="2800" b="1" i="1" smtClean="0">
                              <a:latin typeface="Cambria Math" panose="02040503050406030204" pitchFamily="18" charset="0"/>
                            </a:rPr>
                            <m:t>=</m:t>
                          </m:r>
                          <m:r>
                            <a:rPr lang="en-US" sz="2800" b="1" i="1" smtClean="0">
                              <a:latin typeface="Cambria Math" panose="02040503050406030204" pitchFamily="18" charset="0"/>
                            </a:rPr>
                            <m:t>𝟎</m:t>
                          </m:r>
                          <m:r>
                            <a:rPr lang="en-US" sz="2800" b="1" i="1" smtClean="0">
                              <a:latin typeface="Cambria Math" panose="02040503050406030204" pitchFamily="18" charset="0"/>
                              <a:ea typeface="Cambria Math" panose="02040503050406030204" pitchFamily="18" charset="0"/>
                            </a:rPr>
                            <m:t>⋯⋯⋯⋯  </m:t>
                          </m:r>
                        </m:e>
                      </m:nary>
                    </m:oMath>
                  </m:oMathPara>
                </a14:m>
                <a:endParaRPr lang="en-US" sz="2800" b="1"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D64D0397-A5E0-3DB1-178C-94DBB1BD03CF}"/>
                  </a:ext>
                </a:extLst>
              </p:cNvPr>
              <p:cNvSpPr txBox="1">
                <a:spLocks noRot="1" noChangeAspect="1" noMove="1" noResize="1" noEditPoints="1" noAdjustHandles="1" noChangeArrowheads="1" noChangeShapeType="1" noTextEdit="1"/>
              </p:cNvSpPr>
              <p:nvPr/>
            </p:nvSpPr>
            <p:spPr>
              <a:xfrm>
                <a:off x="1752600" y="4652646"/>
                <a:ext cx="2438400" cy="1043363"/>
              </a:xfrm>
              <a:prstGeom prst="rect">
                <a:avLst/>
              </a:prstGeom>
              <a:blipFill>
                <a:blip r:embed="rId3"/>
                <a:stretch>
                  <a:fillRect r="-25750"/>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DBCBAAB4-26EA-A4BD-AD2C-EFAA1FBACE60}"/>
              </a:ext>
            </a:extLst>
          </p:cNvPr>
          <p:cNvCxnSpPr/>
          <p:nvPr/>
        </p:nvCxnSpPr>
        <p:spPr>
          <a:xfrm>
            <a:off x="4988829" y="5137666"/>
            <a:ext cx="11430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B00FA5B-6376-28D1-760B-B0F70411B294}"/>
              </a:ext>
            </a:extLst>
          </p:cNvPr>
          <p:cNvSpPr txBox="1"/>
          <p:nvPr/>
        </p:nvSpPr>
        <p:spPr>
          <a:xfrm>
            <a:off x="6370675" y="4928925"/>
            <a:ext cx="847027" cy="646331"/>
          </a:xfrm>
          <a:prstGeom prst="rect">
            <a:avLst/>
          </a:prstGeom>
          <a:noFill/>
        </p:spPr>
        <p:txBody>
          <a:bodyPr wrap="none" rtlCol="0">
            <a:spAutoFit/>
          </a:bodyPr>
          <a:lstStyle/>
          <a:p>
            <a:r>
              <a:rPr lang="en-US" sz="3600" dirty="0"/>
              <a:t>+</a:t>
            </a:r>
            <a:r>
              <a:rPr lang="en-US" sz="3600" dirty="0" err="1"/>
              <a:t>ve</a:t>
            </a:r>
            <a:endParaRPr lang="en-US" sz="36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0562BE1-7739-CB51-C2B8-FF2225C6BE8D}"/>
                  </a:ext>
                </a:extLst>
              </p:cNvPr>
              <p:cNvSpPr txBox="1"/>
              <p:nvPr/>
            </p:nvSpPr>
            <p:spPr>
              <a:xfrm>
                <a:off x="1769165" y="5476805"/>
                <a:ext cx="2438400" cy="10433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800" b="1" i="1" smtClean="0">
                              <a:latin typeface="Cambria Math" panose="02040503050406030204" pitchFamily="18" charset="0"/>
                            </a:rPr>
                          </m:ctrlPr>
                        </m:naryPr>
                        <m:sub/>
                        <m:sup/>
                        <m:e>
                          <m:r>
                            <a:rPr lang="en-US" sz="2800" b="1" i="1" smtClean="0">
                              <a:latin typeface="Cambria Math" panose="02040503050406030204" pitchFamily="18" charset="0"/>
                            </a:rPr>
                            <m:t>𝑭𝒚</m:t>
                          </m:r>
                          <m:r>
                            <a:rPr lang="en-US" sz="2800" b="1" i="1" smtClean="0">
                              <a:latin typeface="Cambria Math" panose="02040503050406030204" pitchFamily="18" charset="0"/>
                            </a:rPr>
                            <m:t>=</m:t>
                          </m:r>
                          <m:r>
                            <a:rPr lang="en-US" sz="2800" b="1" i="1" smtClean="0">
                              <a:latin typeface="Cambria Math" panose="02040503050406030204" pitchFamily="18" charset="0"/>
                            </a:rPr>
                            <m:t>𝟎</m:t>
                          </m:r>
                          <m:r>
                            <a:rPr lang="en-US" sz="2800" b="1" i="1" smtClean="0">
                              <a:latin typeface="Cambria Math" panose="02040503050406030204" pitchFamily="18" charset="0"/>
                              <a:ea typeface="Cambria Math" panose="02040503050406030204" pitchFamily="18" charset="0"/>
                            </a:rPr>
                            <m:t>⋯⋯⋯⋯  </m:t>
                          </m:r>
                        </m:e>
                      </m:nary>
                    </m:oMath>
                  </m:oMathPara>
                </a14:m>
                <a:endParaRPr lang="en-US" sz="2800" b="1" dirty="0"/>
              </a:p>
            </p:txBody>
          </p:sp>
        </mc:Choice>
        <mc:Fallback xmlns="">
          <p:sp>
            <p:nvSpPr>
              <p:cNvPr id="10" name="TextBox 9">
                <a:extLst>
                  <a:ext uri="{FF2B5EF4-FFF2-40B4-BE49-F238E27FC236}">
                    <a16:creationId xmlns:a16="http://schemas.microsoft.com/office/drawing/2014/main" id="{A0562BE1-7739-CB51-C2B8-FF2225C6BE8D}"/>
                  </a:ext>
                </a:extLst>
              </p:cNvPr>
              <p:cNvSpPr txBox="1">
                <a:spLocks noRot="1" noChangeAspect="1" noMove="1" noResize="1" noEditPoints="1" noAdjustHandles="1" noChangeArrowheads="1" noChangeShapeType="1" noTextEdit="1"/>
              </p:cNvSpPr>
              <p:nvPr/>
            </p:nvSpPr>
            <p:spPr>
              <a:xfrm>
                <a:off x="1769165" y="5476805"/>
                <a:ext cx="2438400" cy="1043363"/>
              </a:xfrm>
              <a:prstGeom prst="rect">
                <a:avLst/>
              </a:prstGeom>
              <a:blipFill>
                <a:blip r:embed="rId4"/>
                <a:stretch>
                  <a:fillRect r="-26250"/>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D8E47342-8353-2863-9420-1E3B864DF16A}"/>
              </a:ext>
            </a:extLst>
          </p:cNvPr>
          <p:cNvCxnSpPr>
            <a:cxnSpLocks/>
          </p:cNvCxnSpPr>
          <p:nvPr/>
        </p:nvCxnSpPr>
        <p:spPr>
          <a:xfrm flipV="1">
            <a:off x="5334000" y="5574537"/>
            <a:ext cx="0" cy="75006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7FA5469-D77B-7FD0-C428-388E4F4D9DB3}"/>
              </a:ext>
            </a:extLst>
          </p:cNvPr>
          <p:cNvSpPr txBox="1"/>
          <p:nvPr/>
        </p:nvSpPr>
        <p:spPr>
          <a:xfrm>
            <a:off x="6370674" y="5574537"/>
            <a:ext cx="847027" cy="646331"/>
          </a:xfrm>
          <a:prstGeom prst="rect">
            <a:avLst/>
          </a:prstGeom>
          <a:noFill/>
        </p:spPr>
        <p:txBody>
          <a:bodyPr wrap="none" rtlCol="0">
            <a:spAutoFit/>
          </a:bodyPr>
          <a:lstStyle/>
          <a:p>
            <a:r>
              <a:rPr lang="en-US" sz="3600" dirty="0"/>
              <a:t>+</a:t>
            </a:r>
            <a:r>
              <a:rPr lang="en-US" sz="3600" dirty="0" err="1"/>
              <a:t>ve</a:t>
            </a:r>
            <a:endParaRPr lang="en-US" sz="3600" dirty="0"/>
          </a:p>
        </p:txBody>
      </p:sp>
    </p:spTree>
    <p:extLst>
      <p:ext uri="{BB962C8B-B14F-4D97-AF65-F5344CB8AC3E}">
        <p14:creationId xmlns:p14="http://schemas.microsoft.com/office/powerpoint/2010/main" val="10187988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8F7A-0F61-841E-ADA5-4860E2BCCE5F}"/>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2F7583-724F-A548-7BF6-96454205C902}"/>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Q.As shown in </a:t>
                </a:r>
                <a:r>
                  <a:rPr lang="en-US" dirty="0" err="1">
                    <a:latin typeface="Times New Roman" panose="02020603050405020304" pitchFamily="18" charset="0"/>
                    <a:cs typeface="Times New Roman" panose="02020603050405020304" pitchFamily="18" charset="0"/>
                  </a:rPr>
                  <a:t>fig,a</a:t>
                </a:r>
                <a:r>
                  <a:rPr lang="en-US" dirty="0">
                    <a:latin typeface="Times New Roman" panose="02020603050405020304" pitchFamily="18" charset="0"/>
                    <a:cs typeface="Times New Roman" panose="02020603050405020304" pitchFamily="18" charset="0"/>
                  </a:rPr>
                  <a:t> block of weight 1000N is kept on a rough horizontal </a:t>
                </a:r>
                <a:r>
                  <a:rPr lang="en-US" dirty="0" err="1">
                    <a:latin typeface="Times New Roman" panose="02020603050405020304" pitchFamily="18" charset="0"/>
                    <a:cs typeface="Times New Roman" panose="02020603050405020304" pitchFamily="18" charset="0"/>
                  </a:rPr>
                  <a:t>surface.An</a:t>
                </a:r>
                <a:r>
                  <a:rPr lang="en-US" dirty="0">
                    <a:latin typeface="Times New Roman" panose="02020603050405020304" pitchFamily="18" charset="0"/>
                    <a:cs typeface="Times New Roman" panose="02020603050405020304" pitchFamily="18" charset="0"/>
                  </a:rPr>
                  <a:t> applied force P is applied on the block to induce </a:t>
                </a:r>
                <a:r>
                  <a:rPr lang="en-US" dirty="0" err="1">
                    <a:latin typeface="Times New Roman" panose="02020603050405020304" pitchFamily="18" charset="0"/>
                    <a:cs typeface="Times New Roman" panose="02020603050405020304" pitchFamily="18" charset="0"/>
                  </a:rPr>
                  <a:t>motion.Find</a:t>
                </a:r>
                <a:r>
                  <a:rPr lang="en-US" dirty="0">
                    <a:latin typeface="Times New Roman" panose="02020603050405020304" pitchFamily="18" charset="0"/>
                    <a:cs typeface="Times New Roman" panose="02020603050405020304" pitchFamily="18" charset="0"/>
                  </a:rPr>
                  <a:t> the magnitude of P for motion to just impend.(For the surface,</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𝑠</m:t>
                        </m:r>
                      </m:sub>
                    </m:sSub>
                  </m:oMath>
                </a14:m>
                <a:r>
                  <a:rPr lang="en-US" dirty="0">
                    <a:latin typeface="Times New Roman" panose="02020603050405020304" pitchFamily="18" charset="0"/>
                    <a:cs typeface="Times New Roman" panose="02020603050405020304" pitchFamily="18" charset="0"/>
                  </a:rPr>
                  <a:t>=0.5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𝑘</m:t>
                        </m:r>
                      </m:sub>
                    </m:sSub>
                    <m:r>
                      <a:rPr lang="en-US" b="0" i="1" smtClean="0">
                        <a:latin typeface="Cambria Math" panose="02040503050406030204" pitchFamily="18" charset="0"/>
                      </a:rPr>
                      <m:t>=   </m:t>
                    </m:r>
                  </m:oMath>
                </a14:m>
                <a:r>
                  <a:rPr lang="en-US" dirty="0">
                    <a:latin typeface="Times New Roman" panose="02020603050405020304" pitchFamily="18" charset="0"/>
                    <a:cs typeface="Times New Roman" panose="02020603050405020304" pitchFamily="18" charset="0"/>
                  </a:rPr>
                  <a:t>0.4)</a:t>
                </a:r>
              </a:p>
              <a:p>
                <a:pPr algn="just"/>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72F7583-724F-A548-7BF6-96454205C902}"/>
                  </a:ext>
                </a:extLst>
              </p:cNvPr>
              <p:cNvSpPr>
                <a:spLocks noGrp="1" noRot="1" noChangeAspect="1" noMove="1" noResize="1" noEditPoints="1" noAdjustHandles="1" noChangeArrowheads="1" noChangeShapeType="1" noTextEdit="1"/>
              </p:cNvSpPr>
              <p:nvPr>
                <p:ph idx="1"/>
              </p:nvPr>
            </p:nvSpPr>
            <p:spPr>
              <a:blipFill>
                <a:blip r:embed="rId2"/>
                <a:stretch>
                  <a:fillRect l="-1704" t="-1887" r="-185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15F57B0-A0B8-9E4C-CBFD-CA613F09B60B}"/>
              </a:ext>
            </a:extLst>
          </p:cNvPr>
          <p:cNvPicPr>
            <a:picLocks noChangeAspect="1"/>
          </p:cNvPicPr>
          <p:nvPr/>
        </p:nvPicPr>
        <p:blipFill>
          <a:blip r:embed="rId3"/>
          <a:stretch>
            <a:fillRect/>
          </a:stretch>
        </p:blipFill>
        <p:spPr>
          <a:xfrm>
            <a:off x="2362199" y="4419600"/>
            <a:ext cx="4963583" cy="2424076"/>
          </a:xfrm>
          <a:prstGeom prst="rect">
            <a:avLst/>
          </a:prstGeom>
        </p:spPr>
      </p:pic>
    </p:spTree>
    <p:extLst>
      <p:ext uri="{BB962C8B-B14F-4D97-AF65-F5344CB8AC3E}">
        <p14:creationId xmlns:p14="http://schemas.microsoft.com/office/powerpoint/2010/main" val="595560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03A650-7CC1-FBDC-E687-CF6C23E5A958}"/>
              </a:ext>
            </a:extLst>
          </p:cNvPr>
          <p:cNvSpPr>
            <a:spLocks noGrp="1"/>
          </p:cNvSpPr>
          <p:nvPr>
            <p:ph idx="1"/>
          </p:nvPr>
        </p:nvSpPr>
        <p:spPr>
          <a:xfrm>
            <a:off x="228600" y="142875"/>
            <a:ext cx="8229600" cy="4525963"/>
          </a:xfrm>
        </p:spPr>
        <p:txBody>
          <a:bodyPr/>
          <a:lstStyle/>
          <a:p>
            <a:pPr algn="just"/>
            <a:r>
              <a:rPr lang="en-US" dirty="0">
                <a:latin typeface="Times New Roman" panose="02020603050405020304" pitchFamily="18" charset="0"/>
                <a:cs typeface="Times New Roman" panose="02020603050405020304" pitchFamily="18" charset="0"/>
              </a:rPr>
              <a:t>Q.As shown in the figure, a 500 N block is placed on an inclined plane. A force P is applied to the block to keep it in equilibrium, this force is applied parallel to the inclined plane. Determine the range of values of applied force, P in which the block will be in equilibrium.</a:t>
            </a:r>
          </a:p>
        </p:txBody>
      </p:sp>
      <p:pic>
        <p:nvPicPr>
          <p:cNvPr id="5" name="Picture 4">
            <a:extLst>
              <a:ext uri="{FF2B5EF4-FFF2-40B4-BE49-F238E27FC236}">
                <a16:creationId xmlns:a16="http://schemas.microsoft.com/office/drawing/2014/main" id="{31C9A1E3-F4E7-5E5F-EB02-4E59D8C1B2F5}"/>
              </a:ext>
            </a:extLst>
          </p:cNvPr>
          <p:cNvPicPr>
            <a:picLocks noChangeAspect="1"/>
          </p:cNvPicPr>
          <p:nvPr/>
        </p:nvPicPr>
        <p:blipFill>
          <a:blip r:embed="rId2"/>
          <a:stretch>
            <a:fillRect/>
          </a:stretch>
        </p:blipFill>
        <p:spPr>
          <a:xfrm>
            <a:off x="2743200" y="3581400"/>
            <a:ext cx="4467225" cy="2914650"/>
          </a:xfrm>
          <a:prstGeom prst="rect">
            <a:avLst/>
          </a:prstGeom>
        </p:spPr>
      </p:pic>
    </p:spTree>
    <p:extLst>
      <p:ext uri="{BB962C8B-B14F-4D97-AF65-F5344CB8AC3E}">
        <p14:creationId xmlns:p14="http://schemas.microsoft.com/office/powerpoint/2010/main" val="1802953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9D33161A68F24488625805734340F7" ma:contentTypeVersion="2" ma:contentTypeDescription="Create a new document." ma:contentTypeScope="" ma:versionID="25ad53bef91f8018e5025849af8a9a07">
  <xsd:schema xmlns:xsd="http://www.w3.org/2001/XMLSchema" xmlns:xs="http://www.w3.org/2001/XMLSchema" xmlns:p="http://schemas.microsoft.com/office/2006/metadata/properties" xmlns:ns2="268cee44-0452-4ae2-8b6f-595d64775d63" targetNamespace="http://schemas.microsoft.com/office/2006/metadata/properties" ma:root="true" ma:fieldsID="e784ee1ce8ea54a47ccb6d14ac5f5616" ns2:_="">
    <xsd:import namespace="268cee44-0452-4ae2-8b6f-595d64775d63"/>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8cee44-0452-4ae2-8b6f-595d64775d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478DDFD-A70C-4D97-AAE3-F1E34AB24704}"/>
</file>

<file path=customXml/itemProps2.xml><?xml version="1.0" encoding="utf-8"?>
<ds:datastoreItem xmlns:ds="http://schemas.openxmlformats.org/officeDocument/2006/customXml" ds:itemID="{DA8E1F36-310B-415B-BB1C-82E2D00E2993}"/>
</file>

<file path=docProps/app.xml><?xml version="1.0" encoding="utf-8"?>
<Properties xmlns="http://schemas.openxmlformats.org/officeDocument/2006/extended-properties" xmlns:vt="http://schemas.openxmlformats.org/officeDocument/2006/docPropsVTypes">
  <TotalTime>1693</TotalTime>
  <Words>1771</Words>
  <Application>Microsoft Office PowerPoint</Application>
  <PresentationFormat>On-screen Show (4:3)</PresentationFormat>
  <Paragraphs>166</Paragraphs>
  <Slides>53</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Cambria Math</vt:lpstr>
      <vt:lpstr>Times New Roman</vt:lpstr>
      <vt:lpstr>Wingdings</vt:lpstr>
      <vt:lpstr>Office Theme</vt:lpstr>
      <vt:lpstr>Friction</vt:lpstr>
      <vt:lpstr>PowerPoint Presentation</vt:lpstr>
      <vt:lpstr>PowerPoint Presentation</vt:lpstr>
      <vt:lpstr>Fluid friction</vt:lpstr>
      <vt:lpstr>PowerPoint Presentation</vt:lpstr>
      <vt:lpstr>PowerPoint Presentation</vt:lpstr>
      <vt:lpstr>Dry friction/Coulomb Friction </vt:lpstr>
      <vt:lpstr>PowerPoint Presentation</vt:lpstr>
      <vt:lpstr>Effects of friction</vt:lpstr>
      <vt:lpstr>Static Friction</vt:lpstr>
      <vt:lpstr>Static friction: </vt:lpstr>
      <vt:lpstr>PowerPoint Presentation</vt:lpstr>
      <vt:lpstr>Sliding Friction</vt:lpstr>
      <vt:lpstr>Rolling Friction</vt:lpstr>
      <vt:lpstr>Limiting Friction</vt:lpstr>
      <vt:lpstr>Limiting friction </vt:lpstr>
      <vt:lpstr>Impending motion</vt:lpstr>
      <vt:lpstr>Example:</vt:lpstr>
      <vt:lpstr>Angle of friction </vt:lpstr>
      <vt:lpstr>COEFFICIENT OF FRICTION </vt:lpstr>
      <vt:lpstr>PowerPoint Presentation</vt:lpstr>
      <vt:lpstr>Laws of friction(Dry friction)</vt:lpstr>
      <vt:lpstr>PowerPoint Presentation</vt:lpstr>
      <vt:lpstr>PowerPoint Presentation</vt:lpstr>
      <vt:lpstr>Static Friction, it’s coefficient and angle</vt:lpstr>
      <vt:lpstr>PowerPoint Presentation</vt:lpstr>
      <vt:lpstr>Static Friction, it’s coefficient and angle</vt:lpstr>
      <vt:lpstr>From experiments:</vt:lpstr>
      <vt:lpstr>Condition of no friction , no motion , impending motion and motion.</vt:lpstr>
      <vt:lpstr>z</vt:lpstr>
      <vt:lpstr>PowerPoint Presentation</vt:lpstr>
      <vt:lpstr>Angle of repose</vt:lpstr>
      <vt:lpstr>Condition of tipping and sliding of a block</vt:lpstr>
      <vt:lpstr>PowerPoint Presentation</vt:lpstr>
      <vt:lpstr>Condition of tipping and sliding</vt:lpstr>
      <vt:lpstr>Numericals</vt:lpstr>
      <vt:lpstr>Application :</vt:lpstr>
      <vt:lpstr>PowerPoint Presentation</vt:lpstr>
      <vt:lpstr>PowerPoint Presentation</vt:lpstr>
      <vt:lpstr>PowerPoint Presentation</vt:lpstr>
      <vt:lpstr>Note:</vt:lpstr>
      <vt:lpstr>PowerPoint Presentation</vt:lpstr>
      <vt:lpstr>PowerPoint Presentation</vt:lpstr>
      <vt:lpstr>PowerPoint Presentation</vt:lpstr>
      <vt:lpstr>A uniform ladder of length 3.25m and weighing 250 N is placed against a smooth vertical wall with its lower end 1.25m from the wall.The coefficient of friction between the ladder and floor is 0.3.What is the frictional force acting on the ladder at the point of contact between the ladder and floor?Show that the ladder will remain in equilibrium in this position.</vt:lpstr>
      <vt:lpstr>A ladder 5m long rests on a horizontal ground and lean against a smooth vertical wall at an angle 70 degree with the horizontal. The weight of the ladder is 900 N and acts at its middle. The ladder is at the point of sliding, when a man weighing 750 N stands on a rung 1.5 m from the bottom of the ladder. Calculate the coefficient of friction between the ladder and the floor.</vt:lpstr>
      <vt:lpstr>Block friction</vt:lpstr>
      <vt:lpstr>Problems on block friction(horizontal plane) </vt:lpstr>
      <vt:lpstr>Problems on block friction(inclined plane) </vt:lpstr>
      <vt:lpstr>Steps to analyze block friction(horizontal plane): Step 1:</vt:lpstr>
      <vt:lpstr>Step 2:Concurrent system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Friction</dc:title>
  <dc:creator>Shova</dc:creator>
  <cp:lastModifiedBy>Shova Shrestha</cp:lastModifiedBy>
  <cp:revision>133</cp:revision>
  <dcterms:created xsi:type="dcterms:W3CDTF">2019-04-11T05:35:23Z</dcterms:created>
  <dcterms:modified xsi:type="dcterms:W3CDTF">2023-02-12T06:10:44Z</dcterms:modified>
</cp:coreProperties>
</file>